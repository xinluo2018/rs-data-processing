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27"/>
  </p:notesMasterIdLst>
  <p:handoutMasterIdLst>
    <p:handoutMasterId r:id="rId28"/>
  </p:handoutMasterIdLst>
  <p:sldIdLst>
    <p:sldId id="2708" r:id="rId3"/>
    <p:sldId id="2387" r:id="rId4"/>
    <p:sldId id="2447" r:id="rId5"/>
    <p:sldId id="2729" r:id="rId6"/>
    <p:sldId id="2765" r:id="rId7"/>
    <p:sldId id="2766" r:id="rId8"/>
    <p:sldId id="2774" r:id="rId9"/>
    <p:sldId id="2775" r:id="rId10"/>
    <p:sldId id="2772" r:id="rId11"/>
    <p:sldId id="2777" r:id="rId12"/>
    <p:sldId id="2771" r:id="rId13"/>
    <p:sldId id="2776" r:id="rId14"/>
    <p:sldId id="2790" r:id="rId15"/>
    <p:sldId id="2789" r:id="rId16"/>
    <p:sldId id="2780" r:id="rId17"/>
    <p:sldId id="2781" r:id="rId18"/>
    <p:sldId id="2782" r:id="rId19"/>
    <p:sldId id="2778" r:id="rId20"/>
    <p:sldId id="2787" r:id="rId21"/>
    <p:sldId id="2788" r:id="rId22"/>
    <p:sldId id="2784" r:id="rId23"/>
    <p:sldId id="2779" r:id="rId24"/>
    <p:sldId id="2741" r:id="rId25"/>
    <p:sldId id="2792" r:id="rId26"/>
  </p:sldIdLst>
  <p:sldSz cx="12192000" cy="6858000"/>
  <p:notesSz cx="7099300" cy="10234613"/>
  <p:custDataLst>
    <p:tags r:id="rId29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 userDrawn="1">
          <p15:clr>
            <a:srgbClr val="A4A3A4"/>
          </p15:clr>
        </p15:guide>
        <p15:guide id="2" orient="horz" pos="1412" userDrawn="1">
          <p15:clr>
            <a:srgbClr val="A4A3A4"/>
          </p15:clr>
        </p15:guide>
        <p15:guide id="3" pos="241" userDrawn="1">
          <p15:clr>
            <a:srgbClr val="A4A3A4"/>
          </p15:clr>
        </p15:guide>
        <p15:guide id="4" pos="7408" userDrawn="1">
          <p15:clr>
            <a:srgbClr val="A4A3A4"/>
          </p15:clr>
        </p15:guide>
        <p15:guide id="5" pos="3871" userDrawn="1">
          <p15:clr>
            <a:srgbClr val="A4A3A4"/>
          </p15:clr>
        </p15:guide>
        <p15:guide id="6" orient="horz" pos="700" userDrawn="1">
          <p15:clr>
            <a:srgbClr val="A4A3A4"/>
          </p15:clr>
        </p15:guide>
        <p15:guide id="7" orient="horz" pos="4119" userDrawn="1">
          <p15:clr>
            <a:srgbClr val="A4A3A4"/>
          </p15:clr>
        </p15:guide>
        <p15:guide id="8" pos="415" userDrawn="1">
          <p15:clr>
            <a:srgbClr val="A4A3A4"/>
          </p15:clr>
        </p15:guide>
        <p15:guide id="9" pos="7335" userDrawn="1">
          <p15:clr>
            <a:srgbClr val="A4A3A4"/>
          </p15:clr>
        </p15:guide>
        <p15:guide id="10" orient="horz" pos="462" userDrawn="1">
          <p15:clr>
            <a:srgbClr val="A4A3A4"/>
          </p15:clr>
        </p15:guide>
        <p15:guide id="11" pos="103" userDrawn="1">
          <p15:clr>
            <a:srgbClr val="A4A3A4"/>
          </p15:clr>
        </p15:guide>
        <p15:guide id="12" pos="96" userDrawn="1">
          <p15:clr>
            <a:srgbClr val="A4A3A4"/>
          </p15:clr>
        </p15:guide>
        <p15:guide id="13" orient="horz" pos="2" userDrawn="1">
          <p15:clr>
            <a:srgbClr val="A4A3A4"/>
          </p15:clr>
        </p15:guide>
        <p15:guide id="14" pos="1076" userDrawn="1">
          <p15:clr>
            <a:srgbClr val="A4A3A4"/>
          </p15:clr>
        </p15:guide>
        <p15:guide id="15" pos="1951" userDrawn="1">
          <p15:clr>
            <a:srgbClr val="A4A3A4"/>
          </p15:clr>
        </p15:guide>
        <p15:guide id="16" pos="2772" userDrawn="1">
          <p15:clr>
            <a:srgbClr val="A4A3A4"/>
          </p15:clr>
        </p15:guide>
        <p15:guide id="17" pos="3619" userDrawn="1">
          <p15:clr>
            <a:srgbClr val="A4A3A4"/>
          </p15:clr>
        </p15:guide>
        <p15:guide id="18" pos="4493" userDrawn="1">
          <p15:clr>
            <a:srgbClr val="A4A3A4"/>
          </p15:clr>
        </p15:guide>
        <p15:guide id="19" pos="5313" userDrawn="1">
          <p15:clr>
            <a:srgbClr val="A4A3A4"/>
          </p15:clr>
        </p15:guide>
        <p15:guide id="20" pos="6175" userDrawn="1">
          <p15:clr>
            <a:srgbClr val="A4A3A4"/>
          </p15:clr>
        </p15:guide>
        <p15:guide id="21" orient="horz" pos="581" userDrawn="1">
          <p15:clr>
            <a:srgbClr val="A4A3A4"/>
          </p15:clr>
        </p15:guide>
        <p15:guide id="22" orient="horz" pos="3230" userDrawn="1">
          <p15:clr>
            <a:srgbClr val="A4A3A4"/>
          </p15:clr>
        </p15:guide>
        <p15:guide id="23" orient="horz" pos="1230" userDrawn="1">
          <p15:clr>
            <a:srgbClr val="A4A3A4"/>
          </p15:clr>
        </p15:guide>
        <p15:guide id="24" orient="horz" userDrawn="1">
          <p15:clr>
            <a:srgbClr val="A4A3A4"/>
          </p15:clr>
        </p15:guide>
        <p15:guide id="25" orient="horz" pos="1450" userDrawn="1">
          <p15:clr>
            <a:srgbClr val="A4A3A4"/>
          </p15:clr>
        </p15:guide>
        <p15:guide id="26" pos="375" userDrawn="1">
          <p15:clr>
            <a:srgbClr val="A4A3A4"/>
          </p15:clr>
        </p15:guide>
        <p15:guide id="27" orient="horz" pos="3095" userDrawn="1">
          <p15:clr>
            <a:srgbClr val="A4A3A4"/>
          </p15:clr>
        </p15:guide>
        <p15:guide id="28" orient="horz" pos="2372" userDrawn="1">
          <p15:clr>
            <a:srgbClr val="A4A3A4"/>
          </p15:clr>
        </p15:guide>
        <p15:guide id="29" orient="horz" pos="4159" userDrawn="1">
          <p15:clr>
            <a:srgbClr val="A4A3A4"/>
          </p15:clr>
        </p15:guide>
        <p15:guide id="30" pos="417" userDrawn="1">
          <p15:clr>
            <a:srgbClr val="A4A3A4"/>
          </p15:clr>
        </p15:guide>
        <p15:guide id="31" pos="2207" userDrawn="1">
          <p15:clr>
            <a:srgbClr val="A4A3A4"/>
          </p15:clr>
        </p15:guide>
        <p15:guide id="32" pos="7636" userDrawn="1">
          <p15:clr>
            <a:srgbClr val="A4A3A4"/>
          </p15:clr>
        </p15:guide>
        <p15:guide id="33" orient="horz" pos="632" userDrawn="1">
          <p15:clr>
            <a:srgbClr val="A4A3A4"/>
          </p15:clr>
        </p15:guide>
        <p15:guide id="34" orient="horz" pos="1461" userDrawn="1">
          <p15:clr>
            <a:srgbClr val="A4A3A4"/>
          </p15:clr>
        </p15:guide>
        <p15:guide id="35" orient="horz" pos="2262" userDrawn="1">
          <p15:clr>
            <a:srgbClr val="A4A3A4"/>
          </p15:clr>
        </p15:guide>
        <p15:guide id="36" orient="horz" pos="3072" userDrawn="1">
          <p15:clr>
            <a:srgbClr val="A4A3A4"/>
          </p15:clr>
        </p15:guide>
        <p15:guide id="37" pos="1020" userDrawn="1">
          <p15:clr>
            <a:srgbClr val="A4A3A4"/>
          </p15:clr>
        </p15:guide>
        <p15:guide id="38" pos="7440" userDrawn="1">
          <p15:clr>
            <a:srgbClr val="A4A3A4"/>
          </p15:clr>
        </p15:guide>
        <p15:guide id="39" pos="6719" userDrawn="1">
          <p15:clr>
            <a:srgbClr val="A4A3A4"/>
          </p15:clr>
        </p15:guide>
        <p15:guide id="40" orient="horz" pos="621" userDrawn="1">
          <p15:clr>
            <a:srgbClr val="A4A3A4"/>
          </p15:clr>
        </p15:guide>
        <p15:guide id="41" orient="horz" pos="38" userDrawn="1">
          <p15:clr>
            <a:srgbClr val="A4A3A4"/>
          </p15:clr>
        </p15:guide>
        <p15:guide id="42" orient="horz" pos="4319" userDrawn="1">
          <p15:clr>
            <a:srgbClr val="A4A3A4"/>
          </p15:clr>
        </p15:guide>
        <p15:guide id="43" orient="horz" pos="39" userDrawn="1">
          <p15:clr>
            <a:srgbClr val="A4A3A4"/>
          </p15:clr>
        </p15:guide>
        <p15:guide id="44" pos="4489" userDrawn="1">
          <p15:clr>
            <a:srgbClr val="A4A3A4"/>
          </p15:clr>
        </p15:guide>
        <p15:guide id="45" pos="6207" userDrawn="1">
          <p15:clr>
            <a:srgbClr val="A4A3A4"/>
          </p15:clr>
        </p15:guide>
        <p15:guide id="46" orient="horz" pos="1" userDrawn="1">
          <p15:clr>
            <a:srgbClr val="A4A3A4"/>
          </p15:clr>
        </p15:guide>
        <p15:guide id="47" orient="horz" pos="4067" userDrawn="1">
          <p15:clr>
            <a:srgbClr val="A4A3A4"/>
          </p15:clr>
        </p15:guide>
        <p15:guide id="48" orient="horz" pos="601" userDrawn="1">
          <p15:clr>
            <a:srgbClr val="A4A3A4"/>
          </p15:clr>
        </p15:guide>
        <p15:guide id="49" pos="199" userDrawn="1">
          <p15:clr>
            <a:srgbClr val="A4A3A4"/>
          </p15:clr>
        </p15:guide>
        <p15:guide id="50" pos="7452" userDrawn="1">
          <p15:clr>
            <a:srgbClr val="A4A3A4"/>
          </p15:clr>
        </p15:guide>
        <p15:guide id="51" pos="43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EEECE1"/>
    <a:srgbClr val="7A81FF"/>
    <a:srgbClr val="00B050"/>
    <a:srgbClr val="FF00DF"/>
    <a:srgbClr val="C3E8CC"/>
    <a:srgbClr val="FF00FF"/>
    <a:srgbClr val="269FA0"/>
    <a:srgbClr val="FFC000"/>
    <a:srgbClr val="333399"/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726"/>
    <p:restoredTop sz="83093" autoAdjust="0"/>
  </p:normalViewPr>
  <p:slideViewPr>
    <p:cSldViewPr snapToGrid="0">
      <p:cViewPr varScale="1">
        <p:scale>
          <a:sx n="88" d="100"/>
          <a:sy n="88" d="100"/>
        </p:scale>
        <p:origin x="216" y="184"/>
      </p:cViewPr>
      <p:guideLst>
        <p:guide orient="horz" pos="663"/>
        <p:guide orient="horz" pos="1412"/>
        <p:guide pos="241"/>
        <p:guide pos="7408"/>
        <p:guide pos="3871"/>
        <p:guide orient="horz" pos="700"/>
        <p:guide orient="horz" pos="4119"/>
        <p:guide pos="415"/>
        <p:guide pos="7335"/>
        <p:guide orient="horz" pos="462"/>
        <p:guide pos="103"/>
        <p:guide pos="96"/>
        <p:guide orient="horz" pos="2"/>
        <p:guide pos="1076"/>
        <p:guide pos="1951"/>
        <p:guide pos="2772"/>
        <p:guide pos="3619"/>
        <p:guide pos="4493"/>
        <p:guide pos="5313"/>
        <p:guide pos="6175"/>
        <p:guide orient="horz" pos="581"/>
        <p:guide orient="horz" pos="3230"/>
        <p:guide orient="horz" pos="1230"/>
        <p:guide orient="horz"/>
        <p:guide orient="horz" pos="1450"/>
        <p:guide pos="375"/>
        <p:guide orient="horz" pos="3095"/>
        <p:guide orient="horz" pos="2372"/>
        <p:guide orient="horz" pos="4159"/>
        <p:guide pos="417"/>
        <p:guide pos="2207"/>
        <p:guide pos="7636"/>
        <p:guide orient="horz" pos="632"/>
        <p:guide orient="horz" pos="1461"/>
        <p:guide orient="horz" pos="2262"/>
        <p:guide orient="horz" pos="3072"/>
        <p:guide pos="1020"/>
        <p:guide pos="7440"/>
        <p:guide pos="6719"/>
        <p:guide orient="horz" pos="621"/>
        <p:guide orient="horz" pos="38"/>
        <p:guide orient="horz" pos="4319"/>
        <p:guide orient="horz" pos="39"/>
        <p:guide pos="4489"/>
        <p:guide pos="6207"/>
        <p:guide orient="horz" pos="1"/>
        <p:guide orient="horz" pos="4067"/>
        <p:guide orient="horz" pos="601"/>
        <p:guide pos="199"/>
        <p:guide pos="7452"/>
        <p:guide pos="4303"/>
      </p:guideLst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commentAuthors" Target="commentAuthors.xml"/><Relationship Id="rId35" Type="http://schemas.microsoft.com/office/2016/11/relationships/changesInfo" Target="changesInfos/changesInfo1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4B16E866-FFF1-585A-8670-68209B92BFC1}"/>
    <pc:docChg chg="undo custSel modSld">
      <pc:chgData name="Xin Luo" userId="82312ee5779919a4" providerId="LiveId" clId="{4B16E866-FFF1-585A-8670-68209B92BFC1}" dt="2026-08-27T06:51:18.888" v="75" actId="20577"/>
      <pc:docMkLst>
        <pc:docMk/>
      </pc:docMkLst>
      <pc:sldChg chg="modSp mod">
        <pc:chgData name="Xin Luo" userId="82312ee5779919a4" providerId="LiveId" clId="{4B16E866-FFF1-585A-8670-68209B92BFC1}" dt="2026-08-27T06:42:08.630" v="13" actId="20577"/>
        <pc:sldMkLst>
          <pc:docMk/>
          <pc:sldMk cId="4207004688" sldId="2741"/>
        </pc:sldMkLst>
        <pc:spChg chg="mod">
          <ac:chgData name="Xin Luo" userId="82312ee5779919a4" providerId="LiveId" clId="{4B16E866-FFF1-585A-8670-68209B92BFC1}" dt="2026-08-27T06:42:08.630" v="13" actId="20577"/>
          <ac:spMkLst>
            <pc:docMk/>
            <pc:sldMk cId="4207004688" sldId="2741"/>
            <ac:spMk id="4" creationId="{DBE2EB52-1153-547D-4DDB-F105FCA1059C}"/>
          </ac:spMkLst>
        </pc:spChg>
        <pc:spChg chg="mod">
          <ac:chgData name="Xin Luo" userId="82312ee5779919a4" providerId="LiveId" clId="{4B16E866-FFF1-585A-8670-68209B92BFC1}" dt="2026-08-27T06:42:04.655" v="11" actId="20577"/>
          <ac:spMkLst>
            <pc:docMk/>
            <pc:sldMk cId="4207004688" sldId="2741"/>
            <ac:spMk id="6" creationId="{68615743-0F76-1E7B-8513-381292D6BC62}"/>
          </ac:spMkLst>
        </pc:spChg>
      </pc:sldChg>
      <pc:sldChg chg="modSp mod">
        <pc:chgData name="Xin Luo" userId="82312ee5779919a4" providerId="LiveId" clId="{4B16E866-FFF1-585A-8670-68209B92BFC1}" dt="2026-08-27T06:51:18.888" v="75" actId="20577"/>
        <pc:sldMkLst>
          <pc:docMk/>
          <pc:sldMk cId="2896619728" sldId="2792"/>
        </pc:sldMkLst>
        <pc:spChg chg="mod">
          <ac:chgData name="Xin Luo" userId="82312ee5779919a4" providerId="LiveId" clId="{4B16E866-FFF1-585A-8670-68209B92BFC1}" dt="2026-08-27T06:42:38.615" v="30" actId="108"/>
          <ac:spMkLst>
            <pc:docMk/>
            <pc:sldMk cId="2896619728" sldId="2792"/>
            <ac:spMk id="4" creationId="{0460D51F-5FF0-8DAA-3264-66FADD204E85}"/>
          </ac:spMkLst>
        </pc:spChg>
        <pc:spChg chg="mod">
          <ac:chgData name="Xin Luo" userId="82312ee5779919a4" providerId="LiveId" clId="{4B16E866-FFF1-585A-8670-68209B92BFC1}" dt="2026-08-27T06:51:18.888" v="75" actId="20577"/>
          <ac:spMkLst>
            <pc:docMk/>
            <pc:sldMk cId="2896619728" sldId="2792"/>
            <ac:spMk id="6" creationId="{AC655DF2-381B-EF2F-E4B4-B255CD2F72DA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2875" y="768350"/>
            <a:ext cx="68183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42875" y="768350"/>
            <a:ext cx="6818313" cy="3836988"/>
          </a:xfrm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86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7ECF62-1638-4DD4-9C28-B7A1E023F854}" type="slidenum">
              <a:rPr lang="zh-CN" altLang="en-US" smtClean="0">
                <a:solidFill>
                  <a:prstClr val="black"/>
                </a:solidFill>
              </a:rPr>
              <a:pPr/>
              <a:t>2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552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110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历史书：面向过程</a:t>
            </a:r>
            <a:endParaRPr lang="en-US" altLang="zh-CN" dirty="0"/>
          </a:p>
          <a:p>
            <a:r>
              <a:rPr lang="zh-CN" altLang="en-US" dirty="0"/>
              <a:t>人物传记：面向对象</a:t>
            </a:r>
          </a:p>
        </p:txBody>
      </p:sp>
    </p:spTree>
    <p:extLst>
      <p:ext uri="{BB962C8B-B14F-4D97-AF65-F5344CB8AC3E}">
        <p14:creationId xmlns:p14="http://schemas.microsoft.com/office/powerpoint/2010/main" val="2225234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176985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17903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0E3BC-3747-D64E-BE48-1230AA82D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E15343E-9614-9139-51E4-46708962D6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E81310B-27A1-948F-8ADD-7793139B6D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所谓实例方法，指只能通过实例化对象进行调用的。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5557746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5ADE8-213D-D08E-B198-83B50A2B8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FCB7553-2FE3-5FED-53DD-70AE004674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BD16B21-5951-028B-FED3-73BE8089B7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）所谓实例方法，指只能通过实例化对象进行调用的。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）实践开发中，类方法与静态方法不常用，其与普通函数类似，而普通函数一般会选择放置模块中，以减少类冗余。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37319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1AC8A-73E3-6099-2997-EAC97230A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DBCB9CF-6D88-F948-F297-1D1A0A56F5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3B85F71-82FD-A9FC-A7C2-3028F75A0B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78654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F3D7C-D23F-A3B9-8006-6FBDBA143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630F7E7-98F8-BAEA-D45F-EC2C9937E2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3DB7A41-9A13-7F17-D1B1-0AD81C1B7F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57697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7630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F0F0B-B960-39A1-AF2A-CD9E04171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AF722E-EEE0-55DA-1BFA-3716D5AE01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A7A308E-8E07-70D2-7B47-AB3183CC28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734902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CAD74-C43F-85E1-D3AE-4FCC6C8DA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6D8626E-C603-62EA-DBCA-AD83069A28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01CD930-51AB-0E49-F643-5180EB51D5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3064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E122-642C-D0F5-8572-89F62CBF2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DA17320-427A-E136-5897-AFBE12B687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10AFFAB-7C64-51E5-9A91-FCFED66BCC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68242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FC874-E8AA-D947-3BF2-16337F407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67EBAD3-59CB-8898-A1A9-B123E47E84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5745EE4-979A-C702-D858-40F62D92B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0169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8FB2F-A729-DD38-CAE7-4204C2F55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664BDBC-D101-2527-A56F-0B7A4186E2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85BA56E-22F2-D89B-2E9B-517A5EF035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40063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A9548-8954-7E99-2317-0447E5449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7940BD3-E6BC-8125-344D-9BAF37D415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9A3DCB0-0BEF-6B9D-1EF0-98EF0F4987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52929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D8E0A-AA93-F4BA-DDC2-DB8913BB7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856CEFB-A7D8-9CAA-D33B-597DD89F1D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C6E2BD1-F1B5-D6C6-12BD-1CD54FFA12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zh-CN" altLang="en-US" sz="12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类比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“交通”接口：前行， 汽车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.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前行 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-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&gt; 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行驶； 轮船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.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前行 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-&gt; 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航行，飞机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.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前行 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-&gt; 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飞行</a:t>
            </a:r>
            <a:endParaRPr lang="en-US" altLang="zh-CN" dirty="0"/>
          </a:p>
          <a:p>
            <a:r>
              <a:rPr lang="zh-CN" altLang="en-US" dirty="0"/>
              <a:t>什么是鸭子类型：长得像鸭子，行为像鸭子，就把它看作是鸭子。</a:t>
            </a:r>
            <a:r>
              <a:rPr lang="en-US" altLang="zh-CN" dirty="0"/>
              <a:t>-&gt; </a:t>
            </a:r>
            <a:r>
              <a:rPr lang="zh-CN" altLang="en-US" dirty="0"/>
              <a:t>看作像多态，就把它定义为多态。</a:t>
            </a:r>
          </a:p>
        </p:txBody>
      </p:sp>
    </p:spTree>
    <p:extLst>
      <p:ext uri="{BB962C8B-B14F-4D97-AF65-F5344CB8AC3E}">
        <p14:creationId xmlns:p14="http://schemas.microsoft.com/office/powerpoint/2010/main" val="14148839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D1014-497D-B42B-0A2A-66B7B7E52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5D776AD-AFDB-EC29-8BEA-B4CE5A724E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645B5E0-D656-85E3-D00D-879A7F22C6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41665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A80EC-39D8-2CD2-952F-4D067F6BB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429F3A9-594A-4D64-306E-5620A1EA60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5A76DC1-8F6C-2700-5077-35BC791FE4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295445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B65CF-ED7A-A57C-934C-31A13B6BF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15CF2D0-3765-9A18-D6FE-9F065D0C8B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251E4CE-DC93-F0D1-CC9B-757E238D4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03348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E40F1-5004-B48A-3AE7-E4B982922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6497D28-FC80-7960-F679-5977F2A630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0BB8E0E-975C-5BBD-53AE-1C027291DD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功能设计和</a:t>
            </a:r>
          </a:p>
        </p:txBody>
      </p:sp>
    </p:spTree>
    <p:extLst>
      <p:ext uri="{BB962C8B-B14F-4D97-AF65-F5344CB8AC3E}">
        <p14:creationId xmlns:p14="http://schemas.microsoft.com/office/powerpoint/2010/main" val="571816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332621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94A81-9685-5767-7DB3-C948D02C2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AB083EB-70EF-41EA-D01D-CB18E2F9E8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F072144-D10E-E296-B1B7-0860B07E8A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314548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12192000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2438400" y="1828800"/>
            <a:ext cx="92456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2438400" y="4572000"/>
            <a:ext cx="92456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12192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914400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09685" y="6467405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12192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60939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3945235"/>
            <a:ext cx="10363200" cy="46166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3918" y="1087439"/>
            <a:ext cx="5369983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07100" y="1087439"/>
            <a:ext cx="5369984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39344"/>
            <a:ext cx="5386917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639344"/>
            <a:ext cx="5389033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266534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6832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17676" y="1087439"/>
            <a:ext cx="3459409" cy="23329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676218" y="115889"/>
            <a:ext cx="2891367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30674" y="115889"/>
            <a:ext cx="2942344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4380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6030021" y="-5257469"/>
            <a:ext cx="72000" cy="12132043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11385532" y="38088"/>
            <a:ext cx="72000" cy="1540935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1" y="1"/>
            <a:ext cx="12189884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9"/>
            <a:ext cx="11567584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3918" y="1087439"/>
            <a:ext cx="10943167" cy="233294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03267" y="6499226"/>
            <a:ext cx="28448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1843693" y="1685332"/>
            <a:ext cx="8501204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>
              <a:defRPr/>
            </a:pPr>
            <a:r>
              <a:rPr lang="zh-CN" altLang="en-US" sz="4800" b="1" dirty="0">
                <a:solidFill>
                  <a:srgbClr val="FF0000"/>
                </a:solidFill>
                <a:latin typeface="微软雅黑"/>
                <a:ea typeface="微软雅黑"/>
              </a:rPr>
              <a:t>第六章 面向对象程序设计</a:t>
            </a:r>
            <a:endParaRPr lang="zh-CN" altLang="zh-CN" sz="4800" b="1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677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罗 新</a:t>
            </a:r>
            <a:endParaRPr lang="en-US" altLang="zh-CN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lang="en-US" altLang="zh-CN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endParaRPr lang="zh-CN" altLang="en-US" sz="2800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18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2316000" y="3614405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1831819" y="5474698"/>
            <a:ext cx="8627953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prstClr val="black"/>
                </a:solidFill>
                <a:latin typeface="微软雅黑"/>
                <a:ea typeface="微软雅黑"/>
              </a:rPr>
              <a:t>邮箱</a:t>
            </a: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: xinluo_xin@ynu.edu.cn</a:t>
            </a:r>
          </a:p>
          <a:p>
            <a:pPr>
              <a:defRPr/>
            </a:pP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地址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：地球科学学院</a:t>
            </a:r>
            <a:r>
              <a:rPr lang="en-US" altLang="zh-CN" sz="1800">
                <a:solidFill>
                  <a:prstClr val="black"/>
                </a:solidFill>
                <a:latin typeface="微软雅黑"/>
                <a:ea typeface="微软雅黑"/>
              </a:rPr>
              <a:t>1327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办公室</a:t>
            </a:r>
            <a:endParaRPr lang="en-CN" sz="180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694" y="243145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262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75549C-74EF-2C8F-6432-2C52B803FB1B}"/>
              </a:ext>
            </a:extLst>
          </p:cNvPr>
          <p:cNvSpPr txBox="1"/>
          <p:nvPr/>
        </p:nvSpPr>
        <p:spPr>
          <a:xfrm>
            <a:off x="6512863" y="243144"/>
            <a:ext cx="4177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云南大学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《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 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地学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编程基础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》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课程第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六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16586071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14518" y="0"/>
            <a:ext cx="1835696" cy="6858000"/>
          </a:xfrm>
          <a:prstGeom prst="rect">
            <a:avLst/>
          </a:prstGeom>
          <a:solidFill>
            <a:srgbClr val="00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/>
              </a:solidFill>
              <a:latin typeface="Calibri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ED16A1-79B8-7DB1-1CC1-250B051BAD58}"/>
              </a:ext>
            </a:extLst>
          </p:cNvPr>
          <p:cNvGrpSpPr/>
          <p:nvPr/>
        </p:nvGrpSpPr>
        <p:grpSpPr>
          <a:xfrm>
            <a:off x="2155068" y="2719626"/>
            <a:ext cx="6403721" cy="717997"/>
            <a:chOff x="2121801" y="3511390"/>
            <a:chExt cx="5718901" cy="576000"/>
          </a:xfrm>
        </p:grpSpPr>
        <p:sp>
          <p:nvSpPr>
            <p:cNvPr id="13" name="椭圆 12"/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 dirty="0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一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2777899" y="3560440"/>
              <a:ext cx="5062803" cy="469125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类与对象概念</a:t>
              </a:r>
              <a:endParaRPr lang="en-US" altLang="zh-CN" sz="32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8696373" y="260648"/>
            <a:ext cx="16081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5400" b="1">
                <a:solidFill>
                  <a:schemeClr val="accent1"/>
                </a:solidFill>
                <a:latin typeface="Arial"/>
                <a:ea typeface="微软雅黑"/>
              </a:rPr>
              <a:t>目录</a:t>
            </a:r>
            <a:endParaRPr lang="en-US" altLang="zh-CN" sz="5400" b="1">
              <a:solidFill>
                <a:schemeClr val="accent1"/>
              </a:solidFill>
              <a:latin typeface="Arial"/>
              <a:ea typeface="微软雅黑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AD3754E-1D10-E79E-9F70-D3338A6F2938}"/>
              </a:ext>
            </a:extLst>
          </p:cNvPr>
          <p:cNvGrpSpPr/>
          <p:nvPr/>
        </p:nvGrpSpPr>
        <p:grpSpPr>
          <a:xfrm>
            <a:off x="2165578" y="3870508"/>
            <a:ext cx="6403721" cy="717997"/>
            <a:chOff x="2121801" y="3511390"/>
            <a:chExt cx="5718901" cy="576000"/>
          </a:xfrm>
        </p:grpSpPr>
        <p:sp>
          <p:nvSpPr>
            <p:cNvPr id="8" name="椭圆 12">
              <a:extLst>
                <a:ext uri="{FF2B5EF4-FFF2-40B4-BE49-F238E27FC236}">
                  <a16:creationId xmlns:a16="http://schemas.microsoft.com/office/drawing/2014/main" id="{A1A47F6B-723F-B49C-E80C-2FEA85B63F48}"/>
                </a:ext>
              </a:extLst>
            </p:cNvPr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 dirty="0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二</a:t>
              </a:r>
            </a:p>
          </p:txBody>
        </p:sp>
        <p:sp>
          <p:nvSpPr>
            <p:cNvPr id="9" name="矩形 13">
              <a:extLst>
                <a:ext uri="{FF2B5EF4-FFF2-40B4-BE49-F238E27FC236}">
                  <a16:creationId xmlns:a16="http://schemas.microsoft.com/office/drawing/2014/main" id="{DC55642D-BE0F-C66A-D406-AEEB56A4EB02}"/>
                </a:ext>
              </a:extLst>
            </p:cNvPr>
            <p:cNvSpPr/>
            <p:nvPr/>
          </p:nvSpPr>
          <p:spPr>
            <a:xfrm>
              <a:off x="2777899" y="3560440"/>
              <a:ext cx="5062803" cy="469125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类的特性</a:t>
              </a:r>
              <a:endParaRPr lang="en-US" altLang="zh-CN" sz="32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7612036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2" y="3868892"/>
            <a:ext cx="606166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000" b="1" dirty="0">
                <a:latin typeface="微软雅黑" pitchFamily="34" charset="-122"/>
                <a:ea typeface="微软雅黑" pitchFamily="34" charset="-122"/>
              </a:rPr>
              <a:t>一、类与对象概念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590120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一、类与对象概念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116114" y="832090"/>
            <a:ext cx="11653520" cy="3340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面向对象程序设计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概念：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将事物抽象为“对象”，通过对象的交互解决问题。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四大特性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：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封装、继承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、多态、抽象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面向过程</a:t>
            </a: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(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关注步骤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)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vs. 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面向对象</a:t>
            </a: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(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关注对象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)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 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BC31FD-A8F6-B67C-907D-FDD61B9DC578}"/>
              </a:ext>
            </a:extLst>
          </p:cNvPr>
          <p:cNvSpPr txBox="1"/>
          <p:nvPr/>
        </p:nvSpPr>
        <p:spPr>
          <a:xfrm>
            <a:off x="168362" y="4244690"/>
            <a:ext cx="11803743" cy="2478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+mn-ea"/>
                <a:ea typeface="+mn-ea"/>
              </a:rPr>
              <a:t>写日记类比：</a:t>
            </a:r>
            <a:endParaRPr lang="en-US" altLang="zh-CN" sz="3200" b="1" dirty="0">
              <a:solidFill>
                <a:srgbClr val="FF0000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面向过程：</a:t>
            </a: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第一天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发生了什么，</a:t>
            </a: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第二天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发生了什么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…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，每一天发生的事情。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面向对象：</a:t>
            </a: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张三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做了什么，</a:t>
            </a: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李四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做了什么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…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，关注具体的个人。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53350483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297544" y="793313"/>
            <a:ext cx="10052791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类与对象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05FFCA-3371-AF5C-381D-71D984055F5A}"/>
              </a:ext>
            </a:extLst>
          </p:cNvPr>
          <p:cNvSpPr txBox="1"/>
          <p:nvPr/>
        </p:nvSpPr>
        <p:spPr>
          <a:xfrm>
            <a:off x="297544" y="1412515"/>
            <a:ext cx="11676742" cy="1482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概念：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类是用来描述具有</a:t>
            </a:r>
            <a:r>
              <a:rPr lang="zh-CN" altLang="en-US" sz="3200" b="1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相同属性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和</a:t>
            </a:r>
            <a:r>
              <a:rPr lang="zh-CN" altLang="en-US" sz="3200" b="1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方法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的对象的集合。其定义了该集合中每个对象所共有的属性和方法，</a:t>
            </a:r>
            <a:r>
              <a:rPr lang="zh-CN" altLang="en-US" sz="32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对象是类的实例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  <a:endParaRPr lang="en-US" altLang="zh-CN" sz="3200" b="1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15450C-C250-58F3-B049-216E124A13B6}"/>
              </a:ext>
            </a:extLst>
          </p:cNvPr>
          <p:cNvSpPr txBox="1"/>
          <p:nvPr/>
        </p:nvSpPr>
        <p:spPr>
          <a:xfrm>
            <a:off x="1016002" y="5171433"/>
            <a:ext cx="576678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对象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：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dirty="0">
                <a:solidFill>
                  <a:srgbClr val="333333"/>
                </a:solidFill>
                <a:latin typeface="+mn-ea"/>
                <a:ea typeface="+mn-ea"/>
              </a:rPr>
              <a:t>实例（如“一辆红色宝马”）</a:t>
            </a:r>
            <a:endParaRPr lang="en-US" altLang="zh-CN" sz="32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42A2084-08AB-7CAD-0DA8-D126BB416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0967" y="2939075"/>
            <a:ext cx="3951460" cy="1782959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3A2A74A-FBCB-C5CD-9BC6-A08013E41A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217" b="23108"/>
          <a:stretch>
            <a:fillRect/>
          </a:stretch>
        </p:blipFill>
        <p:spPr bwMode="auto">
          <a:xfrm>
            <a:off x="6420965" y="4784430"/>
            <a:ext cx="3951459" cy="192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58EF9D0-DFF2-2FEA-124A-6DDCD6AEB40A}"/>
              </a:ext>
            </a:extLst>
          </p:cNvPr>
          <p:cNvSpPr txBox="1"/>
          <p:nvPr/>
        </p:nvSpPr>
        <p:spPr>
          <a:xfrm>
            <a:off x="1016002" y="3076956"/>
            <a:ext cx="508725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类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：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dirty="0">
                <a:solidFill>
                  <a:srgbClr val="333333"/>
                </a:solidFill>
                <a:latin typeface="+mn-ea"/>
                <a:ea typeface="+mn-ea"/>
              </a:rPr>
              <a:t>模版（如“汽车设计图”）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2523077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05FFCA-3371-AF5C-381D-71D984055F5A}"/>
              </a:ext>
            </a:extLst>
          </p:cNvPr>
          <p:cNvSpPr txBox="1"/>
          <p:nvPr/>
        </p:nvSpPr>
        <p:spPr>
          <a:xfrm>
            <a:off x="181429" y="1563129"/>
            <a:ext cx="11829141" cy="195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类创建：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类通过</a:t>
            </a:r>
            <a:r>
              <a:rPr lang="en-US" altLang="zh-CN" sz="2800" b="1" u="sng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class</a:t>
            </a:r>
            <a:r>
              <a:rPr lang="zh-CN" altLang="en-US" sz="2800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关键字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定义，</a:t>
            </a:r>
            <a:r>
              <a:rPr lang="zh-CN" altLang="en-CN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类名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首字母通常用大写英文字母。实例属性通过一个特殊的方法</a:t>
            </a:r>
            <a:r>
              <a:rPr lang="en-US" altLang="zh-CN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</a:t>
            </a:r>
            <a:r>
              <a:rPr lang="en-US" altLang="zh-CN" sz="2800" b="1" dirty="0" err="1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init</a:t>
            </a:r>
            <a:r>
              <a:rPr lang="en-US" altLang="zh-CN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__()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定义。类方法使用</a:t>
            </a:r>
            <a:r>
              <a:rPr lang="en-US" altLang="zh-CN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def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关键字定义，与一般函数不同的是类方法第一个参数为</a:t>
            </a:r>
            <a:r>
              <a:rPr lang="en-US" altLang="zh-CN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self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CC6193-3D91-666C-938B-B94F4F5B21CA}"/>
              </a:ext>
            </a:extLst>
          </p:cNvPr>
          <p:cNvSpPr txBox="1"/>
          <p:nvPr/>
        </p:nvSpPr>
        <p:spPr>
          <a:xfrm>
            <a:off x="181429" y="836855"/>
            <a:ext cx="10168906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类和对象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CDFFABE-4A44-7B80-8645-9C7BD5BAE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185" y="3643299"/>
            <a:ext cx="10417628" cy="2962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263808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B631B-0B47-8423-B712-05053ADB8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C151253-FEB6-5AFC-3AEE-AE0961A2A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FF81D2-C78A-B88F-2058-A9905917D723}"/>
              </a:ext>
            </a:extLst>
          </p:cNvPr>
          <p:cNvSpPr txBox="1"/>
          <p:nvPr/>
        </p:nvSpPr>
        <p:spPr>
          <a:xfrm>
            <a:off x="355599" y="902168"/>
            <a:ext cx="5029201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类和对象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B5EDB3-4927-243A-416B-356A6F131E50}"/>
              </a:ext>
            </a:extLst>
          </p:cNvPr>
          <p:cNvSpPr txBox="1"/>
          <p:nvPr/>
        </p:nvSpPr>
        <p:spPr>
          <a:xfrm>
            <a:off x="267789" y="1814814"/>
            <a:ext cx="6583680" cy="3032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类由</a:t>
            </a: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属性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和</a:t>
            </a: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方法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构成。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属性包含类属性和实例属性。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方法主要包含</a:t>
            </a:r>
            <a:r>
              <a:rPr lang="zh-CN" altLang="en-US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实例方法</a:t>
            </a: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</a:t>
            </a:r>
            <a:r>
              <a:rPr lang="zh-CN" altLang="en-US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属性方法</a:t>
            </a: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、类方法、静态方法。</a:t>
            </a:r>
            <a:endParaRPr lang="en-US" altLang="zh-CN" sz="2800" b="1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33F5C113-AC49-5031-17BC-697657E06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997" y="5110818"/>
            <a:ext cx="6714472" cy="1578506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B170E28E-8DE7-E0FE-FA29-D7B1AF4853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286" y="890773"/>
            <a:ext cx="5144590" cy="5939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108090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C4295-852A-C844-6AE3-B240D2A2F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FB14C1C-F669-E6AD-5BA6-A1C8AF7FB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FB9BD5-443F-C7C1-BAEE-A30B360B5DBD}"/>
              </a:ext>
            </a:extLst>
          </p:cNvPr>
          <p:cNvSpPr txBox="1"/>
          <p:nvPr/>
        </p:nvSpPr>
        <p:spPr>
          <a:xfrm>
            <a:off x="420914" y="902168"/>
            <a:ext cx="9929421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类和对象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015485B-A28D-2176-BB43-3FB41EE1B5B5}"/>
              </a:ext>
            </a:extLst>
          </p:cNvPr>
          <p:cNvSpPr txBox="1"/>
          <p:nvPr/>
        </p:nvSpPr>
        <p:spPr>
          <a:xfrm>
            <a:off x="529772" y="1631523"/>
            <a:ext cx="9027885" cy="662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方法类型对比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sym typeface="Wingdings" pitchFamily="2" charset="2"/>
              </a:rPr>
              <a:t>（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实例方法、类方法以及静态方法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sym typeface="Wingdings" pitchFamily="2" charset="2"/>
              </a:rPr>
              <a:t>）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9B2228-5D11-D4FF-2302-99CC0F85F7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0944859"/>
              </p:ext>
            </p:extLst>
          </p:nvPr>
        </p:nvGraphicFramePr>
        <p:xfrm>
          <a:off x="420914" y="2430170"/>
          <a:ext cx="11437256" cy="4054893"/>
        </p:xfrm>
        <a:graphic>
          <a:graphicData uri="http://schemas.openxmlformats.org/drawingml/2006/table">
            <a:tbl>
              <a:tblPr/>
              <a:tblGrid>
                <a:gridCol w="1561625">
                  <a:extLst>
                    <a:ext uri="{9D8B030D-6E8A-4147-A177-3AD203B41FA5}">
                      <a16:colId xmlns:a16="http://schemas.microsoft.com/office/drawing/2014/main" val="3317461476"/>
                    </a:ext>
                  </a:extLst>
                </a:gridCol>
                <a:gridCol w="2482897">
                  <a:extLst>
                    <a:ext uri="{9D8B030D-6E8A-4147-A177-3AD203B41FA5}">
                      <a16:colId xmlns:a16="http://schemas.microsoft.com/office/drawing/2014/main" val="1179193946"/>
                    </a:ext>
                  </a:extLst>
                </a:gridCol>
                <a:gridCol w="1229653">
                  <a:extLst>
                    <a:ext uri="{9D8B030D-6E8A-4147-A177-3AD203B41FA5}">
                      <a16:colId xmlns:a16="http://schemas.microsoft.com/office/drawing/2014/main" val="3047767713"/>
                    </a:ext>
                  </a:extLst>
                </a:gridCol>
                <a:gridCol w="2740793">
                  <a:extLst>
                    <a:ext uri="{9D8B030D-6E8A-4147-A177-3AD203B41FA5}">
                      <a16:colId xmlns:a16="http://schemas.microsoft.com/office/drawing/2014/main" val="3600142794"/>
                    </a:ext>
                  </a:extLst>
                </a:gridCol>
                <a:gridCol w="3422288">
                  <a:extLst>
                    <a:ext uri="{9D8B030D-6E8A-4147-A177-3AD203B41FA5}">
                      <a16:colId xmlns:a16="http://schemas.microsoft.com/office/drawing/2014/main" val="1634629478"/>
                    </a:ext>
                  </a:extLst>
                </a:gridCol>
              </a:tblGrid>
              <a:tr h="73754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方法类型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装饰器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参数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调用方式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访问权限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0919822"/>
                  </a:ext>
                </a:extLst>
              </a:tr>
              <a:tr h="802826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实例方法</a:t>
                      </a:r>
                      <a:endParaRPr lang="zh-CN" alt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无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self, </a:t>
                      </a:r>
                      <a:endParaRPr lang="zh-CN" alt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obj.method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()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可访问实例和类属性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5697439"/>
                  </a:ext>
                </a:extLst>
              </a:tr>
              <a:tr h="811267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类方法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@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classmethod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cls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,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Obj.method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()/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Class.method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()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仅可访问类属性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083669"/>
                  </a:ext>
                </a:extLst>
              </a:tr>
              <a:tr h="88873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静态方法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@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staticmethod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无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obj.method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()/</a:t>
                      </a:r>
                    </a:p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Class.method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()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不可访问类或实例属性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0350388"/>
                  </a:ext>
                </a:extLst>
              </a:tr>
              <a:tr h="802826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属性方法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@property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self,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obj.method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可访问实例和类属性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21095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4578072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A1EA6-FC7C-E1AE-D893-64B0F2BE1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A8215620-A8AD-1BD6-546A-537569C7AC82}"/>
              </a:ext>
            </a:extLst>
          </p:cNvPr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AB04143-9F32-6D14-35CC-1C7DD08763FB}"/>
              </a:ext>
            </a:extLst>
          </p:cNvPr>
          <p:cNvSpPr/>
          <p:nvPr/>
        </p:nvSpPr>
        <p:spPr>
          <a:xfrm>
            <a:off x="254222" y="3868892"/>
            <a:ext cx="1167074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000" b="1" dirty="0">
                <a:latin typeface="微软雅黑" pitchFamily="34" charset="-122"/>
                <a:ea typeface="微软雅黑" pitchFamily="34" charset="-122"/>
              </a:rPr>
              <a:t>二、类的特性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5B280CA-71FD-D093-1BFC-8E45833B322E}"/>
              </a:ext>
            </a:extLst>
          </p:cNvPr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9658219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EBBDD-3A51-1947-1141-54E55E478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F6277FF8-4606-0EC7-2B1A-573FD2EE8C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FAC99F-6B29-9C88-02EA-1CD91E71261F}"/>
              </a:ext>
            </a:extLst>
          </p:cNvPr>
          <p:cNvSpPr txBox="1"/>
          <p:nvPr/>
        </p:nvSpPr>
        <p:spPr>
          <a:xfrm>
            <a:off x="319314" y="815411"/>
            <a:ext cx="10031021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类的封装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05FC91-2DA4-DD1A-6230-4FAF60DFA3C3}"/>
              </a:ext>
            </a:extLst>
          </p:cNvPr>
          <p:cNvSpPr txBox="1"/>
          <p:nvPr/>
        </p:nvSpPr>
        <p:spPr>
          <a:xfrm>
            <a:off x="319314" y="1406783"/>
            <a:ext cx="11676743" cy="2170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CN" sz="28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概念</a:t>
            </a:r>
            <a:r>
              <a:rPr lang="zh-CN" altLang="en-US" sz="28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将数据（属性）和操作数据的方法（函数）打包在一个类中，并对外隐藏内部实现细节，只暴露必要接口。</a:t>
            </a:r>
            <a:endParaRPr lang="en-US" altLang="zh-CN" sz="2800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类比：</a:t>
            </a:r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手机（内部有复杂精密的电路，但用户只需通过按钮操作）。</a:t>
            </a:r>
            <a:endParaRPr lang="en-US" altLang="zh-CN" sz="2800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DF97DF8-2D7B-80A9-CF56-423078363C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7094444"/>
              </p:ext>
            </p:extLst>
          </p:nvPr>
        </p:nvGraphicFramePr>
        <p:xfrm>
          <a:off x="2024743" y="3599213"/>
          <a:ext cx="9869713" cy="3157635"/>
        </p:xfrm>
        <a:graphic>
          <a:graphicData uri="http://schemas.openxmlformats.org/drawingml/2006/table">
            <a:tbl>
              <a:tblPr/>
              <a:tblGrid>
                <a:gridCol w="2730137">
                  <a:extLst>
                    <a:ext uri="{9D8B030D-6E8A-4147-A177-3AD203B41FA5}">
                      <a16:colId xmlns:a16="http://schemas.microsoft.com/office/drawing/2014/main" val="3271191823"/>
                    </a:ext>
                  </a:extLst>
                </a:gridCol>
                <a:gridCol w="7139576">
                  <a:extLst>
                    <a:ext uri="{9D8B030D-6E8A-4147-A177-3AD203B41FA5}">
                      <a16:colId xmlns:a16="http://schemas.microsoft.com/office/drawing/2014/main" val="3490633273"/>
                    </a:ext>
                  </a:extLst>
                </a:gridCol>
              </a:tblGrid>
              <a:tr h="45259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优势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说明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7382"/>
                  </a:ext>
                </a:extLst>
              </a:tr>
              <a:tr h="5738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数据保护</a:t>
                      </a:r>
                      <a:endParaRPr lang="zh-CN" alt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通过私有属性和条件检查，防止非法数据输入。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0314504"/>
                  </a:ext>
                </a:extLst>
              </a:tr>
              <a:tr h="88458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隐藏实现细节</a:t>
                      </a:r>
                      <a:endParaRPr lang="zh-CN" alt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外部无需知道类内部如何存储数据，只需调用接口。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004477"/>
                  </a:ext>
                </a:extLst>
              </a:tr>
              <a:tr h="88458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接口统一，易于维护</a:t>
                      </a:r>
                      <a:endParaRPr lang="zh-CN" altLang="en-US" sz="240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修改内部实现不影响外部代码（例如：将年龄存储方式从整数改为日期）。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502252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0378873A-773B-DF7B-FB4F-923FE5E9D008}"/>
              </a:ext>
            </a:extLst>
          </p:cNvPr>
          <p:cNvSpPr txBox="1"/>
          <p:nvPr/>
        </p:nvSpPr>
        <p:spPr>
          <a:xfrm>
            <a:off x="205015" y="4848389"/>
            <a:ext cx="2117271" cy="581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4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封装的目的：</a:t>
            </a:r>
            <a:endParaRPr lang="en-US" altLang="zh-CN" sz="2400" b="1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38133134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137887" y="919218"/>
            <a:ext cx="11847284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类私有属性与方法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在 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Python 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中，通过在属性或方法名前加 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双下划线 </a:t>
            </a:r>
            <a:r>
              <a:rPr lang="en-US" altLang="zh-CN" sz="2800" b="1" dirty="0">
                <a:solidFill>
                  <a:schemeClr val="bg2"/>
                </a:solidFill>
                <a:latin typeface="+mn-ea"/>
                <a:ea typeface="+mn-ea"/>
              </a:rPr>
              <a:t>__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 实现“私有化”。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734150-3122-D07B-79A7-00F1EEA5232B}"/>
              </a:ext>
            </a:extLst>
          </p:cNvPr>
          <p:cNvSpPr txBox="1"/>
          <p:nvPr/>
        </p:nvSpPr>
        <p:spPr>
          <a:xfrm>
            <a:off x="167555" y="2407719"/>
            <a:ext cx="4525446" cy="3586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访问限制</a:t>
            </a:r>
            <a:endParaRPr lang="en-US" altLang="zh-CN" sz="28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公有成员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无下划线前缀，可直接访问（如 </a:t>
            </a:r>
            <a:r>
              <a:rPr lang="en-US" dirty="0" err="1">
                <a:solidFill>
                  <a:schemeClr val="bg2"/>
                </a:solidFill>
                <a:latin typeface="+mn-ea"/>
                <a:ea typeface="+mn-ea"/>
              </a:rPr>
              <a:t>self.name</a:t>
            </a:r>
            <a:r>
              <a:rPr lang="en-US" dirty="0">
                <a:solidFill>
                  <a:schemeClr val="bg2"/>
                </a:solidFill>
                <a:latin typeface="+mn-ea"/>
                <a:ea typeface="+mn-ea"/>
              </a:rPr>
              <a:t>）。</a:t>
            </a: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私有成员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以双下划线 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__ 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开头，只能在类内部访问。</a:t>
            </a:r>
            <a:endParaRPr lang="zh-CN" altLang="en-US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79BDC5B-6908-3F6D-1BC5-339D0E309E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382" y="2241761"/>
            <a:ext cx="7429789" cy="4328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33983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34967-4855-7FE0-11B2-B9410EEBB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416367D2-60C4-AB52-F3C5-F8F49E6CF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CF4BE7-7728-F644-CE2D-99D805AAEF0B}"/>
              </a:ext>
            </a:extLst>
          </p:cNvPr>
          <p:cNvSpPr txBox="1"/>
          <p:nvPr/>
        </p:nvSpPr>
        <p:spPr>
          <a:xfrm>
            <a:off x="428172" y="867664"/>
            <a:ext cx="5027750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类的继承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1186E3-6A42-7E88-A23F-786D5085803C}"/>
              </a:ext>
            </a:extLst>
          </p:cNvPr>
          <p:cNvSpPr txBox="1"/>
          <p:nvPr/>
        </p:nvSpPr>
        <p:spPr>
          <a:xfrm>
            <a:off x="428171" y="1748138"/>
            <a:ext cx="5878286" cy="2959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CN" sz="32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概念</a:t>
            </a:r>
            <a:r>
              <a:rPr lang="zh-CN" altLang="en-US" sz="32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允许一个类（子类</a:t>
            </a:r>
            <a:r>
              <a:rPr lang="en-US" altLang="zh-CN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派生类）继承另一个类（父类</a:t>
            </a:r>
            <a:r>
              <a:rPr lang="en-US" altLang="zh-CN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基类）的属性和方法，实现代码复用和逻辑分层。</a:t>
            </a:r>
            <a:endParaRPr lang="en-US" altLang="zh-CN" sz="3200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7" name="Picture 6" descr="A cartoon of a person with a mustache&#10;&#10;AI-generated content may be incorrect.">
            <a:extLst>
              <a:ext uri="{FF2B5EF4-FFF2-40B4-BE49-F238E27FC236}">
                <a16:creationId xmlns:a16="http://schemas.microsoft.com/office/drawing/2014/main" id="{A26CA70A-945E-7F90-9B40-8A0E62F2CB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543" y="966134"/>
            <a:ext cx="1277471" cy="1564007"/>
          </a:xfrm>
          <a:prstGeom prst="rect">
            <a:avLst/>
          </a:prstGeom>
        </p:spPr>
      </p:pic>
      <p:pic>
        <p:nvPicPr>
          <p:cNvPr id="9" name="Picture 8" descr="A cartoon of a person&#10;&#10;AI-generated content may be incorrect.">
            <a:extLst>
              <a:ext uri="{FF2B5EF4-FFF2-40B4-BE49-F238E27FC236}">
                <a16:creationId xmlns:a16="http://schemas.microsoft.com/office/drawing/2014/main" id="{A617207F-A5B7-57E2-BCFC-9546C09ADD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1741" y="2963064"/>
            <a:ext cx="1277471" cy="1564007"/>
          </a:xfrm>
          <a:prstGeom prst="rect">
            <a:avLst/>
          </a:prstGeom>
        </p:spPr>
      </p:pic>
      <p:pic>
        <p:nvPicPr>
          <p:cNvPr id="11" name="Picture 10" descr="A cartoon of a child&#10;&#10;AI-generated content may be incorrect.">
            <a:extLst>
              <a:ext uri="{FF2B5EF4-FFF2-40B4-BE49-F238E27FC236}">
                <a16:creationId xmlns:a16="http://schemas.microsoft.com/office/drawing/2014/main" id="{8FA5AF93-8C45-AF2A-901E-61CD73AC51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5014" y="2963065"/>
            <a:ext cx="1277471" cy="1564007"/>
          </a:xfrm>
          <a:prstGeom prst="rect">
            <a:avLst/>
          </a:prstGeom>
        </p:spPr>
      </p:pic>
      <p:pic>
        <p:nvPicPr>
          <p:cNvPr id="13" name="Picture 12" descr="A cartoon of a child&#10;&#10;AI-generated content may be incorrect.">
            <a:extLst>
              <a:ext uri="{FF2B5EF4-FFF2-40B4-BE49-F238E27FC236}">
                <a16:creationId xmlns:a16="http://schemas.microsoft.com/office/drawing/2014/main" id="{35854686-DED2-FDCB-AA93-84813612E9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4182" y="4871812"/>
            <a:ext cx="1277471" cy="1564007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28AA323-2F1B-995E-3FC1-411179B5C056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 bwMode="auto">
          <a:xfrm flipH="1">
            <a:off x="8100476" y="2530141"/>
            <a:ext cx="1275802" cy="432923"/>
          </a:xfrm>
          <a:prstGeom prst="line">
            <a:avLst/>
          </a:prstGeom>
          <a:ln w="38100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D69AAC9-2804-41C0-615A-09D97C49FB93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 bwMode="auto">
          <a:xfrm>
            <a:off x="9376279" y="2530140"/>
            <a:ext cx="1277471" cy="432924"/>
          </a:xfrm>
          <a:prstGeom prst="line">
            <a:avLst/>
          </a:prstGeom>
          <a:ln w="38100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A6DF9F9-7FC1-E551-1CE0-FF160C41DAFD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 bwMode="auto">
          <a:xfrm flipH="1">
            <a:off x="7132918" y="4527071"/>
            <a:ext cx="967559" cy="344741"/>
          </a:xfrm>
          <a:prstGeom prst="line">
            <a:avLst/>
          </a:prstGeom>
          <a:ln w="38100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9575857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6247E-F5AF-E9EB-BFBB-1680DB951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E2F39E7-65F0-E6BD-EF5A-B2B513669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F9FC78-66AD-5EE0-7440-16A36C691226}"/>
              </a:ext>
            </a:extLst>
          </p:cNvPr>
          <p:cNvSpPr txBox="1"/>
          <p:nvPr/>
        </p:nvSpPr>
        <p:spPr>
          <a:xfrm>
            <a:off x="319314" y="800688"/>
            <a:ext cx="4973320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类的继承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1DB7F4-445A-E3C2-4460-756136E1B399}"/>
              </a:ext>
            </a:extLst>
          </p:cNvPr>
          <p:cNvSpPr txBox="1"/>
          <p:nvPr/>
        </p:nvSpPr>
        <p:spPr>
          <a:xfrm>
            <a:off x="319313" y="4119943"/>
            <a:ext cx="330925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类的继承包括：</a:t>
            </a:r>
            <a:endParaRPr lang="en-US" altLang="zh-CN" sz="2800" b="1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514350" indent="-514350" algn="l">
              <a:buAutoNum type="arabicPeriod"/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类方法继承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514350" indent="-514350" algn="l">
              <a:buAutoNum type="arabicPeriod"/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类属性继承</a:t>
            </a:r>
            <a:endParaRPr lang="en-US" altLang="zh-CN" sz="2800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01D756D-B50A-E2EE-5A50-CB434326DA5F}"/>
              </a:ext>
            </a:extLst>
          </p:cNvPr>
          <p:cNvGrpSpPr/>
          <p:nvPr/>
        </p:nvGrpSpPr>
        <p:grpSpPr>
          <a:xfrm>
            <a:off x="3786000" y="3550541"/>
            <a:ext cx="4361597" cy="3197659"/>
            <a:chOff x="479244" y="3536771"/>
            <a:chExt cx="4361597" cy="3197659"/>
          </a:xfrm>
        </p:grpSpPr>
        <p:pic>
          <p:nvPicPr>
            <p:cNvPr id="6" name="Picture 5" descr="A dragon boat in the water&#10;&#10;AI-generated content may be incorrect.">
              <a:extLst>
                <a:ext uri="{FF2B5EF4-FFF2-40B4-BE49-F238E27FC236}">
                  <a16:creationId xmlns:a16="http://schemas.microsoft.com/office/drawing/2014/main" id="{6612EADE-3049-D10A-6BA3-1C769218C1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9244" y="4367768"/>
              <a:ext cx="4361597" cy="2366662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0EDBE1B-9BD5-9DF6-6211-59B4AF1334C3}"/>
                </a:ext>
              </a:extLst>
            </p:cNvPr>
            <p:cNvSpPr txBox="1"/>
            <p:nvPr/>
          </p:nvSpPr>
          <p:spPr>
            <a:xfrm>
              <a:off x="479244" y="3536771"/>
              <a:ext cx="436159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b="1" dirty="0">
                  <a:solidFill>
                    <a:schemeClr val="accent2"/>
                  </a:solidFill>
                  <a:latin typeface="+mn-ea"/>
                  <a:ea typeface="+mn-ea"/>
                </a:rPr>
                <a:t>属性继承</a:t>
              </a:r>
              <a:r>
                <a:rPr lang="zh-CN" altLang="en-US" dirty="0">
                  <a:solidFill>
                    <a:schemeClr val="bg2"/>
                  </a:solidFill>
                  <a:latin typeface="+mn-ea"/>
                  <a:ea typeface="+mn-ea"/>
                </a:rPr>
                <a:t>：</a:t>
              </a:r>
              <a:r>
                <a:rPr lang="en-CN" dirty="0">
                  <a:solidFill>
                    <a:schemeClr val="bg2"/>
                  </a:solidFill>
                  <a:latin typeface="+mn-ea"/>
                  <a:ea typeface="+mn-ea"/>
                </a:rPr>
                <a:t>龙爸爸和龙儿子都有两条胡须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84917E7-2DEC-F7B5-9FBB-AFD9272484D5}"/>
              </a:ext>
            </a:extLst>
          </p:cNvPr>
          <p:cNvGrpSpPr/>
          <p:nvPr/>
        </p:nvGrpSpPr>
        <p:grpSpPr>
          <a:xfrm>
            <a:off x="8147597" y="973015"/>
            <a:ext cx="3799752" cy="3562427"/>
            <a:chOff x="5026583" y="1597129"/>
            <a:chExt cx="3799752" cy="3562427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77C8A7E-4D49-5ECA-844F-D01D8F9203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26584" y="1597129"/>
              <a:ext cx="3799751" cy="2693624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5987875-406D-A25F-1A99-14007DE4474B}"/>
                </a:ext>
              </a:extLst>
            </p:cNvPr>
            <p:cNvSpPr txBox="1"/>
            <p:nvPr/>
          </p:nvSpPr>
          <p:spPr>
            <a:xfrm>
              <a:off x="5026583" y="4328559"/>
              <a:ext cx="379975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b="1" dirty="0">
                  <a:solidFill>
                    <a:schemeClr val="accent2"/>
                  </a:solidFill>
                  <a:latin typeface="+mn-ea"/>
                  <a:ea typeface="+mn-ea"/>
                </a:rPr>
                <a:t>方法继承</a:t>
              </a:r>
              <a:r>
                <a:rPr lang="zh-CN" altLang="en-US" dirty="0">
                  <a:solidFill>
                    <a:schemeClr val="bg2"/>
                  </a:solidFill>
                  <a:latin typeface="+mn-ea"/>
                  <a:ea typeface="+mn-ea"/>
                </a:rPr>
                <a:t>：</a:t>
              </a:r>
              <a:r>
                <a:rPr lang="en-CN" dirty="0">
                  <a:solidFill>
                    <a:schemeClr val="bg2"/>
                  </a:solidFill>
                  <a:latin typeface="+mn-ea"/>
                  <a:ea typeface="+mn-ea"/>
                </a:rPr>
                <a:t>鼠爸爸和鼠儿子都会打洞</a:t>
              </a:r>
            </a:p>
          </p:txBody>
        </p:sp>
      </p:grpSp>
      <p:sp>
        <p:nvSpPr>
          <p:cNvPr id="4" name="TextBox 16">
            <a:extLst>
              <a:ext uri="{FF2B5EF4-FFF2-40B4-BE49-F238E27FC236}">
                <a16:creationId xmlns:a16="http://schemas.microsoft.com/office/drawing/2014/main" id="{DD26309E-3A22-FDFB-9483-DC9EF4C25A2A}"/>
              </a:ext>
            </a:extLst>
          </p:cNvPr>
          <p:cNvSpPr txBox="1"/>
          <p:nvPr/>
        </p:nvSpPr>
        <p:spPr>
          <a:xfrm>
            <a:off x="319313" y="1551857"/>
            <a:ext cx="7663544" cy="195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CN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概念</a:t>
            </a: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允许一个类（子类</a:t>
            </a:r>
            <a:r>
              <a:rPr lang="en-US" altLang="zh-CN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派生类）继承另一个类（父类</a:t>
            </a:r>
            <a:r>
              <a:rPr lang="en-US" altLang="zh-CN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基类）的属性和方法，实现代码复用和逻辑分层。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52714107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61582-1175-8CD7-4D61-50E1B58D2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28740A0-EB48-257C-A1C5-AA87024D1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D112B4-7E48-8FB9-BFFC-FC1B1A216561}"/>
              </a:ext>
            </a:extLst>
          </p:cNvPr>
          <p:cNvSpPr txBox="1"/>
          <p:nvPr/>
        </p:nvSpPr>
        <p:spPr>
          <a:xfrm>
            <a:off x="412693" y="867664"/>
            <a:ext cx="9937642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类的继承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D23D6B-978C-96BD-2B05-F45B865C0996}"/>
              </a:ext>
            </a:extLst>
          </p:cNvPr>
          <p:cNvSpPr txBox="1"/>
          <p:nvPr/>
        </p:nvSpPr>
        <p:spPr>
          <a:xfrm>
            <a:off x="412693" y="1565833"/>
            <a:ext cx="10574621" cy="2889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类的继承作用</a:t>
            </a:r>
            <a:r>
              <a:rPr lang="zh-CN" altLang="en-US" sz="28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endParaRPr lang="en-US" altLang="zh-CN" sz="2800" b="1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代码复用：避免重复编写相同功能的代码。</a:t>
            </a:r>
            <a:endParaRPr lang="en-US" altLang="zh-CN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扩展功能：子类可以添加新方法或覆盖父类方法。</a:t>
            </a:r>
            <a:endParaRPr lang="en-US" altLang="zh-CN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逻辑分层：通过</a:t>
            </a:r>
            <a:r>
              <a:rPr lang="zh-CN" altLang="en-US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层次化设计提高代码可读性和可维护性。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9574C2A-00F8-61BF-9632-11547C901AF7}"/>
              </a:ext>
            </a:extLst>
          </p:cNvPr>
          <p:cNvGrpSpPr/>
          <p:nvPr/>
        </p:nvGrpSpPr>
        <p:grpSpPr>
          <a:xfrm>
            <a:off x="412693" y="4804926"/>
            <a:ext cx="8167909" cy="1750423"/>
            <a:chOff x="-656491" y="4574340"/>
            <a:chExt cx="8034296" cy="1671526"/>
          </a:xfrm>
        </p:grpSpPr>
        <p:pic>
          <p:nvPicPr>
            <p:cNvPr id="5" name="Picture 4" descr="A black screen with white text&#10;&#10;AI-generated content may be incorrect.">
              <a:extLst>
                <a:ext uri="{FF2B5EF4-FFF2-40B4-BE49-F238E27FC236}">
                  <a16:creationId xmlns:a16="http://schemas.microsoft.com/office/drawing/2014/main" id="{CC6D97A4-8627-E7EE-6864-EEC6A5BFA7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1701" y="4574340"/>
              <a:ext cx="6686104" cy="167152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ED0327C-4566-3398-A61F-D4CCCC424DC6}"/>
                </a:ext>
              </a:extLst>
            </p:cNvPr>
            <p:cNvSpPr txBox="1"/>
            <p:nvPr/>
          </p:nvSpPr>
          <p:spPr>
            <a:xfrm>
              <a:off x="-656491" y="5017342"/>
              <a:ext cx="1308418" cy="9111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sz="2800" b="1" dirty="0">
                  <a:solidFill>
                    <a:schemeClr val="accent2"/>
                  </a:solidFill>
                  <a:latin typeface="+mn-ea"/>
                  <a:ea typeface="+mn-ea"/>
                </a:rPr>
                <a:t>基础语法</a:t>
              </a:r>
            </a:p>
          </p:txBody>
        </p:sp>
      </p:grpSp>
      <p:pic>
        <p:nvPicPr>
          <p:cNvPr id="7" name="Picture 6" descr="A cartoon of a person with a mustache&#10;&#10;AI-generated content may be incorrect.">
            <a:extLst>
              <a:ext uri="{FF2B5EF4-FFF2-40B4-BE49-F238E27FC236}">
                <a16:creationId xmlns:a16="http://schemas.microsoft.com/office/drawing/2014/main" id="{B5FD0184-E077-F0C3-CD3A-2131EBC676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8286" y="1059343"/>
            <a:ext cx="1277471" cy="1564007"/>
          </a:xfrm>
          <a:prstGeom prst="rect">
            <a:avLst/>
          </a:prstGeom>
        </p:spPr>
      </p:pic>
      <p:pic>
        <p:nvPicPr>
          <p:cNvPr id="8" name="Picture 8" descr="A cartoon of a person&#10;&#10;AI-generated content may be incorrect.">
            <a:extLst>
              <a:ext uri="{FF2B5EF4-FFF2-40B4-BE49-F238E27FC236}">
                <a16:creationId xmlns:a16="http://schemas.microsoft.com/office/drawing/2014/main" id="{DC2E0863-1C36-8BBF-672F-7BF3A40434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6181" y="3103732"/>
            <a:ext cx="1277471" cy="1564007"/>
          </a:xfrm>
          <a:prstGeom prst="rect">
            <a:avLst/>
          </a:prstGeom>
        </p:spPr>
      </p:pic>
      <p:pic>
        <p:nvPicPr>
          <p:cNvPr id="9" name="Picture 10" descr="A cartoon of a child&#10;&#10;AI-generated content may be incorrect.">
            <a:extLst>
              <a:ext uri="{FF2B5EF4-FFF2-40B4-BE49-F238E27FC236}">
                <a16:creationId xmlns:a16="http://schemas.microsoft.com/office/drawing/2014/main" id="{24415104-BC93-FA0D-DA36-7A3ECAC5BB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0423" y="3103731"/>
            <a:ext cx="1277471" cy="1564007"/>
          </a:xfrm>
          <a:prstGeom prst="rect">
            <a:avLst/>
          </a:prstGeom>
        </p:spPr>
      </p:pic>
      <p:pic>
        <p:nvPicPr>
          <p:cNvPr id="10" name="Picture 12" descr="A cartoon of a child&#10;&#10;AI-generated content may be incorrect.">
            <a:extLst>
              <a:ext uri="{FF2B5EF4-FFF2-40B4-BE49-F238E27FC236}">
                <a16:creationId xmlns:a16="http://schemas.microsoft.com/office/drawing/2014/main" id="{525FBE92-73D0-9DA8-033F-37F4D7BBDC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1078" y="5058227"/>
            <a:ext cx="1277471" cy="1564007"/>
          </a:xfrm>
          <a:prstGeom prst="rect">
            <a:avLst/>
          </a:prstGeom>
        </p:spPr>
      </p:pic>
      <p:cxnSp>
        <p:nvCxnSpPr>
          <p:cNvPr id="11" name="Straight Connector 14">
            <a:extLst>
              <a:ext uri="{FF2B5EF4-FFF2-40B4-BE49-F238E27FC236}">
                <a16:creationId xmlns:a16="http://schemas.microsoft.com/office/drawing/2014/main" id="{63B27892-FC56-4478-E8E9-8A107E574AD5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 bwMode="auto">
          <a:xfrm flipH="1">
            <a:off x="9114917" y="2623350"/>
            <a:ext cx="762105" cy="480382"/>
          </a:xfrm>
          <a:prstGeom prst="line">
            <a:avLst/>
          </a:prstGeom>
          <a:ln w="38100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5">
            <a:extLst>
              <a:ext uri="{FF2B5EF4-FFF2-40B4-BE49-F238E27FC236}">
                <a16:creationId xmlns:a16="http://schemas.microsoft.com/office/drawing/2014/main" id="{927656A0-E133-A660-9B5B-B91869748028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 bwMode="auto">
          <a:xfrm>
            <a:off x="9877022" y="2623350"/>
            <a:ext cx="1022137" cy="480381"/>
          </a:xfrm>
          <a:prstGeom prst="line">
            <a:avLst/>
          </a:prstGeom>
          <a:ln w="38100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9">
            <a:extLst>
              <a:ext uri="{FF2B5EF4-FFF2-40B4-BE49-F238E27FC236}">
                <a16:creationId xmlns:a16="http://schemas.microsoft.com/office/drawing/2014/main" id="{2F84DC63-1A02-BA7C-01C5-1A65705AA7B5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 bwMode="auto">
          <a:xfrm>
            <a:off x="10899159" y="4667738"/>
            <a:ext cx="590655" cy="390489"/>
          </a:xfrm>
          <a:prstGeom prst="line">
            <a:avLst/>
          </a:prstGeom>
          <a:ln w="38100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007069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6918D-2A4D-A4AA-5C1D-DC5184BB2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06EB910-30F8-E443-605D-A65B71651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E5B8B0-1011-47A1-8CCB-BF0220833F7C}"/>
              </a:ext>
            </a:extLst>
          </p:cNvPr>
          <p:cNvSpPr txBox="1"/>
          <p:nvPr/>
        </p:nvSpPr>
        <p:spPr>
          <a:xfrm>
            <a:off x="261257" y="867664"/>
            <a:ext cx="10089078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类的继承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B6BC14-43CC-3EA9-4A3D-6D97F4686FA1}"/>
              </a:ext>
            </a:extLst>
          </p:cNvPr>
          <p:cNvSpPr txBox="1"/>
          <p:nvPr/>
        </p:nvSpPr>
        <p:spPr>
          <a:xfrm>
            <a:off x="261257" y="1565833"/>
            <a:ext cx="11669486" cy="208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9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创建子类</a:t>
            </a:r>
            <a:r>
              <a:rPr lang="zh-CN" alt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：先定义一个基类</a:t>
            </a:r>
            <a:r>
              <a:rPr lang="en-US" altLang="zh-CN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(</a:t>
            </a:r>
            <a:r>
              <a:rPr 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Base class)</a:t>
            </a:r>
            <a:r>
              <a:rPr lang="zh-CN" alt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或父类</a:t>
            </a:r>
            <a:r>
              <a:rPr lang="en-US" altLang="zh-CN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(</a:t>
            </a:r>
            <a:r>
              <a:rPr 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Parent class)，</a:t>
            </a:r>
            <a:r>
              <a:rPr lang="zh-CN" alt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再通过</a:t>
            </a:r>
            <a:r>
              <a:rPr lang="en-US" sz="2900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class </a:t>
            </a:r>
            <a:r>
              <a:rPr lang="zh-CN" altLang="en-US" sz="2900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子类名（父类名</a:t>
            </a:r>
            <a:r>
              <a:rPr lang="en-US" altLang="zh-CN" sz="2900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)</a:t>
            </a:r>
            <a:r>
              <a:rPr lang="zh-CN" alt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来创建子类</a:t>
            </a:r>
            <a:r>
              <a:rPr lang="en-US" altLang="zh-CN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(</a:t>
            </a:r>
            <a:r>
              <a:rPr 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Child class)。</a:t>
            </a:r>
            <a:r>
              <a:rPr lang="zh-CN" alt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这样子类就可以从父类那里获得其已有的属性与方法，这种现象叫做类的继承。</a:t>
            </a:r>
            <a:endParaRPr lang="en-US" altLang="zh-CN" sz="29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536795F7-D5EB-86FF-2C9E-F85E62FEBF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7664" r="18141"/>
          <a:stretch>
            <a:fillRect/>
          </a:stretch>
        </p:blipFill>
        <p:spPr>
          <a:xfrm>
            <a:off x="5680285" y="3785010"/>
            <a:ext cx="5129230" cy="107536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EF148D7-CFD9-DDF0-C2AE-A3BB3DF280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0193"/>
          <a:stretch>
            <a:fillRect/>
          </a:stretch>
        </p:blipFill>
        <p:spPr>
          <a:xfrm>
            <a:off x="372290" y="3785010"/>
            <a:ext cx="4695056" cy="251830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C9B4B668-449F-CFBD-1936-30CE1ECDC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1685" y="5382290"/>
            <a:ext cx="6579426" cy="921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088617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65CAB-1D97-83D2-B119-A52DA3157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AD47614-F58F-54C4-AE76-73F95CF63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AD7F97-E119-CD03-1AA9-7166E90EC33A}"/>
              </a:ext>
            </a:extLst>
          </p:cNvPr>
          <p:cNvSpPr txBox="1"/>
          <p:nvPr/>
        </p:nvSpPr>
        <p:spPr>
          <a:xfrm>
            <a:off x="248194" y="867665"/>
            <a:ext cx="10102141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类的继承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8A361A-6523-524F-BE7C-A36079E8C65B}"/>
              </a:ext>
            </a:extLst>
          </p:cNvPr>
          <p:cNvSpPr txBox="1"/>
          <p:nvPr/>
        </p:nvSpPr>
        <p:spPr>
          <a:xfrm>
            <a:off x="214450" y="1837699"/>
            <a:ext cx="5355772" cy="1308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方法重写：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子类可以重新定义父类的方法，覆盖原有实现。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DC9956-6C26-2EB6-BD0C-5483B6425CE1}"/>
              </a:ext>
            </a:extLst>
          </p:cNvPr>
          <p:cNvSpPr txBox="1"/>
          <p:nvPr/>
        </p:nvSpPr>
        <p:spPr>
          <a:xfrm>
            <a:off x="214450" y="3372631"/>
            <a:ext cx="5355772" cy="195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调用父类方法：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使用 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super() 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函数调用父类方法，保留父类功能并扩展子类逻辑。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8A5FAC6-0CFA-5D4E-DD22-6184C4BC1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3338" y="1003199"/>
            <a:ext cx="6650364" cy="5781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971610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E35E3-65AB-179E-B42B-23D5FE100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7D08AE4-9E5D-A565-8B01-F359B1D76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475" y="8526"/>
            <a:ext cx="10334898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19DC1F-E08A-9BC3-462D-AF15495009A4}"/>
              </a:ext>
            </a:extLst>
          </p:cNvPr>
          <p:cNvSpPr txBox="1"/>
          <p:nvPr/>
        </p:nvSpPr>
        <p:spPr>
          <a:xfrm>
            <a:off x="293914" y="867664"/>
            <a:ext cx="10056421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类的继承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69F8FF-6AFC-5736-6D4D-D1E93D670F0D}"/>
              </a:ext>
            </a:extLst>
          </p:cNvPr>
          <p:cNvSpPr txBox="1"/>
          <p:nvPr/>
        </p:nvSpPr>
        <p:spPr>
          <a:xfrm>
            <a:off x="581297" y="1571394"/>
            <a:ext cx="5305697" cy="662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总结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6AA0987-03CC-82EC-1A0C-777A01D1D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7421401"/>
              </p:ext>
            </p:extLst>
          </p:nvPr>
        </p:nvGraphicFramePr>
        <p:xfrm>
          <a:off x="707135" y="2511511"/>
          <a:ext cx="10735928" cy="3478825"/>
        </p:xfrm>
        <a:graphic>
          <a:graphicData uri="http://schemas.openxmlformats.org/drawingml/2006/table">
            <a:tbl>
              <a:tblPr/>
              <a:tblGrid>
                <a:gridCol w="4887532">
                  <a:extLst>
                    <a:ext uri="{9D8B030D-6E8A-4147-A177-3AD203B41FA5}">
                      <a16:colId xmlns:a16="http://schemas.microsoft.com/office/drawing/2014/main" val="1240706304"/>
                    </a:ext>
                  </a:extLst>
                </a:gridCol>
                <a:gridCol w="5848396">
                  <a:extLst>
                    <a:ext uri="{9D8B030D-6E8A-4147-A177-3AD203B41FA5}">
                      <a16:colId xmlns:a16="http://schemas.microsoft.com/office/drawing/2014/main" val="2869076639"/>
                    </a:ext>
                  </a:extLst>
                </a:gridCol>
              </a:tblGrid>
              <a:tr h="54504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优点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缺点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114990"/>
                  </a:ext>
                </a:extLst>
              </a:tr>
              <a:tr h="107730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减少代码冗余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过度继承会导致类层次复杂化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9191913"/>
                  </a:ext>
                </a:extLst>
              </a:tr>
              <a:tr h="8730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统一接口，提高扩展性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多重继承易引发“菱形问题”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688109"/>
                  </a:ext>
                </a:extLst>
              </a:tr>
              <a:tr h="8730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支持多态，增强灵活性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父类修改可能影响所有子类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58485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5202054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3D9C6-66AC-18D6-9847-8DA98BC0E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9CA7F9D-81FF-A79E-3DA5-E25807CAC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6FA074-C6BA-24B3-7F7D-34CFDE893EF7}"/>
              </a:ext>
            </a:extLst>
          </p:cNvPr>
          <p:cNvSpPr txBox="1"/>
          <p:nvPr/>
        </p:nvSpPr>
        <p:spPr>
          <a:xfrm>
            <a:off x="378824" y="867665"/>
            <a:ext cx="7217227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类的多态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DE59D0-AAFE-2780-CAA5-DEC512116523}"/>
              </a:ext>
            </a:extLst>
          </p:cNvPr>
          <p:cNvSpPr txBox="1"/>
          <p:nvPr/>
        </p:nvSpPr>
        <p:spPr>
          <a:xfrm>
            <a:off x="378823" y="1530154"/>
            <a:ext cx="11723913" cy="3012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CN" sz="2800" b="1" dirty="0">
                <a:solidFill>
                  <a:schemeClr val="accent2"/>
                </a:solidFill>
                <a:latin typeface="+mn-ea"/>
                <a:ea typeface="+mn-ea"/>
              </a:rPr>
              <a:t>概念</a:t>
            </a:r>
            <a:r>
              <a:rPr lang="zh-CN" altLang="en-US" b="1" dirty="0">
                <a:solidFill>
                  <a:srgbClr val="333333"/>
                </a:solidFill>
                <a:latin typeface="+mn-ea"/>
                <a:ea typeface="+mn-ea"/>
              </a:rPr>
              <a:t>：</a:t>
            </a: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不同类的对象对同一方法调用表现出不同的行为，即“一个接口，多种实现”。</a:t>
            </a:r>
            <a:endParaRPr lang="en-US" altLang="zh-CN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多态的实现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28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基于继承的多态：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通过子类重写父类方法实现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457200" indent="-457200" algn="l">
              <a:lnSpc>
                <a:spcPct val="150000"/>
              </a:lnSpc>
              <a:buFontTx/>
              <a:buAutoNum type="arabicPeriod"/>
            </a:pPr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鸭子类型的多态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：只要对象采用相同方法名，即可视为多态。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31E065-4FB4-943E-19F7-186F95501006}"/>
              </a:ext>
            </a:extLst>
          </p:cNvPr>
          <p:cNvSpPr txBox="1"/>
          <p:nvPr/>
        </p:nvSpPr>
        <p:spPr>
          <a:xfrm>
            <a:off x="378822" y="4542645"/>
            <a:ext cx="11018520" cy="21507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应用价值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1.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 提高代码复用性和系统可扩展性。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2.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 简化复杂系统的设计和维护。</a:t>
            </a:r>
          </a:p>
        </p:txBody>
      </p:sp>
    </p:spTree>
    <p:extLst>
      <p:ext uri="{BB962C8B-B14F-4D97-AF65-F5344CB8AC3E}">
        <p14:creationId xmlns:p14="http://schemas.microsoft.com/office/powerpoint/2010/main" val="565877602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0F08A-7356-43A9-0998-8ED397C8B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4C73FCD-5BA7-E757-F7D3-EC83E48BB7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47" y="8526"/>
            <a:ext cx="10465526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CAE7155-E810-FBF8-704D-445E717B500E}"/>
              </a:ext>
            </a:extLst>
          </p:cNvPr>
          <p:cNvSpPr txBox="1"/>
          <p:nvPr/>
        </p:nvSpPr>
        <p:spPr>
          <a:xfrm>
            <a:off x="287383" y="776227"/>
            <a:ext cx="10062952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类的多态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685647-A126-4553-F0E4-D13FD8DFE121}"/>
              </a:ext>
            </a:extLst>
          </p:cNvPr>
          <p:cNvSpPr txBox="1"/>
          <p:nvPr/>
        </p:nvSpPr>
        <p:spPr>
          <a:xfrm>
            <a:off x="1390998" y="1199783"/>
            <a:ext cx="3584903" cy="581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基于继承的多态</a:t>
            </a:r>
            <a:endParaRPr lang="en-US" altLang="zh-CN" b="1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0EA290-7FFA-6E9F-95FB-9B076200931C}"/>
              </a:ext>
            </a:extLst>
          </p:cNvPr>
          <p:cNvSpPr txBox="1"/>
          <p:nvPr/>
        </p:nvSpPr>
        <p:spPr>
          <a:xfrm>
            <a:off x="6135254" y="1490311"/>
            <a:ext cx="4308600" cy="581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鸭子类型的多态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D528C288-F9D7-AA09-DBFD-30ADF238F2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297" y="1765967"/>
            <a:ext cx="4815665" cy="329194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65C70B8-E253-E28E-BD48-E0AAEDAED2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769" y="5205457"/>
            <a:ext cx="5136614" cy="1520778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D61BC207-4916-FAD2-1BFD-052BADC214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1734" y="2255219"/>
            <a:ext cx="4308601" cy="2313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961530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F1949-62A1-81AF-CEC2-1B7C2F748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3424EDE-9F73-5464-A217-70DAF59F4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449F72-896D-51B2-E6A3-6F957A8B0208}"/>
              </a:ext>
            </a:extLst>
          </p:cNvPr>
          <p:cNvSpPr txBox="1"/>
          <p:nvPr/>
        </p:nvSpPr>
        <p:spPr>
          <a:xfrm>
            <a:off x="254726" y="867665"/>
            <a:ext cx="10095609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类的抽象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ED2F73-4E3C-DFCD-C680-AD3B7C95E667}"/>
              </a:ext>
            </a:extLst>
          </p:cNvPr>
          <p:cNvSpPr txBox="1"/>
          <p:nvPr/>
        </p:nvSpPr>
        <p:spPr>
          <a:xfrm>
            <a:off x="348104" y="1597129"/>
            <a:ext cx="11526033" cy="4592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抽象类</a:t>
            </a:r>
            <a:r>
              <a:rPr lang="zh-CN" altLang="en-CN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概念</a:t>
            </a:r>
            <a:r>
              <a:rPr lang="zh-CN" altLang="en-US" sz="2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将复杂系统的实现细节隐藏，仅暴露必要的操作接口的类。</a:t>
            </a:r>
            <a:r>
              <a:rPr lang="zh-CN" altLang="en-US" sz="2600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抽象类是无法直接实例化的模板类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  <a:endParaRPr lang="en-US" altLang="zh-CN" sz="26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作用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：是为面向对象设计提供</a:t>
            </a:r>
            <a:r>
              <a:rPr lang="zh-CN" altLang="en-US" sz="2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接口规范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和</a:t>
            </a:r>
            <a:r>
              <a:rPr lang="zh-CN" altLang="en-US" sz="2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代码复用框架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  <a:endParaRPr lang="en-US" altLang="zh-CN" sz="26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实现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endParaRPr lang="en-US" altLang="zh-CN" sz="26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1.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抽象类通过</a:t>
            </a: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标准库</a:t>
            </a:r>
            <a:r>
              <a:rPr lang="en-US" sz="2600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abc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模块实现</a:t>
            </a: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;</a:t>
            </a:r>
          </a:p>
          <a:p>
            <a:pPr algn="l">
              <a:lnSpc>
                <a:spcPct val="150000"/>
              </a:lnSpc>
            </a:pP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2. 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通过</a:t>
            </a: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@</a:t>
            </a:r>
            <a:r>
              <a:rPr lang="en-US" sz="2600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abstractmethod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声明必须实现的方法</a:t>
            </a: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7329912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AB6E8-DD9A-F08C-5355-0D66BF1B2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19E0D30-1673-25ED-FEE1-E44FE41D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4529C50-64E8-CA6D-4574-3DCF0791EB50}"/>
              </a:ext>
            </a:extLst>
          </p:cNvPr>
          <p:cNvSpPr txBox="1"/>
          <p:nvPr/>
        </p:nvSpPr>
        <p:spPr>
          <a:xfrm>
            <a:off x="0" y="900320"/>
            <a:ext cx="10350335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普通类创建 </a:t>
            </a: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vs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 抽象类创建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pic>
        <p:nvPicPr>
          <p:cNvPr id="8" name="Picture 7" descr="A black background with multicolored text&#10;&#10;AI-generated content may be incorrect.">
            <a:extLst>
              <a:ext uri="{FF2B5EF4-FFF2-40B4-BE49-F238E27FC236}">
                <a16:creationId xmlns:a16="http://schemas.microsoft.com/office/drawing/2014/main" id="{26A93948-F3EE-2B06-86CB-7646DC6A2A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6363" y="1990481"/>
            <a:ext cx="5211917" cy="1783634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D9111FDB-9AC4-4490-9E86-85BF8AC7A5DF}"/>
              </a:ext>
            </a:extLst>
          </p:cNvPr>
          <p:cNvGrpSpPr/>
          <p:nvPr/>
        </p:nvGrpSpPr>
        <p:grpSpPr>
          <a:xfrm>
            <a:off x="2206904" y="1965067"/>
            <a:ext cx="1753224" cy="1783634"/>
            <a:chOff x="682906" y="1990481"/>
            <a:chExt cx="1753224" cy="1783634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BCF805A-C94E-D4B7-F080-3A8E89BE29CE}"/>
                </a:ext>
              </a:extLst>
            </p:cNvPr>
            <p:cNvSpPr/>
            <p:nvPr/>
          </p:nvSpPr>
          <p:spPr>
            <a:xfrm>
              <a:off x="682906" y="1990481"/>
              <a:ext cx="1753223" cy="1783634"/>
            </a:xfrm>
            <a:prstGeom prst="rect">
              <a:avLst/>
            </a:prstGeom>
            <a:solidFill>
              <a:srgbClr val="EEECE1"/>
            </a:solidFill>
            <a:ln w="19050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chemeClr val="accent2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5F3FEE0-DC33-4DE7-D83C-C4CBC563C159}"/>
                </a:ext>
              </a:extLst>
            </p:cNvPr>
            <p:cNvSpPr txBox="1"/>
            <p:nvPr/>
          </p:nvSpPr>
          <p:spPr>
            <a:xfrm>
              <a:off x="682906" y="2651465"/>
              <a:ext cx="175322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b="1" dirty="0">
                  <a:solidFill>
                    <a:schemeClr val="accent2"/>
                  </a:solidFill>
                  <a:latin typeface="+mn-ea"/>
                  <a:ea typeface="+mn-ea"/>
                </a:rPr>
                <a:t>普通类创建</a:t>
              </a:r>
            </a:p>
          </p:txBody>
        </p:sp>
      </p:grpSp>
      <p:pic>
        <p:nvPicPr>
          <p:cNvPr id="10" name="Picture 9" descr="A black background with colorful text&#10;&#10;AI-generated content may be incorrect.">
            <a:extLst>
              <a:ext uri="{FF2B5EF4-FFF2-40B4-BE49-F238E27FC236}">
                <a16:creationId xmlns:a16="http://schemas.microsoft.com/office/drawing/2014/main" id="{FA5011A1-F210-06A1-358A-495F490A03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6364" y="4276032"/>
            <a:ext cx="5211917" cy="1919616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C2418F0D-7108-4C45-52F4-CE6971D5701D}"/>
              </a:ext>
            </a:extLst>
          </p:cNvPr>
          <p:cNvGrpSpPr/>
          <p:nvPr/>
        </p:nvGrpSpPr>
        <p:grpSpPr>
          <a:xfrm>
            <a:off x="2206904" y="4276032"/>
            <a:ext cx="1753224" cy="1919615"/>
            <a:chOff x="682904" y="4276031"/>
            <a:chExt cx="1753224" cy="1919615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99E28FE-2A6E-40FF-4F8A-344036FC9A91}"/>
                </a:ext>
              </a:extLst>
            </p:cNvPr>
            <p:cNvSpPr/>
            <p:nvPr/>
          </p:nvSpPr>
          <p:spPr>
            <a:xfrm>
              <a:off x="682905" y="4276031"/>
              <a:ext cx="1753223" cy="1919615"/>
            </a:xfrm>
            <a:prstGeom prst="rect">
              <a:avLst/>
            </a:prstGeom>
            <a:solidFill>
              <a:srgbClr val="EEECE1"/>
            </a:solidFill>
            <a:ln w="19050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chemeClr val="accent2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C32163D-E26F-9DA4-9A2C-C8524850A1F0}"/>
                </a:ext>
              </a:extLst>
            </p:cNvPr>
            <p:cNvSpPr txBox="1"/>
            <p:nvPr/>
          </p:nvSpPr>
          <p:spPr>
            <a:xfrm>
              <a:off x="682904" y="5005005"/>
              <a:ext cx="175322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b="1" dirty="0">
                  <a:solidFill>
                    <a:schemeClr val="accent2"/>
                  </a:solidFill>
                  <a:latin typeface="+mn-ea"/>
                  <a:ea typeface="+mn-ea"/>
                </a:rPr>
                <a:t>抽象类创建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7514754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2E3A0-EA45-B434-6C60-55DEAE7E4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A8B5334-9808-BF79-6B71-FC790D004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ECF98A-FDB2-6924-2201-3ACC5433852C}"/>
              </a:ext>
            </a:extLst>
          </p:cNvPr>
          <p:cNvSpPr txBox="1"/>
          <p:nvPr/>
        </p:nvSpPr>
        <p:spPr>
          <a:xfrm>
            <a:off x="457200" y="867665"/>
            <a:ext cx="9893135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类的抽象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4F3646-F9A6-FC11-64F9-561D1222DDBD}"/>
              </a:ext>
            </a:extLst>
          </p:cNvPr>
          <p:cNvSpPr txBox="1"/>
          <p:nvPr/>
        </p:nvSpPr>
        <p:spPr>
          <a:xfrm>
            <a:off x="6872020" y="2653898"/>
            <a:ext cx="23612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提供接口规范</a:t>
            </a:r>
            <a:endParaRPr lang="en-CN" dirty="0"/>
          </a:p>
        </p:txBody>
      </p:sp>
      <p:pic>
        <p:nvPicPr>
          <p:cNvPr id="6" name="Picture 5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0CC646FA-40AD-D12A-4BEA-BDBA5AC56C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363" y="2678316"/>
            <a:ext cx="4634460" cy="2832170"/>
          </a:xfrm>
          <a:prstGeom prst="rect">
            <a:avLst/>
          </a:prstGeom>
        </p:spPr>
      </p:pic>
      <p:pic>
        <p:nvPicPr>
          <p:cNvPr id="8" name="Picture 7" descr="A black screen with colorful text&#10;&#10;AI-generated content may be incorrect.">
            <a:extLst>
              <a:ext uri="{FF2B5EF4-FFF2-40B4-BE49-F238E27FC236}">
                <a16:creationId xmlns:a16="http://schemas.microsoft.com/office/drawing/2014/main" id="{F6028D6F-482B-0150-B4B6-C717089F11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5887" y="3614196"/>
            <a:ext cx="4051485" cy="1896291"/>
          </a:xfrm>
          <a:prstGeom prst="rect">
            <a:avLst/>
          </a:prstGeom>
        </p:spPr>
      </p:pic>
      <p:sp>
        <p:nvSpPr>
          <p:cNvPr id="9" name="Bent Arrow 8">
            <a:extLst>
              <a:ext uri="{FF2B5EF4-FFF2-40B4-BE49-F238E27FC236}">
                <a16:creationId xmlns:a16="http://schemas.microsoft.com/office/drawing/2014/main" id="{950A3835-E0AC-6D24-47BB-24064676F100}"/>
              </a:ext>
            </a:extLst>
          </p:cNvPr>
          <p:cNvSpPr/>
          <p:nvPr/>
        </p:nvSpPr>
        <p:spPr>
          <a:xfrm rot="5400000">
            <a:off x="6382375" y="2837656"/>
            <a:ext cx="662490" cy="756638"/>
          </a:xfrm>
          <a:prstGeom prst="bentArrow">
            <a:avLst>
              <a:gd name="adj1" fmla="val 28494"/>
              <a:gd name="adj2" fmla="val 25000"/>
              <a:gd name="adj3" fmla="val 25000"/>
              <a:gd name="adj4" fmla="val 43750"/>
            </a:avLst>
          </a:prstGeom>
          <a:solidFill>
            <a:srgbClr val="EEECE1"/>
          </a:solidFill>
          <a:ln w="19050">
            <a:solidFill>
              <a:schemeClr val="bg2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en-CN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BD0714-DA1D-59FE-3512-443D9E9DB620}"/>
              </a:ext>
            </a:extLst>
          </p:cNvPr>
          <p:cNvSpPr txBox="1"/>
          <p:nvPr/>
        </p:nvSpPr>
        <p:spPr>
          <a:xfrm>
            <a:off x="1609364" y="1884011"/>
            <a:ext cx="87409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2800" b="1" dirty="0">
                <a:solidFill>
                  <a:schemeClr val="accent2"/>
                </a:solidFill>
                <a:latin typeface="+mj-ea"/>
                <a:ea typeface="+mj-ea"/>
              </a:rPr>
              <a:t>工程实践中开发过程</a:t>
            </a:r>
            <a:r>
              <a:rPr lang="zh-CN" altLang="en-US" sz="2800" b="1" dirty="0">
                <a:solidFill>
                  <a:schemeClr val="accent2"/>
                </a:solidFill>
                <a:latin typeface="+mj-ea"/>
                <a:ea typeface="+mj-ea"/>
              </a:rPr>
              <a:t>：抽象类 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-&gt; </a:t>
            </a:r>
            <a:r>
              <a:rPr lang="zh-CN" altLang="en-US" sz="2800" b="1" dirty="0">
                <a:solidFill>
                  <a:schemeClr val="accent2"/>
                </a:solidFill>
                <a:latin typeface="+mj-ea"/>
                <a:ea typeface="+mj-ea"/>
              </a:rPr>
              <a:t>普通类（继承）</a:t>
            </a:r>
            <a:endParaRPr lang="en-CN" sz="2800" b="1" dirty="0">
              <a:solidFill>
                <a:schemeClr val="accent2"/>
              </a:solidFill>
              <a:latin typeface="+mj-ea"/>
              <a:ea typeface="+mj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910F50-BBAD-78FA-C610-66AB02828D08}"/>
              </a:ext>
            </a:extLst>
          </p:cNvPr>
          <p:cNvSpPr txBox="1"/>
          <p:nvPr/>
        </p:nvSpPr>
        <p:spPr>
          <a:xfrm>
            <a:off x="1609362" y="5657931"/>
            <a:ext cx="4634460" cy="477054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2500" b="1" dirty="0">
                <a:solidFill>
                  <a:schemeClr val="accent2"/>
                </a:solidFill>
                <a:latin typeface="+mj-ea"/>
                <a:ea typeface="+mj-ea"/>
              </a:rPr>
              <a:t>功能设计</a:t>
            </a:r>
            <a:endParaRPr lang="en-CN" sz="25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9C7838A-37B0-A337-5505-96E788F97258}"/>
              </a:ext>
            </a:extLst>
          </p:cNvPr>
          <p:cNvSpPr txBox="1"/>
          <p:nvPr/>
        </p:nvSpPr>
        <p:spPr>
          <a:xfrm>
            <a:off x="6485886" y="5657930"/>
            <a:ext cx="4051485" cy="477054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2500" b="1" dirty="0">
                <a:solidFill>
                  <a:schemeClr val="accent2"/>
                </a:solidFill>
                <a:latin typeface="+mj-ea"/>
                <a:ea typeface="+mj-ea"/>
              </a:rPr>
              <a:t>功能实现</a:t>
            </a:r>
            <a:endParaRPr lang="en-CN" sz="2500" dirty="0"/>
          </a:p>
        </p:txBody>
      </p:sp>
    </p:spTree>
    <p:extLst>
      <p:ext uri="{BB962C8B-B14F-4D97-AF65-F5344CB8AC3E}">
        <p14:creationId xmlns:p14="http://schemas.microsoft.com/office/powerpoint/2010/main" val="1437556396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0">
            <a:extLst>
              <a:ext uri="{FF2B5EF4-FFF2-40B4-BE49-F238E27FC236}">
                <a16:creationId xmlns:a16="http://schemas.microsoft.com/office/drawing/2014/main" id="{DBE2EB52-1153-547D-4DDB-F105FCA1059C}"/>
              </a:ext>
            </a:extLst>
          </p:cNvPr>
          <p:cNvSpPr txBox="1"/>
          <p:nvPr/>
        </p:nvSpPr>
        <p:spPr>
          <a:xfrm>
            <a:off x="555171" y="832995"/>
            <a:ext cx="9982202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第六章实验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12">
            <a:extLst>
              <a:ext uri="{FF2B5EF4-FFF2-40B4-BE49-F238E27FC236}">
                <a16:creationId xmlns:a16="http://schemas.microsoft.com/office/drawing/2014/main" id="{68615743-0F76-1E7B-8513-381292D6BC62}"/>
              </a:ext>
            </a:extLst>
          </p:cNvPr>
          <p:cNvSpPr txBox="1"/>
          <p:nvPr/>
        </p:nvSpPr>
        <p:spPr>
          <a:xfrm>
            <a:off x="410818" y="1537249"/>
            <a:ext cx="11226012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实验目标：</a:t>
            </a:r>
            <a:endParaRPr lang="en-US" altLang="zh-CN" sz="32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掌握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编程面向对象程序设计编程基本语法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实验内容及要求：</a:t>
            </a:r>
            <a:endParaRPr lang="en-US" altLang="zh-CN" sz="32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）类与实例的创建代码实现，包含类函数，实例函数，属性函数的创建等。</a:t>
            </a:r>
            <a:endParaRPr lang="en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）类的继承，类方法重写代码实现。</a:t>
            </a:r>
            <a:endParaRPr lang="en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7" name="标题 2">
            <a:extLst>
              <a:ext uri="{FF2B5EF4-FFF2-40B4-BE49-F238E27FC236}">
                <a16:creationId xmlns:a16="http://schemas.microsoft.com/office/drawing/2014/main" id="{CD437E61-05A1-4F85-4B29-A1D0FEFF5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</p:spTree>
    <p:extLst>
      <p:ext uri="{BB962C8B-B14F-4D97-AF65-F5344CB8AC3E}">
        <p14:creationId xmlns:p14="http://schemas.microsoft.com/office/powerpoint/2010/main" val="4207004688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09DC3-A71F-CF10-E6C4-3A333D520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0">
            <a:extLst>
              <a:ext uri="{FF2B5EF4-FFF2-40B4-BE49-F238E27FC236}">
                <a16:creationId xmlns:a16="http://schemas.microsoft.com/office/drawing/2014/main" id="{0460D51F-5FF0-8DAA-3264-66FADD204E85}"/>
              </a:ext>
            </a:extLst>
          </p:cNvPr>
          <p:cNvSpPr txBox="1"/>
          <p:nvPr/>
        </p:nvSpPr>
        <p:spPr>
          <a:xfrm>
            <a:off x="410818" y="832995"/>
            <a:ext cx="93137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作业</a:t>
            </a: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：面向对象学生成绩管理程序设计</a:t>
            </a:r>
            <a:r>
              <a:rPr lang="en-CN" sz="3600" b="1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12">
            <a:extLst>
              <a:ext uri="{FF2B5EF4-FFF2-40B4-BE49-F238E27FC236}">
                <a16:creationId xmlns:a16="http://schemas.microsoft.com/office/drawing/2014/main" id="{AC655DF2-381B-EF2F-E4B4-B255CD2F72DA}"/>
              </a:ext>
            </a:extLst>
          </p:cNvPr>
          <p:cNvSpPr txBox="1"/>
          <p:nvPr/>
        </p:nvSpPr>
        <p:spPr>
          <a:xfrm>
            <a:off x="410818" y="1674409"/>
            <a:ext cx="11495976" cy="4540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作业内容：</a:t>
            </a:r>
            <a:endParaRPr lang="en-US" altLang="zh-CN" sz="32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/>
            <a:r>
              <a:rPr 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1. 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开发学生课程管理相关类，包含且不限于作业一中功能。</a:t>
            </a:r>
            <a:endParaRPr lang="en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/>
            <a:r>
              <a:rPr 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2. 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通过代码对课程管理类进行演示说明。</a:t>
            </a:r>
            <a:endParaRPr lang="en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/>
            <a:r>
              <a:rPr 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3. 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对比总结面向对象程序设计与面向过程程序设计优劣。</a:t>
            </a:r>
            <a:endParaRPr lang="en-US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实验内容及要求：</a:t>
            </a:r>
            <a:endParaRPr lang="en-US" altLang="zh-CN" sz="32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作业以</a:t>
            </a:r>
            <a:r>
              <a:rPr 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pdf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格式提交，要求格式规范、内容准确且细节充分。</a:t>
            </a:r>
            <a:r>
              <a:rPr lang="en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7" name="标题 2">
            <a:extLst>
              <a:ext uri="{FF2B5EF4-FFF2-40B4-BE49-F238E27FC236}">
                <a16:creationId xmlns:a16="http://schemas.microsoft.com/office/drawing/2014/main" id="{E45E95B0-68E0-6FAC-D1F6-6E7B1378F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六、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面向对象程序设计</a:t>
            </a:r>
          </a:p>
        </p:txBody>
      </p:sp>
    </p:spTree>
    <p:extLst>
      <p:ext uri="{BB962C8B-B14F-4D97-AF65-F5344CB8AC3E}">
        <p14:creationId xmlns:p14="http://schemas.microsoft.com/office/powerpoint/2010/main" val="2896619728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3098</TotalTime>
  <Words>1543</Words>
  <Application>Microsoft Macintosh PowerPoint</Application>
  <PresentationFormat>Widescreen</PresentationFormat>
  <Paragraphs>176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24</vt:i4>
      </vt:variant>
    </vt:vector>
  </HeadingPairs>
  <TitlesOfParts>
    <vt:vector size="33" baseType="lpstr">
      <vt:lpstr>微软雅黑</vt:lpstr>
      <vt:lpstr>微软雅黑</vt:lpstr>
      <vt:lpstr>黑体</vt:lpstr>
      <vt:lpstr>Arial</vt:lpstr>
      <vt:lpstr>Calibri</vt:lpstr>
      <vt:lpstr>Times New Roman</vt:lpstr>
      <vt:lpstr>Wingdings</vt:lpstr>
      <vt:lpstr>2_Global</vt:lpstr>
      <vt:lpstr>1_Copyright (c) 2007-2010 NordriDesign™ _light</vt:lpstr>
      <vt:lpstr>PowerPoint Presentation</vt:lpstr>
      <vt:lpstr>PowerPoint Presentation</vt:lpstr>
      <vt:lpstr>PowerPoint Presentation</vt:lpstr>
      <vt:lpstr>一、类与对象概念</vt:lpstr>
      <vt:lpstr>三、函数、类和模块</vt:lpstr>
      <vt:lpstr>三、函数、类和模块</vt:lpstr>
      <vt:lpstr>三、函数、类和模块</vt:lpstr>
      <vt:lpstr>三、函数、类和模块</vt:lpstr>
      <vt:lpstr>PowerPoint Presentation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六、面向对象程序设计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Xin Luo</cp:lastModifiedBy>
  <cp:revision>41</cp:revision>
  <dcterms:created xsi:type="dcterms:W3CDTF">2004-07-09T11:40:27Z</dcterms:created>
  <dcterms:modified xsi:type="dcterms:W3CDTF">2026-08-27T06:51:23Z</dcterms:modified>
</cp:coreProperties>
</file>