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5">
  <p:sldMasterIdLst>
    <p:sldMasterId id="2147484773" r:id="rId1"/>
    <p:sldMasterId id="2147484986" r:id="rId2"/>
  </p:sldMasterIdLst>
  <p:notesMasterIdLst>
    <p:notesMasterId r:id="rId30"/>
  </p:notesMasterIdLst>
  <p:handoutMasterIdLst>
    <p:handoutMasterId r:id="rId31"/>
  </p:handoutMasterIdLst>
  <p:sldIdLst>
    <p:sldId id="2708" r:id="rId3"/>
    <p:sldId id="2387" r:id="rId4"/>
    <p:sldId id="2447" r:id="rId5"/>
    <p:sldId id="2729" r:id="rId6"/>
    <p:sldId id="2769" r:id="rId7"/>
    <p:sldId id="2771" r:id="rId8"/>
    <p:sldId id="2772" r:id="rId9"/>
    <p:sldId id="2773" r:id="rId10"/>
    <p:sldId id="2774" r:id="rId11"/>
    <p:sldId id="2784" r:id="rId12"/>
    <p:sldId id="2785" r:id="rId13"/>
    <p:sldId id="2789" r:id="rId14"/>
    <p:sldId id="2709" r:id="rId15"/>
    <p:sldId id="2787" r:id="rId16"/>
    <p:sldId id="2767" r:id="rId17"/>
    <p:sldId id="2768" r:id="rId18"/>
    <p:sldId id="2775" r:id="rId19"/>
    <p:sldId id="2720" r:id="rId20"/>
    <p:sldId id="2778" r:id="rId21"/>
    <p:sldId id="2779" r:id="rId22"/>
    <p:sldId id="2790" r:id="rId23"/>
    <p:sldId id="2791" r:id="rId24"/>
    <p:sldId id="2792" r:id="rId25"/>
    <p:sldId id="2793" r:id="rId26"/>
    <p:sldId id="2741" r:id="rId27"/>
    <p:sldId id="2788" r:id="rId28"/>
    <p:sldId id="2742" r:id="rId29"/>
  </p:sldIdLst>
  <p:sldSz cx="12192000" cy="6858000"/>
  <p:notesSz cx="7099300" cy="10234613"/>
  <p:custDataLst>
    <p:tags r:id="rId32"/>
  </p:custDataLst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1pPr>
    <a:lvl2pPr marL="4572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2pPr>
    <a:lvl3pPr marL="9144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3pPr>
    <a:lvl4pPr marL="13716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4pPr>
    <a:lvl5pPr marL="18288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 userDrawn="1">
          <p15:clr>
            <a:srgbClr val="A4A3A4"/>
          </p15:clr>
        </p15:guide>
        <p15:guide id="2" orient="horz" pos="1412" userDrawn="1">
          <p15:clr>
            <a:srgbClr val="A4A3A4"/>
          </p15:clr>
        </p15:guide>
        <p15:guide id="3" pos="241" userDrawn="1">
          <p15:clr>
            <a:srgbClr val="A4A3A4"/>
          </p15:clr>
        </p15:guide>
        <p15:guide id="4" pos="7408" userDrawn="1">
          <p15:clr>
            <a:srgbClr val="A4A3A4"/>
          </p15:clr>
        </p15:guide>
        <p15:guide id="5" pos="3871" userDrawn="1">
          <p15:clr>
            <a:srgbClr val="A4A3A4"/>
          </p15:clr>
        </p15:guide>
        <p15:guide id="6" orient="horz" pos="700" userDrawn="1">
          <p15:clr>
            <a:srgbClr val="A4A3A4"/>
          </p15:clr>
        </p15:guide>
        <p15:guide id="7" orient="horz" pos="4119" userDrawn="1">
          <p15:clr>
            <a:srgbClr val="A4A3A4"/>
          </p15:clr>
        </p15:guide>
        <p15:guide id="8" pos="415" userDrawn="1">
          <p15:clr>
            <a:srgbClr val="A4A3A4"/>
          </p15:clr>
        </p15:guide>
        <p15:guide id="9" pos="7335" userDrawn="1">
          <p15:clr>
            <a:srgbClr val="A4A3A4"/>
          </p15:clr>
        </p15:guide>
        <p15:guide id="10" orient="horz" pos="462" userDrawn="1">
          <p15:clr>
            <a:srgbClr val="A4A3A4"/>
          </p15:clr>
        </p15:guide>
        <p15:guide id="11" pos="103" userDrawn="1">
          <p15:clr>
            <a:srgbClr val="A4A3A4"/>
          </p15:clr>
        </p15:guide>
        <p15:guide id="12" pos="96" userDrawn="1">
          <p15:clr>
            <a:srgbClr val="A4A3A4"/>
          </p15:clr>
        </p15:guide>
        <p15:guide id="13" orient="horz" pos="2" userDrawn="1">
          <p15:clr>
            <a:srgbClr val="A4A3A4"/>
          </p15:clr>
        </p15:guide>
        <p15:guide id="14" pos="1076" userDrawn="1">
          <p15:clr>
            <a:srgbClr val="A4A3A4"/>
          </p15:clr>
        </p15:guide>
        <p15:guide id="15" pos="1951" userDrawn="1">
          <p15:clr>
            <a:srgbClr val="A4A3A4"/>
          </p15:clr>
        </p15:guide>
        <p15:guide id="16" pos="2772" userDrawn="1">
          <p15:clr>
            <a:srgbClr val="A4A3A4"/>
          </p15:clr>
        </p15:guide>
        <p15:guide id="17" pos="3619" userDrawn="1">
          <p15:clr>
            <a:srgbClr val="A4A3A4"/>
          </p15:clr>
        </p15:guide>
        <p15:guide id="18" pos="4493" userDrawn="1">
          <p15:clr>
            <a:srgbClr val="A4A3A4"/>
          </p15:clr>
        </p15:guide>
        <p15:guide id="19" pos="5313" userDrawn="1">
          <p15:clr>
            <a:srgbClr val="A4A3A4"/>
          </p15:clr>
        </p15:guide>
        <p15:guide id="20" pos="6175" userDrawn="1">
          <p15:clr>
            <a:srgbClr val="A4A3A4"/>
          </p15:clr>
        </p15:guide>
        <p15:guide id="21" orient="horz" pos="581" userDrawn="1">
          <p15:clr>
            <a:srgbClr val="A4A3A4"/>
          </p15:clr>
        </p15:guide>
        <p15:guide id="22" orient="horz" pos="3230" userDrawn="1">
          <p15:clr>
            <a:srgbClr val="A4A3A4"/>
          </p15:clr>
        </p15:guide>
        <p15:guide id="23" orient="horz" pos="1230" userDrawn="1">
          <p15:clr>
            <a:srgbClr val="A4A3A4"/>
          </p15:clr>
        </p15:guide>
        <p15:guide id="24" orient="horz" userDrawn="1">
          <p15:clr>
            <a:srgbClr val="A4A3A4"/>
          </p15:clr>
        </p15:guide>
        <p15:guide id="25" orient="horz" pos="1450" userDrawn="1">
          <p15:clr>
            <a:srgbClr val="A4A3A4"/>
          </p15:clr>
        </p15:guide>
        <p15:guide id="26" pos="375" userDrawn="1">
          <p15:clr>
            <a:srgbClr val="A4A3A4"/>
          </p15:clr>
        </p15:guide>
        <p15:guide id="27" orient="horz" pos="3095" userDrawn="1">
          <p15:clr>
            <a:srgbClr val="A4A3A4"/>
          </p15:clr>
        </p15:guide>
        <p15:guide id="28" orient="horz" pos="2372" userDrawn="1">
          <p15:clr>
            <a:srgbClr val="A4A3A4"/>
          </p15:clr>
        </p15:guide>
        <p15:guide id="29" orient="horz" pos="4159" userDrawn="1">
          <p15:clr>
            <a:srgbClr val="A4A3A4"/>
          </p15:clr>
        </p15:guide>
        <p15:guide id="30" pos="417" userDrawn="1">
          <p15:clr>
            <a:srgbClr val="A4A3A4"/>
          </p15:clr>
        </p15:guide>
        <p15:guide id="31" pos="2207" userDrawn="1">
          <p15:clr>
            <a:srgbClr val="A4A3A4"/>
          </p15:clr>
        </p15:guide>
        <p15:guide id="32" pos="7636" userDrawn="1">
          <p15:clr>
            <a:srgbClr val="A4A3A4"/>
          </p15:clr>
        </p15:guide>
        <p15:guide id="33" orient="horz" pos="632" userDrawn="1">
          <p15:clr>
            <a:srgbClr val="A4A3A4"/>
          </p15:clr>
        </p15:guide>
        <p15:guide id="34" orient="horz" pos="1461" userDrawn="1">
          <p15:clr>
            <a:srgbClr val="A4A3A4"/>
          </p15:clr>
        </p15:guide>
        <p15:guide id="35" orient="horz" pos="2262" userDrawn="1">
          <p15:clr>
            <a:srgbClr val="A4A3A4"/>
          </p15:clr>
        </p15:guide>
        <p15:guide id="36" orient="horz" pos="3072" userDrawn="1">
          <p15:clr>
            <a:srgbClr val="A4A3A4"/>
          </p15:clr>
        </p15:guide>
        <p15:guide id="37" pos="1020" userDrawn="1">
          <p15:clr>
            <a:srgbClr val="A4A3A4"/>
          </p15:clr>
        </p15:guide>
        <p15:guide id="38" pos="7440" userDrawn="1">
          <p15:clr>
            <a:srgbClr val="A4A3A4"/>
          </p15:clr>
        </p15:guide>
        <p15:guide id="39" pos="6719" userDrawn="1">
          <p15:clr>
            <a:srgbClr val="A4A3A4"/>
          </p15:clr>
        </p15:guide>
        <p15:guide id="40" orient="horz" pos="621" userDrawn="1">
          <p15:clr>
            <a:srgbClr val="A4A3A4"/>
          </p15:clr>
        </p15:guide>
        <p15:guide id="41" orient="horz" pos="38" userDrawn="1">
          <p15:clr>
            <a:srgbClr val="A4A3A4"/>
          </p15:clr>
        </p15:guide>
        <p15:guide id="42" orient="horz" pos="4319" userDrawn="1">
          <p15:clr>
            <a:srgbClr val="A4A3A4"/>
          </p15:clr>
        </p15:guide>
        <p15:guide id="43" orient="horz" pos="39" userDrawn="1">
          <p15:clr>
            <a:srgbClr val="A4A3A4"/>
          </p15:clr>
        </p15:guide>
        <p15:guide id="44" pos="4489" userDrawn="1">
          <p15:clr>
            <a:srgbClr val="A4A3A4"/>
          </p15:clr>
        </p15:guide>
        <p15:guide id="45" pos="6207" userDrawn="1">
          <p15:clr>
            <a:srgbClr val="A4A3A4"/>
          </p15:clr>
        </p15:guide>
        <p15:guide id="46" orient="horz" pos="1" userDrawn="1">
          <p15:clr>
            <a:srgbClr val="A4A3A4"/>
          </p15:clr>
        </p15:guide>
        <p15:guide id="47" orient="horz" pos="4067" userDrawn="1">
          <p15:clr>
            <a:srgbClr val="A4A3A4"/>
          </p15:clr>
        </p15:guide>
        <p15:guide id="48" orient="horz" pos="601" userDrawn="1">
          <p15:clr>
            <a:srgbClr val="A4A3A4"/>
          </p15:clr>
        </p15:guide>
        <p15:guide id="49" pos="199" userDrawn="1">
          <p15:clr>
            <a:srgbClr val="A4A3A4"/>
          </p15:clr>
        </p15:guide>
        <p15:guide id="50" pos="7452" userDrawn="1">
          <p15:clr>
            <a:srgbClr val="A4A3A4"/>
          </p15:clr>
        </p15:guide>
        <p15:guide id="51" pos="43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ffice316" initials="o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B050"/>
    <a:srgbClr val="FF00DF"/>
    <a:srgbClr val="0000CC"/>
    <a:srgbClr val="C3E8CC"/>
    <a:srgbClr val="7A81FF"/>
    <a:srgbClr val="FF00FF"/>
    <a:srgbClr val="269FA0"/>
    <a:srgbClr val="FFC000"/>
    <a:srgbClr val="333399"/>
    <a:srgbClr val="9507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11"/>
    <p:restoredTop sz="88288" autoAdjust="0"/>
  </p:normalViewPr>
  <p:slideViewPr>
    <p:cSldViewPr snapToGrid="0">
      <p:cViewPr varScale="1">
        <p:scale>
          <a:sx n="86" d="100"/>
          <a:sy n="86" d="100"/>
        </p:scale>
        <p:origin x="248" y="744"/>
      </p:cViewPr>
      <p:guideLst>
        <p:guide orient="horz" pos="663"/>
        <p:guide orient="horz" pos="1412"/>
        <p:guide pos="241"/>
        <p:guide pos="7408"/>
        <p:guide pos="3871"/>
        <p:guide orient="horz" pos="700"/>
        <p:guide orient="horz" pos="4119"/>
        <p:guide pos="415"/>
        <p:guide pos="7335"/>
        <p:guide orient="horz" pos="462"/>
        <p:guide pos="103"/>
        <p:guide pos="96"/>
        <p:guide orient="horz" pos="2"/>
        <p:guide pos="1076"/>
        <p:guide pos="1951"/>
        <p:guide pos="2772"/>
        <p:guide pos="3619"/>
        <p:guide pos="4493"/>
        <p:guide pos="5313"/>
        <p:guide pos="6175"/>
        <p:guide orient="horz" pos="581"/>
        <p:guide orient="horz" pos="3230"/>
        <p:guide orient="horz" pos="1230"/>
        <p:guide orient="horz"/>
        <p:guide orient="horz" pos="1450"/>
        <p:guide pos="375"/>
        <p:guide orient="horz" pos="3095"/>
        <p:guide orient="horz" pos="2372"/>
        <p:guide orient="horz" pos="4159"/>
        <p:guide pos="417"/>
        <p:guide pos="2207"/>
        <p:guide pos="7636"/>
        <p:guide orient="horz" pos="632"/>
        <p:guide orient="horz" pos="1461"/>
        <p:guide orient="horz" pos="2262"/>
        <p:guide orient="horz" pos="3072"/>
        <p:guide pos="1020"/>
        <p:guide pos="7440"/>
        <p:guide pos="6719"/>
        <p:guide orient="horz" pos="621"/>
        <p:guide orient="horz" pos="38"/>
        <p:guide orient="horz" pos="4319"/>
        <p:guide orient="horz" pos="39"/>
        <p:guide pos="4489"/>
        <p:guide pos="6207"/>
        <p:guide orient="horz" pos="1"/>
        <p:guide orient="horz" pos="4067"/>
        <p:guide orient="horz" pos="601"/>
        <p:guide pos="199"/>
        <p:guide pos="7452"/>
        <p:guide pos="4303"/>
      </p:guideLst>
    </p:cSldViewPr>
  </p:slideViewPr>
  <p:notesTextViewPr>
    <p:cViewPr>
      <p:scale>
        <a:sx n="140" d="100"/>
        <a:sy n="140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4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commentAuthors" Target="commentAuthors.xml"/><Relationship Id="rId38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gs" Target="tags/tag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Luo" userId="82312ee5779919a4" providerId="LiveId" clId="{4B16E866-FFF1-585A-8670-68209B92BFC1}"/>
    <pc:docChg chg="modSld">
      <pc:chgData name="Xin Luo" userId="82312ee5779919a4" providerId="LiveId" clId="{4B16E866-FFF1-585A-8670-68209B92BFC1}" dt="2026-08-27T06:20:42.853" v="159" actId="20577"/>
      <pc:docMkLst>
        <pc:docMk/>
      </pc:docMkLst>
      <pc:sldChg chg="modSp mod">
        <pc:chgData name="Xin Luo" userId="82312ee5779919a4" providerId="LiveId" clId="{4B16E866-FFF1-585A-8670-68209B92BFC1}" dt="2026-08-27T06:20:42.853" v="159" actId="20577"/>
        <pc:sldMkLst>
          <pc:docMk/>
          <pc:sldMk cId="940880124" sldId="2742"/>
        </pc:sldMkLst>
        <pc:spChg chg="mod">
          <ac:chgData name="Xin Luo" userId="82312ee5779919a4" providerId="LiveId" clId="{4B16E866-FFF1-585A-8670-68209B92BFC1}" dt="2026-08-27T06:20:42.853" v="159" actId="20577"/>
          <ac:spMkLst>
            <pc:docMk/>
            <pc:sldMk cId="940880124" sldId="2742"/>
            <ac:spMk id="4" creationId="{F17BA0C2-A265-EE38-7F87-B0E3E08CDBEB}"/>
          </ac:spMkLst>
        </pc:spChg>
        <pc:spChg chg="mod">
          <ac:chgData name="Xin Luo" userId="82312ee5779919a4" providerId="LiveId" clId="{4B16E866-FFF1-585A-8670-68209B92BFC1}" dt="2026-08-27T06:19:00.765" v="104" actId="20577"/>
          <ac:spMkLst>
            <pc:docMk/>
            <pc:sldMk cId="940880124" sldId="2742"/>
            <ac:spMk id="13" creationId="{303BC878-BC57-D350-27A3-F03AE48213A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defRPr sz="1100"/>
            </a:lvl1pPr>
          </a:lstStyle>
          <a:p>
            <a:pPr>
              <a:defRPr/>
            </a:pPr>
            <a:fld id="{6D45C849-0B45-C74F-ACD3-3797B4D294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89993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2875" y="768350"/>
            <a:ext cx="68183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</a:defRPr>
            </a:lvl1pPr>
          </a:lstStyle>
          <a:p>
            <a:pPr>
              <a:defRPr/>
            </a:pPr>
            <a:fld id="{BAF496D9-25EC-FE4B-A1BF-34C514AB28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05936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875" y="768350"/>
            <a:ext cx="6818313" cy="3836988"/>
          </a:xfrm>
          <a:ln/>
        </p:spPr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200" kern="1200" dirty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186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7ECF62-1638-4DD4-9C28-B7A1E023F854}" type="slidenum">
              <a:rPr lang="zh-CN" altLang="en-US" smtClean="0">
                <a:solidFill>
                  <a:prstClr val="black"/>
                </a:solidFill>
              </a:rPr>
              <a:pPr/>
              <a:t>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5521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1108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函数提高程序可读性，文章段落类比。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25234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777E4-9677-9C6A-DEA2-C842B6F9F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DEAB7CD-F4B8-7010-7355-03B68BA353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D59F745-73B4-D85D-35B6-C56F6C215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函数也可以没有返回值与参数。</a:t>
            </a:r>
            <a:endParaRPr lang="en-US" altLang="zh-CN" dirty="0">
              <a:solidFill>
                <a:srgbClr val="333333"/>
              </a:solidFill>
              <a:latin typeface="+mn-ea"/>
              <a:ea typeface="+mn-ea"/>
            </a:endParaRPr>
          </a:p>
          <a:p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函数提高程序可读性，文章段落类比。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16697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E79B7-AA6B-B3A4-B1BB-3106C8755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5018E3C-78EB-5715-8952-104D1F9A1A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FD3FDEB-5B20-2E23-0BA0-0CBA79EE5D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5123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14C3F-C5F3-376D-0F0F-BDE3C28FA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1639994-5536-2EB5-A169-9BB488A5E1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0E137D7-0561-2996-0397-6D1C6D3E3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88325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7D390-849D-CDDA-7553-BD5D34A42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C3778F4-D56B-8637-85AD-F9962869D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ACDAE5E-C9EB-18ED-89A8-B807217FE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44359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507DB-D99B-1D48-7106-EA3CC41B2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ECC89CF-96A5-4666-56EF-815CD2DCA0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3B3372F-FF67-742E-F6E1-638D4510E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275785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56505-7061-46DA-41BC-E001DF002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99664E1-4B13-1A47-ADFB-8870BF00BA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B79B938-84C3-A2A6-FCAC-1C2B1506A5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70466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41E2E-D236-0F84-7704-E2DB43DC2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C61A98B-E45F-1EF2-4B4B-C2398F2419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7B1264B-1121-CAC5-D61F-0E18986AD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38912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7BC85-094F-83CB-3179-CAA1B02B8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6A7B485-B1CD-D406-4DF2-C6A6B77E48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33BB245-17A4-FF81-2343-E70A174B98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25956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5554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9E18C-5440-8F88-91D0-EE686E9EF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42EF0D3-2517-48CE-1289-210D307372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D1A99FA-8CF9-C866-E01B-0C8542F7A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07343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97688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package0</a:t>
            </a:r>
            <a:r>
              <a:rPr lang="zh-CN" altLang="en-US" dirty="0"/>
              <a:t>中加</a:t>
            </a:r>
            <a:r>
              <a:rPr lang="en-US" altLang="zh-CN" dirty="0"/>
              <a:t>__</a:t>
            </a:r>
            <a:r>
              <a:rPr lang="en-US" altLang="zh-CN" dirty="0" err="1"/>
              <a:t>init</a:t>
            </a:r>
            <a:r>
              <a:rPr lang="en-US" altLang="zh-CN" dirty="0"/>
              <a:t>__.</a:t>
            </a:r>
            <a:r>
              <a:rPr lang="en-US" altLang="zh-CN" dirty="0" err="1"/>
              <a:t>py</a:t>
            </a:r>
            <a:r>
              <a:rPr lang="zh-CN" altLang="en-US" dirty="0"/>
              <a:t>不讲，感兴趣自行学习。</a:t>
            </a:r>
          </a:p>
        </p:txBody>
      </p:sp>
    </p:spTree>
    <p:extLst>
      <p:ext uri="{BB962C8B-B14F-4D97-AF65-F5344CB8AC3E}">
        <p14:creationId xmlns:p14="http://schemas.microsoft.com/office/powerpoint/2010/main" val="34838271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64B01-E098-DB32-574A-4A5B592FE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2E7EDAB-980F-67B4-62EB-C6586D906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6F1717B-7FBF-E3FF-2E60-2BDD2D9FA1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25397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5706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36917-8DBE-626B-3823-D49C74071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33866F9-6CFF-63A4-850C-AF47AE8F0C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4498654-4561-8F5B-F275-62948034C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24420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8538F-A32C-5859-F928-F70921E0B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504B06F-9C28-98BF-68BF-C5389818A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696564E-1866-5211-32B5-9D82992212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45828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B3E48-4FE0-323B-BF49-2B871D74E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7BA8899-142E-EBDA-E290-C15A22142C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7515F90-0CD1-583B-8200-9994A54579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64358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85EE1-20A6-B84A-DE8A-6446A68E6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57012A0-04FC-DEAB-A63B-228D473B86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B542019-AA03-CC0E-20B0-1C4A732B46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99898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F107C-4B73-F527-120D-1B731AC88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3A43166-1C72-47E2-1576-F25D6BA31C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0237B0D-A842-0522-1B19-2ECC0A264D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44019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46C0E-44D4-112E-2669-727D71730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ACEB13E-6FC9-2E95-1A6C-6C33ED0287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9E16379-D646-7BDF-7AA6-67BC85A152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75323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33262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174D8-6A28-C8E3-1C21-02AFB0809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897E9F-012B-C372-40C0-176255E5E2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EB4E98-EF28-6EE4-04E1-2BD7E0634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93637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6052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 userDrawn="1"/>
        </p:nvSpPr>
        <p:spPr bwMode="auto">
          <a:xfrm>
            <a:off x="0" y="2276475"/>
            <a:ext cx="12192000" cy="369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 userDrawn="1"/>
        </p:nvSpPr>
        <p:spPr bwMode="auto">
          <a:xfrm>
            <a:off x="0" y="2203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0" y="4870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32860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2438400" y="1828800"/>
            <a:ext cx="9245600" cy="23622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2861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2438400" y="4572000"/>
            <a:ext cx="9245600" cy="1295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43613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92966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53096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83453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1420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37418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87389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83168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014974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8887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44000" y="-26988"/>
            <a:ext cx="3048000" cy="6192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8940800" cy="6192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79869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-26988"/>
            <a:ext cx="12192000" cy="6192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82318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4400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29749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00904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3" name="Picture 1" descr="D:\5万更新包奖PPT\张嘉\PPT用图\2.整饰相关\整饰 周老师改\5 31整饰-1副本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58001"/>
          </a:xfrm>
          <a:prstGeom prst="rect">
            <a:avLst/>
          </a:prstGeom>
          <a:noFill/>
        </p:spPr>
      </p:pic>
      <p:sp>
        <p:nvSpPr>
          <p:cNvPr id="2" name="大标题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71546"/>
          </a:xfrm>
          <a:prstGeom prst="rect">
            <a:avLst/>
          </a:prstGeom>
        </p:spPr>
        <p:txBody>
          <a:bodyPr anchor="ctr"/>
          <a:lstStyle>
            <a:lvl1pPr algn="ctr">
              <a:defRPr lang="zh-CN" altLang="en-US" sz="36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3477105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 rotWithShape="1"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65972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13086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09685" y="6467405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5B7D6B44-8869-44D6-9B46-FD9D3C769E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6395396"/>
            <a:ext cx="12192000" cy="0"/>
          </a:xfrm>
          <a:custGeom>
            <a:avLst/>
            <a:gdLst>
              <a:gd name="connsiteX0" fmla="*/ 0 w 9144000"/>
              <a:gd name="connsiteY0" fmla="*/ 0 h 0"/>
              <a:gd name="connsiteX1" fmla="*/ 9144000 w 91440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5685361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60939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629FCA-9BCC-4D94-BCF1-50AA18210C8D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955421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480EE588-B514-4B83-883F-1A90AE4C4A85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24988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3945235"/>
            <a:ext cx="10363200" cy="46166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0523AAF6-DDDF-4D98-B1C8-197F7B964DB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411538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3918" y="1087439"/>
            <a:ext cx="5369983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07100" y="1087439"/>
            <a:ext cx="5369984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DAC03A7A-4C91-400B-8A5E-521C0E46A7D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18690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39344"/>
            <a:ext cx="5386917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639344"/>
            <a:ext cx="5389033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CE4B736F-8802-4601-81EF-2D08228E192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27820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94C19E30-39C3-491E-99F3-94FA9B6A4A6B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132363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5CB6EDE-C31E-48F8-B56E-C83A2C11E3A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011023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26653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AB753CBF-8E7A-41BE-9CDE-C113C4033482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5091782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68326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D5458A-7C4D-4972-829E-0613074E0F8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6758884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917676" y="1087439"/>
            <a:ext cx="3459409" cy="233294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B72497E-EDC7-4CBF-BBB7-C88B46A92B8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8231793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76218" y="115889"/>
            <a:ext cx="2891367" cy="32416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530674" y="115889"/>
            <a:ext cx="2942344" cy="32416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86B5A12F-F1D3-4E67-A43C-D26EBF5447F7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756141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3801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9" name="同侧圆角矩形 8"/>
          <p:cNvSpPr/>
          <p:nvPr userDrawn="1"/>
        </p:nvSpPr>
        <p:spPr>
          <a:xfrm rot="5400000">
            <a:off x="6030021" y="-5257469"/>
            <a:ext cx="72000" cy="12132043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10" name="同侧圆角矩形 9"/>
          <p:cNvSpPr/>
          <p:nvPr userDrawn="1"/>
        </p:nvSpPr>
        <p:spPr>
          <a:xfrm rot="5400000" flipH="1">
            <a:off x="11385532" y="38088"/>
            <a:ext cx="72000" cy="154093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774" r:id="rId1"/>
    <p:sldLayoutId id="2147484775" r:id="rId2"/>
    <p:sldLayoutId id="2147484776" r:id="rId3"/>
    <p:sldLayoutId id="2147484777" r:id="rId4"/>
    <p:sldLayoutId id="2147484778" r:id="rId5"/>
    <p:sldLayoutId id="2147484779" r:id="rId6"/>
    <p:sldLayoutId id="2147484780" r:id="rId7"/>
    <p:sldLayoutId id="2147484781" r:id="rId8"/>
    <p:sldLayoutId id="2147484782" r:id="rId9"/>
    <p:sldLayoutId id="2147484783" r:id="rId10"/>
    <p:sldLayoutId id="2147484784" r:id="rId11"/>
    <p:sldLayoutId id="2147484785" r:id="rId12"/>
    <p:sldLayoutId id="2147484786" r:id="rId13"/>
    <p:sldLayoutId id="2147484787" r:id="rId14"/>
    <p:sldLayoutId id="2147484788" r:id="rId15"/>
    <p:sldLayoutId id="2147484789" r:id="rId16"/>
    <p:sldLayoutId id="2147484790" r:id="rId17"/>
    <p:sldLayoutId id="2147484954" r:id="rId18"/>
  </p:sldLayoutIdLst>
  <p:transition>
    <p:fade/>
  </p:transition>
  <p:hf hdr="0" ftr="0" dt="0"/>
  <p:txStyles>
    <p:titleStyle>
      <a:lvl1pPr marL="0" indent="889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微软雅黑" charset="0"/>
        </a:defRPr>
      </a:lvl1pPr>
      <a:lvl2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2pPr>
      <a:lvl3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3pPr>
      <a:lvl4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4pPr>
      <a:lvl5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Char char="•"/>
        <a:defRPr kumimoji="1" sz="2800">
          <a:solidFill>
            <a:schemeClr val="bg2"/>
          </a:solidFill>
          <a:latin typeface="+mn-lt"/>
          <a:ea typeface="+mn-ea"/>
          <a:cs typeface="微软雅黑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75000"/>
        <a:buChar char="–"/>
        <a:defRPr kumimoji="1" sz="2400">
          <a:solidFill>
            <a:schemeClr val="bg2"/>
          </a:solidFill>
          <a:latin typeface="+mn-lt"/>
          <a:ea typeface="+mn-ea"/>
          <a:cs typeface="微软雅黑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2" descr="bg3-LIN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" y="1"/>
            <a:ext cx="12189884" cy="685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115889"/>
            <a:ext cx="11567584" cy="649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标题文本样式：黑体</a:t>
            </a:r>
            <a:r>
              <a:rPr lang="en-US" altLang="zh-CN"/>
              <a:t>/34</a:t>
            </a:r>
            <a:r>
              <a:rPr lang="zh-CN" altLang="en-US"/>
              <a:t>号  </a:t>
            </a:r>
            <a:r>
              <a:rPr lang="en-US" altLang="zh-CN"/>
              <a:t>Arial/34pt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3918" y="1087439"/>
            <a:ext cx="10943167" cy="233294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/>
            <a:r>
              <a:rPr lang="zh-CN" altLang="en-US"/>
              <a:t>第一级内容文本样式：黑体</a:t>
            </a:r>
            <a:r>
              <a:rPr lang="en-US" altLang="zh-CN"/>
              <a:t>/28</a:t>
            </a:r>
            <a:r>
              <a:rPr lang="zh-CN" altLang="en-US"/>
              <a:t>号  </a:t>
            </a:r>
            <a:r>
              <a:rPr lang="en-US" altLang="zh-CN"/>
              <a:t>Arial/28pt</a:t>
            </a:r>
          </a:p>
          <a:p>
            <a:pPr lvl="1"/>
            <a:r>
              <a:rPr lang="zh-CN" altLang="en-US"/>
              <a:t>第二级内容文本样式：黑体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Arial/24pt</a:t>
            </a:r>
          </a:p>
          <a:p>
            <a:pPr lvl="2"/>
            <a:r>
              <a:rPr lang="zh-CN" altLang="en-US"/>
              <a:t>第三级内容文本样式：黑体</a:t>
            </a:r>
            <a:r>
              <a:rPr lang="en-US" altLang="zh-CN"/>
              <a:t>/20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</a:p>
          <a:p>
            <a:pPr lvl="3"/>
            <a:r>
              <a:rPr lang="zh-CN" altLang="en-US"/>
              <a:t>第四级内容文本样式：黑体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</a:p>
          <a:p>
            <a:pPr lvl="4"/>
            <a:r>
              <a:rPr lang="zh-CN" altLang="en-US"/>
              <a:t>第五级内容文本样式：黑体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</a:p>
        </p:txBody>
      </p:sp>
      <p:sp>
        <p:nvSpPr>
          <p:cNvPr id="30618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03267" y="6499226"/>
            <a:ext cx="2844800" cy="212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/>
              <a:t> </a:t>
            </a:r>
            <a:fld id="{0FF7CBF9-F9A5-4695-8B7F-69B64C2D809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620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87" r:id="rId1"/>
    <p:sldLayoutId id="2147484988" r:id="rId2"/>
    <p:sldLayoutId id="2147484989" r:id="rId3"/>
    <p:sldLayoutId id="2147484990" r:id="rId4"/>
    <p:sldLayoutId id="2147484991" r:id="rId5"/>
    <p:sldLayoutId id="2147484992" r:id="rId6"/>
    <p:sldLayoutId id="2147484993" r:id="rId7"/>
    <p:sldLayoutId id="2147484994" r:id="rId8"/>
    <p:sldLayoutId id="2147484995" r:id="rId9"/>
    <p:sldLayoutId id="2147484996" r:id="rId10"/>
    <p:sldLayoutId id="2147484997" r:id="rId11"/>
  </p:sldLayoutIdLst>
  <p:transition/>
  <p:hf hdr="0" ftr="0" dt="0"/>
  <p:txStyles>
    <p:titleStyle>
      <a:lvl1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+mj-lt"/>
          <a:ea typeface="+mj-ea"/>
          <a:cs typeface="+mj-cs"/>
        </a:defRPr>
      </a:lvl1pPr>
      <a:lvl2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2pPr>
      <a:lvl3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3pPr>
      <a:lvl4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4pPr>
      <a:lvl5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8191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12763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7335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21907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180975" indent="-180975" algn="l" rtl="0" eaLnBrk="0" fontAlgn="ctr" hangingPunct="0">
        <a:lnSpc>
          <a:spcPct val="120000"/>
        </a:lnSpc>
        <a:spcBef>
          <a:spcPct val="50000"/>
        </a:spcBef>
        <a:spcAft>
          <a:spcPct val="0"/>
        </a:spcAft>
        <a:buClr>
          <a:srgbClr val="00246C"/>
        </a:buClr>
        <a:buSzPct val="80000"/>
        <a:buFont typeface="Wingdings" panose="05000000000000000000" pitchFamily="2" charset="2"/>
        <a:buChar char="n"/>
        <a:defRPr sz="2800" b="1">
          <a:solidFill>
            <a:srgbClr val="00246C"/>
          </a:solidFill>
          <a:latin typeface="+mn-lt"/>
          <a:ea typeface="+mn-ea"/>
          <a:cs typeface="+mn-cs"/>
        </a:defRPr>
      </a:lvl1pPr>
      <a:lvl2pPr marL="541655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n"/>
        <a:defRPr sz="2400" b="1">
          <a:solidFill>
            <a:srgbClr val="0000CC"/>
          </a:solidFill>
          <a:latin typeface="+mn-lt"/>
          <a:ea typeface="+mn-ea"/>
        </a:defRPr>
      </a:lvl2pPr>
      <a:lvl3pPr marL="895350" indent="-17462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3333FF"/>
        </a:buClr>
        <a:buSzPct val="80000"/>
        <a:buFont typeface="Wingdings" panose="05000000000000000000" pitchFamily="2" charset="2"/>
        <a:buChar char="n"/>
        <a:defRPr sz="2000">
          <a:solidFill>
            <a:srgbClr val="3333FF"/>
          </a:solidFill>
          <a:latin typeface="+mn-lt"/>
          <a:ea typeface="+mn-ea"/>
        </a:defRPr>
      </a:lvl3pPr>
      <a:lvl4pPr marL="1256030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6699FF"/>
        </a:buClr>
        <a:buSzPct val="80000"/>
        <a:buFont typeface="Wingdings" panose="05000000000000000000" pitchFamily="2" charset="2"/>
        <a:buChar char="n"/>
        <a:defRPr sz="2000">
          <a:solidFill>
            <a:srgbClr val="6699FF"/>
          </a:solidFill>
          <a:latin typeface="+mn-lt"/>
          <a:ea typeface="+mn-ea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5pPr>
      <a:lvl6pPr marL="20764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6pPr>
      <a:lvl7pPr marL="25336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7pPr>
      <a:lvl8pPr marL="29908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8pPr>
      <a:lvl9pPr marL="34480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1843693" y="1685332"/>
            <a:ext cx="8501204" cy="1917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defRPr/>
            </a:pPr>
            <a:r>
              <a:rPr lang="zh-CN" altLang="en-US" sz="4800" b="1" dirty="0">
                <a:solidFill>
                  <a:srgbClr val="FF0000"/>
                </a:solidFill>
                <a:latin typeface="微软雅黑"/>
                <a:ea typeface="微软雅黑"/>
              </a:rPr>
              <a:t>第四章 函数与模块化编程</a:t>
            </a:r>
            <a:endParaRPr lang="zh-CN" altLang="zh-CN" sz="4800" b="1" dirty="0">
              <a:solidFill>
                <a:srgbClr val="FF0000"/>
              </a:solidFill>
              <a:latin typeface="微软雅黑"/>
              <a:ea typeface="微软雅黑"/>
            </a:endParaRPr>
          </a:p>
        </p:txBody>
      </p:sp>
      <p:sp>
        <p:nvSpPr>
          <p:cNvPr id="25" name="Rectangle 8"/>
          <p:cNvSpPr>
            <a:spLocks noChangeArrowheads="1"/>
          </p:cNvSpPr>
          <p:nvPr/>
        </p:nvSpPr>
        <p:spPr bwMode="auto">
          <a:xfrm>
            <a:off x="1677909" y="3931738"/>
            <a:ext cx="8809022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r>
              <a:rPr lang="zh-CN" altLang="en-US" b="1">
                <a:solidFill>
                  <a:srgbClr val="002060"/>
                </a:solidFill>
                <a:latin typeface="微软雅黑"/>
                <a:ea typeface="微软雅黑"/>
                <a:cs typeface="微软雅黑" charset="0"/>
              </a:rPr>
              <a:t>罗 新</a:t>
            </a:r>
            <a:endParaRPr lang="en-US" altLang="zh-CN" b="1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r>
              <a:rPr lang="zh-CN" altLang="en-US" b="1">
                <a:solidFill>
                  <a:srgbClr val="002060"/>
                </a:solidFill>
                <a:latin typeface="微软雅黑"/>
                <a:ea typeface="微软雅黑"/>
                <a:cs typeface="微软雅黑" charset="0"/>
              </a:rPr>
              <a:t>云南大学 地球科学学院</a:t>
            </a:r>
            <a:endParaRPr lang="en-US" altLang="zh-CN" b="1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endParaRPr lang="zh-CN" altLang="en-US" sz="2800" b="1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sz="200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sz="200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sz="180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</p:txBody>
      </p:sp>
      <p:sp>
        <p:nvSpPr>
          <p:cNvPr id="54" name="矩形 53"/>
          <p:cNvSpPr/>
          <p:nvPr/>
        </p:nvSpPr>
        <p:spPr>
          <a:xfrm flipV="1">
            <a:off x="2316000" y="3614405"/>
            <a:ext cx="75600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lumMod val="0"/>
                  <a:lumOff val="100000"/>
                  <a:alpha val="0"/>
                </a:schemeClr>
              </a:gs>
              <a:gs pos="50000">
                <a:schemeClr val="accent1"/>
              </a:gs>
              <a:gs pos="100000">
                <a:schemeClr val="accent1">
                  <a:tint val="23500"/>
                  <a:satMod val="160000"/>
                  <a:lumMod val="0"/>
                  <a:lumOff val="100000"/>
                  <a:alpha val="0"/>
                </a:schemeClr>
              </a:gs>
            </a:gsLst>
            <a:lin ang="10800000" scaled="1"/>
            <a:tileRect/>
          </a:gradFill>
        </p:spPr>
        <p:txBody>
          <a:bodyPr wrap="square" lIns="0" rtlCol="0" anchor="ctr">
            <a:noAutofit/>
          </a:bodyPr>
          <a:lstStyle/>
          <a:p>
            <a:pPr algn="l">
              <a:defRPr/>
            </a:pPr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515BE6-09AD-694B-8839-0C2DC98FAD34}"/>
              </a:ext>
            </a:extLst>
          </p:cNvPr>
          <p:cNvSpPr/>
          <p:nvPr/>
        </p:nvSpPr>
        <p:spPr>
          <a:xfrm>
            <a:off x="1831819" y="5474698"/>
            <a:ext cx="8627953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800">
                <a:solidFill>
                  <a:prstClr val="black"/>
                </a:solidFill>
                <a:latin typeface="微软雅黑"/>
                <a:ea typeface="微软雅黑"/>
              </a:rPr>
              <a:t>邮箱</a:t>
            </a:r>
            <a:r>
              <a:rPr lang="en-CN" sz="1800">
                <a:solidFill>
                  <a:prstClr val="black"/>
                </a:solidFill>
                <a:latin typeface="微软雅黑"/>
                <a:ea typeface="微软雅黑"/>
              </a:rPr>
              <a:t>: xinluo_xin@ynu.edu.cn</a:t>
            </a:r>
          </a:p>
          <a:p>
            <a:pPr>
              <a:defRPr/>
            </a:pPr>
            <a:r>
              <a:rPr lang="en-CN" sz="1800">
                <a:solidFill>
                  <a:prstClr val="black"/>
                </a:solidFill>
                <a:latin typeface="微软雅黑"/>
                <a:ea typeface="微软雅黑"/>
              </a:rPr>
              <a:t>地址</a:t>
            </a:r>
            <a:r>
              <a:rPr lang="zh-CN" altLang="en-US" sz="1800">
                <a:solidFill>
                  <a:prstClr val="black"/>
                </a:solidFill>
                <a:latin typeface="微软雅黑"/>
                <a:ea typeface="微软雅黑"/>
              </a:rPr>
              <a:t>：地球科学学院</a:t>
            </a:r>
            <a:r>
              <a:rPr lang="en-US" altLang="zh-CN" sz="1800">
                <a:solidFill>
                  <a:prstClr val="black"/>
                </a:solidFill>
                <a:latin typeface="微软雅黑"/>
                <a:ea typeface="微软雅黑"/>
              </a:rPr>
              <a:t>1327</a:t>
            </a:r>
            <a:r>
              <a:rPr lang="zh-CN" altLang="en-US" sz="1800">
                <a:solidFill>
                  <a:prstClr val="black"/>
                </a:solidFill>
                <a:latin typeface="微软雅黑"/>
                <a:ea typeface="微软雅黑"/>
              </a:rPr>
              <a:t>办公室</a:t>
            </a:r>
            <a:endParaRPr lang="en-CN" sz="180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20417-E7CA-C285-EB98-9BD26873E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694" y="243145"/>
            <a:ext cx="2866773" cy="10126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9EB157-7CF0-C636-5797-94C0A73AF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262" y="6259528"/>
            <a:ext cx="2996979" cy="6229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75549C-74EF-2C8F-6432-2C52B803FB1B}"/>
              </a:ext>
            </a:extLst>
          </p:cNvPr>
          <p:cNvSpPr txBox="1"/>
          <p:nvPr/>
        </p:nvSpPr>
        <p:spPr>
          <a:xfrm>
            <a:off x="6512862" y="243144"/>
            <a:ext cx="4177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云南大学</a:t>
            </a:r>
            <a:r>
              <a:rPr lang="en-US" altLang="zh-CN" sz="1800" b="1" dirty="0">
                <a:solidFill>
                  <a:schemeClr val="bg2"/>
                </a:solidFill>
                <a:latin typeface="+mn-ea"/>
                <a:ea typeface="+mn-ea"/>
              </a:rPr>
              <a:t>《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 </a:t>
            </a:r>
            <a:r>
              <a:rPr lang="zh-CN" altLang="en-US" sz="1800" b="1">
                <a:solidFill>
                  <a:schemeClr val="bg2"/>
                </a:solidFill>
                <a:latin typeface="+mn-ea"/>
                <a:ea typeface="+mn-ea"/>
              </a:rPr>
              <a:t>地学</a:t>
            </a:r>
            <a:r>
              <a:rPr lang="en-CN" sz="1800" b="1">
                <a:solidFill>
                  <a:schemeClr val="bg2"/>
                </a:solidFill>
                <a:latin typeface="+mn-ea"/>
                <a:ea typeface="+mn-ea"/>
              </a:rPr>
              <a:t>编程基础</a:t>
            </a:r>
            <a:r>
              <a:rPr lang="en-US" altLang="zh-CN" sz="1800" b="1" dirty="0">
                <a:solidFill>
                  <a:schemeClr val="bg2"/>
                </a:solidFill>
                <a:latin typeface="+mn-ea"/>
                <a:ea typeface="+mn-ea"/>
              </a:rPr>
              <a:t>》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课程第</a:t>
            </a:r>
            <a:r>
              <a:rPr lang="zh-CN" altLang="en-US" sz="1800" b="1" dirty="0">
                <a:solidFill>
                  <a:schemeClr val="bg2"/>
                </a:solidFill>
                <a:latin typeface="+mn-ea"/>
                <a:ea typeface="+mn-ea"/>
              </a:rPr>
              <a:t>四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165860717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6495" y="0"/>
            <a:ext cx="1835696" cy="6858000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Calibri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4B9B8D5-4BCC-CDFF-1E13-B005060A8BDF}"/>
              </a:ext>
            </a:extLst>
          </p:cNvPr>
          <p:cNvGrpSpPr/>
          <p:nvPr/>
        </p:nvGrpSpPr>
        <p:grpSpPr>
          <a:xfrm>
            <a:off x="1941801" y="4583174"/>
            <a:ext cx="6916338" cy="772176"/>
            <a:chOff x="2121802" y="2115450"/>
            <a:chExt cx="5430801" cy="576000"/>
          </a:xfrm>
        </p:grpSpPr>
        <p:sp>
          <p:nvSpPr>
            <p:cNvPr id="10" name="椭圆 9"/>
            <p:cNvSpPr/>
            <p:nvPr/>
          </p:nvSpPr>
          <p:spPr>
            <a:xfrm>
              <a:off x="2121802" y="2115450"/>
              <a:ext cx="576000" cy="576000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200" b="1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三</a:t>
              </a:r>
            </a:p>
          </p:txBody>
        </p:sp>
        <p:sp>
          <p:nvSpPr>
            <p:cNvPr id="12" name="矩形 11"/>
            <p:cNvSpPr/>
            <p:nvPr/>
          </p:nvSpPr>
          <p:spPr>
            <a:xfrm>
              <a:off x="2697802" y="2173517"/>
              <a:ext cx="4854801" cy="43620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32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Python</a:t>
              </a:r>
              <a:r>
                <a:rPr lang="zh-CN" altLang="en-US" sz="32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标准库以及第三方库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2ED16A1-79B8-7DB1-1CC1-250B051BAD58}"/>
              </a:ext>
            </a:extLst>
          </p:cNvPr>
          <p:cNvGrpSpPr/>
          <p:nvPr/>
        </p:nvGrpSpPr>
        <p:grpSpPr>
          <a:xfrm>
            <a:off x="1941802" y="3327048"/>
            <a:ext cx="6403721" cy="717997"/>
            <a:chOff x="2121801" y="3511390"/>
            <a:chExt cx="5718901" cy="576000"/>
          </a:xfrm>
        </p:grpSpPr>
        <p:sp>
          <p:nvSpPr>
            <p:cNvPr id="13" name="椭圆 12"/>
            <p:cNvSpPr/>
            <p:nvPr/>
          </p:nvSpPr>
          <p:spPr>
            <a:xfrm>
              <a:off x="2121801" y="3511390"/>
              <a:ext cx="655111" cy="576000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200" b="1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二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2777899" y="3560440"/>
              <a:ext cx="5062803" cy="46912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32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Python</a:t>
              </a:r>
              <a:r>
                <a:rPr lang="zh-CN" altLang="en-US" sz="32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模块与</a:t>
              </a:r>
              <a:r>
                <a:rPr lang="zh-CN" altLang="en-CN" sz="32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包</a:t>
              </a:r>
              <a:endParaRPr lang="en-US" altLang="zh-CN" sz="3200" b="1" dirty="0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微软雅黑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696373" y="260648"/>
            <a:ext cx="16081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5400" b="1">
                <a:solidFill>
                  <a:schemeClr val="accent1"/>
                </a:solidFill>
                <a:latin typeface="Arial"/>
                <a:ea typeface="微软雅黑"/>
              </a:rPr>
              <a:t>目录</a:t>
            </a:r>
            <a:endParaRPr lang="en-US" altLang="zh-CN" sz="5400" b="1">
              <a:solidFill>
                <a:schemeClr val="accent1"/>
              </a:solidFill>
              <a:latin typeface="Arial"/>
              <a:ea typeface="微软雅黑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FCAA61D-767A-24EA-9072-7425684288BB}"/>
              </a:ext>
            </a:extLst>
          </p:cNvPr>
          <p:cNvGrpSpPr/>
          <p:nvPr/>
        </p:nvGrpSpPr>
        <p:grpSpPr>
          <a:xfrm>
            <a:off x="1941802" y="2040781"/>
            <a:ext cx="6649827" cy="772176"/>
            <a:chOff x="2121802" y="2115450"/>
            <a:chExt cx="5221533" cy="576000"/>
          </a:xfrm>
        </p:grpSpPr>
        <p:sp>
          <p:nvSpPr>
            <p:cNvPr id="4" name="椭圆 9">
              <a:extLst>
                <a:ext uri="{FF2B5EF4-FFF2-40B4-BE49-F238E27FC236}">
                  <a16:creationId xmlns:a16="http://schemas.microsoft.com/office/drawing/2014/main" id="{E22E439B-4B3F-A527-61D0-3ED55D24E856}"/>
                </a:ext>
              </a:extLst>
            </p:cNvPr>
            <p:cNvSpPr/>
            <p:nvPr/>
          </p:nvSpPr>
          <p:spPr>
            <a:xfrm>
              <a:off x="2121802" y="2115450"/>
              <a:ext cx="576000" cy="576000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200" b="1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一</a:t>
              </a:r>
            </a:p>
          </p:txBody>
        </p:sp>
        <p:sp>
          <p:nvSpPr>
            <p:cNvPr id="5" name="矩形 11">
              <a:extLst>
                <a:ext uri="{FF2B5EF4-FFF2-40B4-BE49-F238E27FC236}">
                  <a16:creationId xmlns:a16="http://schemas.microsoft.com/office/drawing/2014/main" id="{494DAA55-5621-28DB-D255-E0EBB6C6477B}"/>
                </a:ext>
              </a:extLst>
            </p:cNvPr>
            <p:cNvSpPr/>
            <p:nvPr/>
          </p:nvSpPr>
          <p:spPr>
            <a:xfrm>
              <a:off x="2697802" y="2173516"/>
              <a:ext cx="4645533" cy="43620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32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Python</a:t>
              </a:r>
              <a:r>
                <a:rPr lang="zh-CN" altLang="en-US" sz="32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函数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612036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3471863"/>
            <a:ext cx="12192000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4223" y="3868892"/>
            <a:ext cx="102119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400" b="1" dirty="0">
                <a:latin typeface="微软雅黑" pitchFamily="34" charset="-122"/>
                <a:ea typeface="微软雅黑" pitchFamily="34" charset="-122"/>
              </a:rPr>
              <a:t>一、</a:t>
            </a:r>
            <a:r>
              <a:rPr lang="en-US" altLang="zh-CN" sz="4400" b="1" dirty="0"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sz="4400" b="1" dirty="0">
                <a:latin typeface="微软雅黑" pitchFamily="34" charset="-122"/>
                <a:ea typeface="微软雅黑" pitchFamily="34" charset="-122"/>
              </a:rPr>
              <a:t>函数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5014912"/>
            <a:ext cx="12192000" cy="72000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590120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96592" y="846749"/>
            <a:ext cx="599940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buAutoNum type="arabicPeriod"/>
            </a:pP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函数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3200" dirty="0">
                <a:solidFill>
                  <a:srgbClr val="333333"/>
                </a:solidFill>
                <a:latin typeface="+mn-ea"/>
                <a:ea typeface="+mn-ea"/>
              </a:rPr>
              <a:t>为什么要有函数？</a:t>
            </a:r>
            <a:endParaRPr lang="en-US" altLang="zh-CN" sz="32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F05599-F767-1D4A-7A1E-F5482318851B}"/>
              </a:ext>
            </a:extLst>
          </p:cNvPr>
          <p:cNvSpPr txBox="1"/>
          <p:nvPr/>
        </p:nvSpPr>
        <p:spPr>
          <a:xfrm>
            <a:off x="167425" y="2393799"/>
            <a:ext cx="6326681" cy="3032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代码复用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zh-CN" altLang="en-US" sz="2800" u="sng" dirty="0">
                <a:solidFill>
                  <a:schemeClr val="bg2"/>
                </a:solidFill>
                <a:latin typeface="+mn-ea"/>
                <a:ea typeface="+mn-ea"/>
              </a:rPr>
              <a:t>避免重复代码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（对比有无函数的代码量）</a:t>
            </a:r>
          </a:p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逻辑封装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：隐藏实现细节，提升可读性</a:t>
            </a:r>
          </a:p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模块化设计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：分治思想解决复杂问题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7E18CFE-79D6-6452-B9AD-80E68D47A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226" y="1268794"/>
            <a:ext cx="5076380" cy="507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35048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BCA41-C79F-D50F-5BDF-59F372C1C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0054C84-A7DB-95A0-368B-8468B05EE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7F650C-D6A5-2A28-2193-4BDEAA5F1FAE}"/>
              </a:ext>
            </a:extLst>
          </p:cNvPr>
          <p:cNvSpPr txBox="1"/>
          <p:nvPr/>
        </p:nvSpPr>
        <p:spPr>
          <a:xfrm>
            <a:off x="328412" y="1679426"/>
            <a:ext cx="6265572" cy="3698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dirty="0">
                <a:solidFill>
                  <a:srgbClr val="333333"/>
                </a:solidFill>
                <a:latin typeface="+mn-ea"/>
                <a:ea typeface="+mn-ea"/>
              </a:rPr>
              <a:t>函数是组织好的，可重复使用的，用来实现单一，或相关联功能的代码块。函数包括声明</a:t>
            </a:r>
            <a:r>
              <a:rPr lang="zh-CN" altLang="en-US" sz="3200" b="1" u="sng" dirty="0">
                <a:solidFill>
                  <a:srgbClr val="FF0000"/>
                </a:solidFill>
                <a:latin typeface="+mn-ea"/>
                <a:ea typeface="+mn-ea"/>
              </a:rPr>
              <a:t>关键字、函数名、函数体、返回值、参数</a:t>
            </a:r>
            <a:r>
              <a:rPr lang="zh-CN" altLang="en-US" sz="3200" dirty="0">
                <a:solidFill>
                  <a:srgbClr val="333333"/>
                </a:solidFill>
                <a:latin typeface="+mn-ea"/>
                <a:ea typeface="+mn-ea"/>
              </a:rPr>
              <a:t>五部分。</a:t>
            </a:r>
            <a:endParaRPr lang="en-US" altLang="zh-CN" sz="32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07EA321-7060-7FBC-0110-A92F708D84F4}"/>
              </a:ext>
            </a:extLst>
          </p:cNvPr>
          <p:cNvSpPr txBox="1"/>
          <p:nvPr/>
        </p:nvSpPr>
        <p:spPr>
          <a:xfrm>
            <a:off x="1144193" y="5622394"/>
            <a:ext cx="9903614" cy="66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作用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：函数能提高我们程序的模块性与代码的重复利用率。</a:t>
            </a:r>
          </a:p>
        </p:txBody>
      </p:sp>
      <p:pic>
        <p:nvPicPr>
          <p:cNvPr id="6" name="Picture 5" descr="A black background with white and green writing&#10;&#10;AI-generated content may be incorrect.">
            <a:extLst>
              <a:ext uri="{FF2B5EF4-FFF2-40B4-BE49-F238E27FC236}">
                <a16:creationId xmlns:a16="http://schemas.microsoft.com/office/drawing/2014/main" id="{DCF3723A-4CCC-F4E4-4E30-039450E8E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522" y="2199824"/>
            <a:ext cx="5162066" cy="279717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BBA420E-12F9-A29E-14CB-E950F779FCD8}"/>
              </a:ext>
            </a:extLst>
          </p:cNvPr>
          <p:cNvSpPr txBox="1"/>
          <p:nvPr/>
        </p:nvSpPr>
        <p:spPr>
          <a:xfrm>
            <a:off x="328412" y="854007"/>
            <a:ext cx="6150428" cy="825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b="1" dirty="0">
                <a:solidFill>
                  <a:schemeClr val="accent2"/>
                </a:solidFill>
                <a:latin typeface="+mn-ea"/>
                <a:ea typeface="+mn-ea"/>
              </a:rPr>
              <a:t>函数概念</a:t>
            </a:r>
            <a:endParaRPr lang="en-US" altLang="zh-CN" sz="36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9173405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99966-F7ED-7573-90EF-6727525E9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2D528DEB-0FCF-9476-B7A2-CC8A243F95C6}"/>
              </a:ext>
            </a:extLst>
          </p:cNvPr>
          <p:cNvSpPr/>
          <p:nvPr/>
        </p:nvSpPr>
        <p:spPr>
          <a:xfrm>
            <a:off x="482210" y="4818742"/>
            <a:ext cx="11445600" cy="1952172"/>
          </a:xfrm>
          <a:prstGeom prst="rect">
            <a:avLst/>
          </a:prstGeom>
          <a:solidFill>
            <a:schemeClr val="tx1"/>
          </a:solidFill>
          <a:ln w="38100">
            <a:solidFill>
              <a:srgbClr val="0000CC"/>
            </a:solidFill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D7EB2F9-C23A-907E-D597-2E60696DC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213B40-C84C-2F60-4479-4A9B587DE96A}"/>
              </a:ext>
            </a:extLst>
          </p:cNvPr>
          <p:cNvSpPr txBox="1"/>
          <p:nvPr/>
        </p:nvSpPr>
        <p:spPr>
          <a:xfrm>
            <a:off x="264018" y="933832"/>
            <a:ext cx="3548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3600" b="1" dirty="0">
                <a:solidFill>
                  <a:schemeClr val="accent2"/>
                </a:solidFill>
                <a:latin typeface="+mn-ea"/>
                <a:ea typeface="+mn-ea"/>
              </a:rPr>
              <a:t>函数参数</a:t>
            </a:r>
            <a:endParaRPr lang="en-US" altLang="zh-CN" sz="36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232443-C70F-2CA6-EEAE-FE6DF71B40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707460"/>
              </p:ext>
            </p:extLst>
          </p:nvPr>
        </p:nvGraphicFramePr>
        <p:xfrm>
          <a:off x="3023239" y="1584293"/>
          <a:ext cx="8904571" cy="3141026"/>
        </p:xfrm>
        <a:graphic>
          <a:graphicData uri="http://schemas.openxmlformats.org/drawingml/2006/table">
            <a:tbl>
              <a:tblPr/>
              <a:tblGrid>
                <a:gridCol w="1756083">
                  <a:extLst>
                    <a:ext uri="{9D8B030D-6E8A-4147-A177-3AD203B41FA5}">
                      <a16:colId xmlns:a16="http://schemas.microsoft.com/office/drawing/2014/main" val="3675882594"/>
                    </a:ext>
                  </a:extLst>
                </a:gridCol>
                <a:gridCol w="3715313">
                  <a:extLst>
                    <a:ext uri="{9D8B030D-6E8A-4147-A177-3AD203B41FA5}">
                      <a16:colId xmlns:a16="http://schemas.microsoft.com/office/drawing/2014/main" val="3818600901"/>
                    </a:ext>
                  </a:extLst>
                </a:gridCol>
                <a:gridCol w="3433175">
                  <a:extLst>
                    <a:ext uri="{9D8B030D-6E8A-4147-A177-3AD203B41FA5}">
                      <a16:colId xmlns:a16="http://schemas.microsoft.com/office/drawing/2014/main" val="1558079673"/>
                    </a:ext>
                  </a:extLst>
                </a:gridCol>
              </a:tblGrid>
              <a:tr h="5991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2400" b="1" dirty="0">
                          <a:solidFill>
                            <a:schemeClr val="bg2"/>
                          </a:solidFill>
                          <a:effectLst/>
                        </a:rPr>
                        <a:t>类型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2400" b="1">
                          <a:solidFill>
                            <a:schemeClr val="bg2"/>
                          </a:solidFill>
                          <a:effectLst/>
                        </a:rPr>
                        <a:t>语法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2400" b="1" dirty="0">
                          <a:solidFill>
                            <a:schemeClr val="bg2"/>
                          </a:solidFill>
                          <a:effectLst/>
                        </a:rPr>
                        <a:t>示例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580310"/>
                  </a:ext>
                </a:extLst>
              </a:tr>
              <a:tr h="76732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2400" dirty="0">
                          <a:solidFill>
                            <a:schemeClr val="bg2"/>
                          </a:solidFill>
                          <a:effectLst/>
                        </a:rPr>
                        <a:t>位置参数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dirty="0" err="1">
                          <a:solidFill>
                            <a:schemeClr val="bg2"/>
                          </a:solidFill>
                          <a:effectLst/>
                        </a:rPr>
                        <a:t>func</a:t>
                      </a: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</a:rPr>
                        <a:t>(a, b, </a:t>
                      </a:r>
                      <a:r>
                        <a:rPr lang="en-US" sz="2400" b="1" dirty="0">
                          <a:solidFill>
                            <a:schemeClr val="accent2"/>
                          </a:solidFill>
                          <a:effectLst/>
                        </a:rPr>
                        <a:t>/</a:t>
                      </a: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</a:rPr>
                        <a:t>subs(3, 5)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565303"/>
                  </a:ext>
                </a:extLst>
              </a:tr>
              <a:tr h="7667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2400" dirty="0">
                          <a:solidFill>
                            <a:schemeClr val="bg2"/>
                          </a:solidFill>
                          <a:effectLst/>
                        </a:rPr>
                        <a:t>关键字参数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dirty="0" err="1">
                          <a:solidFill>
                            <a:schemeClr val="bg2"/>
                          </a:solidFill>
                          <a:effectLst/>
                        </a:rPr>
                        <a:t>func</a:t>
                      </a: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</a:rPr>
                        <a:t>(a, b) / </a:t>
                      </a:r>
                      <a:r>
                        <a:rPr lang="en-US" altLang="zh-CN" sz="2400" dirty="0" err="1">
                          <a:solidFill>
                            <a:schemeClr val="bg2"/>
                          </a:solidFill>
                          <a:effectLst/>
                        </a:rPr>
                        <a:t>func</a:t>
                      </a:r>
                      <a:r>
                        <a:rPr lang="en-US" altLang="zh-CN" sz="2400" dirty="0">
                          <a:solidFill>
                            <a:schemeClr val="bg2"/>
                          </a:solidFill>
                          <a:effectLst/>
                        </a:rPr>
                        <a:t>(a=3, b=5)</a:t>
                      </a:r>
                      <a:endParaRPr lang="en-US" sz="2400" dirty="0">
                        <a:solidFill>
                          <a:schemeClr val="bg2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</a:rPr>
                        <a:t>subs(b=5, a=3)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422408"/>
                  </a:ext>
                </a:extLst>
              </a:tr>
              <a:tr h="100786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2400" dirty="0">
                          <a:solidFill>
                            <a:schemeClr val="bg2"/>
                          </a:solidFill>
                          <a:effectLst/>
                        </a:rPr>
                        <a:t>可变参数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</a:rPr>
                        <a:t>*</a:t>
                      </a:r>
                      <a:r>
                        <a:rPr lang="en-US" sz="2400" dirty="0" err="1">
                          <a:solidFill>
                            <a:schemeClr val="bg2"/>
                          </a:solidFill>
                          <a:effectLst/>
                        </a:rPr>
                        <a:t>args</a:t>
                      </a: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</a:rPr>
                        <a:t> (</a:t>
                      </a:r>
                      <a:r>
                        <a:rPr lang="zh-CN" altLang="en-US" sz="2400" dirty="0">
                          <a:solidFill>
                            <a:schemeClr val="bg2"/>
                          </a:solidFill>
                          <a:effectLst/>
                        </a:rPr>
                        <a:t>位置参数</a:t>
                      </a: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</a:rPr>
                        <a:t>) / **</a:t>
                      </a:r>
                      <a:r>
                        <a:rPr lang="en-US" sz="2400" dirty="0" err="1">
                          <a:solidFill>
                            <a:schemeClr val="bg2"/>
                          </a:solidFill>
                          <a:effectLst/>
                        </a:rPr>
                        <a:t>kwargs</a:t>
                      </a: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</a:rPr>
                        <a:t>(</a:t>
                      </a:r>
                      <a:r>
                        <a:rPr lang="zh-CN" altLang="en-US" sz="2400" dirty="0">
                          <a:solidFill>
                            <a:schemeClr val="bg2"/>
                          </a:solidFill>
                          <a:effectLst/>
                        </a:rPr>
                        <a:t>关键字参数</a:t>
                      </a: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</a:rPr>
                        <a:t>sum(*numbers)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773536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E88DE62E-DE01-15B7-8441-DA6ADE444AF2}"/>
              </a:ext>
            </a:extLst>
          </p:cNvPr>
          <p:cNvSpPr txBox="1"/>
          <p:nvPr/>
        </p:nvSpPr>
        <p:spPr>
          <a:xfrm>
            <a:off x="482210" y="2008608"/>
            <a:ext cx="1706449" cy="98374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参数传递机制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BC4DA50D-4C81-B299-C95D-050983ED566E}"/>
              </a:ext>
            </a:extLst>
          </p:cNvPr>
          <p:cNvSpPr/>
          <p:nvPr/>
        </p:nvSpPr>
        <p:spPr>
          <a:xfrm>
            <a:off x="2294527" y="2212314"/>
            <a:ext cx="622844" cy="576330"/>
          </a:xfrm>
          <a:prstGeom prst="rightArrow">
            <a:avLst/>
          </a:prstGeom>
          <a:solidFill>
            <a:schemeClr val="bg2">
              <a:lumMod val="85000"/>
              <a:lumOff val="15000"/>
            </a:schemeClr>
          </a:solidFill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9B77980-A6A3-2B7D-0DD7-01B9336AD27A}"/>
              </a:ext>
            </a:extLst>
          </p:cNvPr>
          <p:cNvSpPr txBox="1"/>
          <p:nvPr/>
        </p:nvSpPr>
        <p:spPr>
          <a:xfrm>
            <a:off x="482210" y="3567777"/>
            <a:ext cx="1760247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示例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B4CCEDF6-DBFA-D0EA-CB24-B16A74D2300C}"/>
              </a:ext>
            </a:extLst>
          </p:cNvPr>
          <p:cNvSpPr/>
          <p:nvPr/>
        </p:nvSpPr>
        <p:spPr>
          <a:xfrm rot="5400000">
            <a:off x="1056941" y="4186398"/>
            <a:ext cx="556985" cy="576330"/>
          </a:xfrm>
          <a:prstGeom prst="rightArrow">
            <a:avLst/>
          </a:prstGeom>
          <a:solidFill>
            <a:schemeClr val="bg2">
              <a:lumMod val="85000"/>
              <a:lumOff val="15000"/>
            </a:schemeClr>
          </a:solidFill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131BBFB-3E68-2DD4-7C59-67D607843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6926" y="4912164"/>
            <a:ext cx="2978147" cy="176532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1071D53-1A24-D887-4CDD-EBBF8B4685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643"/>
          <a:stretch>
            <a:fillRect/>
          </a:stretch>
        </p:blipFill>
        <p:spPr>
          <a:xfrm>
            <a:off x="607957" y="4912711"/>
            <a:ext cx="3873223" cy="1765326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7D204602-67AB-202C-A448-C992B42517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06" y="4946886"/>
            <a:ext cx="4059670" cy="1742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47407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C2770-CE6B-F4B4-9D85-ADFDE1084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297984B-D4B1-BEE2-FA9A-5C3A65B77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38329C-6B09-8210-DCDA-259B2AEEE7E0}"/>
              </a:ext>
            </a:extLst>
          </p:cNvPr>
          <p:cNvSpPr txBox="1"/>
          <p:nvPr/>
        </p:nvSpPr>
        <p:spPr>
          <a:xfrm>
            <a:off x="515257" y="1094418"/>
            <a:ext cx="73805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3600" b="1" dirty="0">
                <a:solidFill>
                  <a:schemeClr val="accent2"/>
                </a:solidFill>
                <a:latin typeface="+mn-ea"/>
                <a:ea typeface="+mn-ea"/>
              </a:rPr>
              <a:t>函数返回值</a:t>
            </a:r>
            <a:endParaRPr lang="en-US" altLang="zh-CN" sz="36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63F480-B000-E3AE-A0E6-A842326BE159}"/>
              </a:ext>
            </a:extLst>
          </p:cNvPr>
          <p:cNvSpPr txBox="1"/>
          <p:nvPr/>
        </p:nvSpPr>
        <p:spPr>
          <a:xfrm>
            <a:off x="515257" y="1903247"/>
            <a:ext cx="742820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2"/>
                </a:solidFill>
                <a:latin typeface="+mn-ea"/>
                <a:ea typeface="+mn-ea"/>
              </a:rPr>
              <a:t>单返回值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sz="3200" dirty="0">
                <a:solidFill>
                  <a:schemeClr val="bg2"/>
                </a:solidFill>
                <a:latin typeface="+mn-ea"/>
                <a:ea typeface="+mn-ea"/>
              </a:rPr>
              <a:t>return result</a:t>
            </a:r>
          </a:p>
          <a:p>
            <a:pPr algn="l"/>
            <a:r>
              <a:rPr lang="zh-CN" altLang="en-US" sz="3200" b="1" dirty="0">
                <a:solidFill>
                  <a:schemeClr val="bg2"/>
                </a:solidFill>
                <a:latin typeface="+mn-ea"/>
                <a:ea typeface="+mn-ea"/>
              </a:rPr>
              <a:t>多返回值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：返回元组，自动解包</a:t>
            </a:r>
          </a:p>
        </p:txBody>
      </p:sp>
      <p:pic>
        <p:nvPicPr>
          <p:cNvPr id="10" name="Picture 9" descr="A black background with white text and numbers&#10;&#10;AI-generated content may be incorrect.">
            <a:extLst>
              <a:ext uri="{FF2B5EF4-FFF2-40B4-BE49-F238E27FC236}">
                <a16:creationId xmlns:a16="http://schemas.microsoft.com/office/drawing/2014/main" id="{9EE211B1-E2D1-536C-EBDE-F1BD66BCB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02" y="3429000"/>
            <a:ext cx="11362995" cy="275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28621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C903E-7671-17FA-9F15-C03F7BDE1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C5526F9-E76C-9D68-3BF6-42099A202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06F831-395E-A588-0658-D31DD7974716}"/>
              </a:ext>
            </a:extLst>
          </p:cNvPr>
          <p:cNvSpPr txBox="1"/>
          <p:nvPr/>
        </p:nvSpPr>
        <p:spPr>
          <a:xfrm>
            <a:off x="463393" y="1024795"/>
            <a:ext cx="80207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3600" b="1" dirty="0">
                <a:solidFill>
                  <a:schemeClr val="accent2"/>
                </a:solidFill>
                <a:latin typeface="+mn-ea"/>
                <a:ea typeface="+mn-ea"/>
              </a:rPr>
              <a:t>匿名函数</a:t>
            </a:r>
            <a:endParaRPr lang="en-US" altLang="zh-CN" sz="36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9A9660-8245-9219-CA05-0260E20BC25A}"/>
              </a:ext>
            </a:extLst>
          </p:cNvPr>
          <p:cNvSpPr txBox="1"/>
          <p:nvPr/>
        </p:nvSpPr>
        <p:spPr>
          <a:xfrm>
            <a:off x="463393" y="1855449"/>
            <a:ext cx="957323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2"/>
                </a:solidFill>
                <a:latin typeface="+mn-ea"/>
                <a:ea typeface="+mn-ea"/>
              </a:rPr>
              <a:t>语法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sz="3200" dirty="0">
                <a:solidFill>
                  <a:schemeClr val="bg2"/>
                </a:solidFill>
                <a:latin typeface="+mn-ea"/>
                <a:ea typeface="+mn-ea"/>
              </a:rPr>
              <a:t>lambda 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参数</a:t>
            </a:r>
            <a:r>
              <a:rPr lang="en-US" altLang="zh-CN" sz="3200" dirty="0">
                <a:solidFill>
                  <a:schemeClr val="bg2"/>
                </a:solidFill>
                <a:latin typeface="+mn-ea"/>
                <a:ea typeface="+mn-ea"/>
              </a:rPr>
              <a:t>: 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表达式</a:t>
            </a:r>
          </a:p>
          <a:p>
            <a:pPr algn="l"/>
            <a:r>
              <a:rPr lang="zh-CN" altLang="en-US" sz="3200" b="1" dirty="0">
                <a:solidFill>
                  <a:schemeClr val="bg2"/>
                </a:solidFill>
                <a:latin typeface="+mn-ea"/>
                <a:ea typeface="+mn-ea"/>
              </a:rPr>
              <a:t>适用场景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：简单逻辑、高阶函数参数</a:t>
            </a:r>
          </a:p>
        </p:txBody>
      </p:sp>
      <p:pic>
        <p:nvPicPr>
          <p:cNvPr id="5" name="Picture 4" descr="A black background with green and white text&#10;&#10;AI-generated content may be incorrect.">
            <a:extLst>
              <a:ext uri="{FF2B5EF4-FFF2-40B4-BE49-F238E27FC236}">
                <a16:creationId xmlns:a16="http://schemas.microsoft.com/office/drawing/2014/main" id="{22C37E78-90FB-E7C1-723C-6FEAC9AE2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052" y="3290757"/>
            <a:ext cx="10000634" cy="3105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118410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2A592-614A-C0AD-7841-91D0CD440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58E7B7A-0ADF-9CF8-5B9C-00EB26E2F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26"/>
            <a:ext cx="12191999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5BDA0A-CB6D-C7AF-C978-8BF4C2F3B344}"/>
              </a:ext>
            </a:extLst>
          </p:cNvPr>
          <p:cNvSpPr txBox="1"/>
          <p:nvPr/>
        </p:nvSpPr>
        <p:spPr>
          <a:xfrm>
            <a:off x="369052" y="967638"/>
            <a:ext cx="80207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3600" b="1" dirty="0">
                <a:solidFill>
                  <a:schemeClr val="accent2"/>
                </a:solidFill>
                <a:latin typeface="+mn-ea"/>
                <a:ea typeface="+mn-ea"/>
              </a:rPr>
              <a:t>递归函数：</a:t>
            </a:r>
            <a:r>
              <a:rPr lang="zh-CN" altLang="en-US" sz="3600" dirty="0">
                <a:solidFill>
                  <a:schemeClr val="bg2"/>
                </a:solidFill>
                <a:latin typeface="+mn-ea"/>
                <a:ea typeface="+mn-ea"/>
              </a:rPr>
              <a:t>调用自身函数的方法</a:t>
            </a:r>
            <a:endParaRPr lang="en-US" altLang="zh-CN" sz="36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9ECC1-FD08-5BCA-D032-F62CB02D7C14}"/>
              </a:ext>
            </a:extLst>
          </p:cNvPr>
          <p:cNvSpPr txBox="1"/>
          <p:nvPr/>
        </p:nvSpPr>
        <p:spPr>
          <a:xfrm>
            <a:off x="369052" y="1833285"/>
            <a:ext cx="704567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3600" b="1" dirty="0">
                <a:solidFill>
                  <a:schemeClr val="bg2"/>
                </a:solidFill>
                <a:latin typeface="+mn-ea"/>
                <a:ea typeface="+mn-ea"/>
              </a:rPr>
              <a:t>递归函数主要包含两部分</a:t>
            </a:r>
            <a:r>
              <a:rPr lang="zh-CN" altLang="en-US" sz="36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endParaRPr lang="en-US" altLang="zh-CN" sz="36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3200" b="1" dirty="0">
                <a:solidFill>
                  <a:schemeClr val="bg2"/>
                </a:solidFill>
                <a:latin typeface="+mn-ea"/>
                <a:ea typeface="+mn-ea"/>
              </a:rPr>
              <a:t>基线条件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：递归终止的条件；</a:t>
            </a:r>
            <a:endParaRPr lang="en-US" altLang="zh-CN" sz="32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3200" b="1" dirty="0">
                <a:solidFill>
                  <a:schemeClr val="bg2"/>
                </a:solidFill>
                <a:latin typeface="+mn-ea"/>
                <a:ea typeface="+mn-ea"/>
              </a:rPr>
              <a:t>递归条件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：函数调用自身的条件。</a:t>
            </a:r>
            <a:endParaRPr lang="en-US" altLang="zh-CN" sz="32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3E551BF-445A-D584-949B-C493CA6D96D7}"/>
              </a:ext>
            </a:extLst>
          </p:cNvPr>
          <p:cNvGrpSpPr/>
          <p:nvPr/>
        </p:nvGrpSpPr>
        <p:grpSpPr>
          <a:xfrm>
            <a:off x="5023574" y="4327058"/>
            <a:ext cx="7045675" cy="2223053"/>
            <a:chOff x="5023574" y="4327058"/>
            <a:chExt cx="7045675" cy="2223053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4B41D3B2-CEF9-0AA1-E774-E15C0C79DA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23574" y="4327058"/>
              <a:ext cx="7045675" cy="222305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28DB233-A4B3-AE96-02A1-7398870AF2BF}"/>
                </a:ext>
              </a:extLst>
            </p:cNvPr>
            <p:cNvSpPr/>
            <p:nvPr/>
          </p:nvSpPr>
          <p:spPr>
            <a:xfrm>
              <a:off x="5457372" y="5039270"/>
              <a:ext cx="2155372" cy="461664"/>
            </a:xfrm>
            <a:prstGeom prst="rect">
              <a:avLst/>
            </a:prstGeom>
            <a:noFill/>
            <a:ln w="38100">
              <a:solidFill>
                <a:srgbClr val="FF00DF"/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l"/>
              <a:endParaRPr lang="en-CN" b="1" dirty="0">
                <a:solidFill>
                  <a:srgbClr val="FF0000"/>
                </a:solidFill>
                <a:latin typeface="+mj-ea"/>
                <a:ea typeface="+mj-ea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B200A41-1CA0-AF5C-77E7-C987B042295D}"/>
                </a:ext>
              </a:extLst>
            </p:cNvPr>
            <p:cNvSpPr txBox="1"/>
            <p:nvPr/>
          </p:nvSpPr>
          <p:spPr>
            <a:xfrm>
              <a:off x="8008006" y="5011656"/>
              <a:ext cx="16629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CN" dirty="0">
                  <a:solidFill>
                    <a:srgbClr val="FF00DF"/>
                  </a:solidFill>
                  <a:latin typeface="+mj-ea"/>
                  <a:ea typeface="+mj-ea"/>
                </a:rPr>
                <a:t>基线条件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8D492B7-FE46-F4F0-804E-338BD5233C5E}"/>
                </a:ext>
              </a:extLst>
            </p:cNvPr>
            <p:cNvSpPr txBox="1"/>
            <p:nvPr/>
          </p:nvSpPr>
          <p:spPr>
            <a:xfrm>
              <a:off x="7104156" y="5786629"/>
              <a:ext cx="17568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CN" dirty="0">
                  <a:solidFill>
                    <a:srgbClr val="00B050"/>
                  </a:solidFill>
                  <a:latin typeface="+mj-ea"/>
                  <a:ea typeface="+mj-ea"/>
                </a:rPr>
                <a:t>递归条件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FE8CC5E-3AF7-5F91-A9AD-BE35862F1672}"/>
                </a:ext>
              </a:extLst>
            </p:cNvPr>
            <p:cNvSpPr/>
            <p:nvPr/>
          </p:nvSpPr>
          <p:spPr>
            <a:xfrm>
              <a:off x="5457894" y="5757601"/>
              <a:ext cx="1436915" cy="477786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l"/>
              <a:endParaRPr lang="en-CN" b="1" dirty="0">
                <a:solidFill>
                  <a:schemeClr val="accent3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67C743E6-15AF-4BE7-B76F-142392CC441C}"/>
              </a:ext>
            </a:extLst>
          </p:cNvPr>
          <p:cNvSpPr txBox="1"/>
          <p:nvPr/>
        </p:nvSpPr>
        <p:spPr>
          <a:xfrm>
            <a:off x="389629" y="4376212"/>
            <a:ext cx="3506249" cy="2123658"/>
          </a:xfrm>
          <a:prstGeom prst="rect">
            <a:avLst/>
          </a:prstGeom>
          <a:noFill/>
          <a:ln w="28575">
            <a:solidFill>
              <a:srgbClr val="0000CC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斐波那契数列：</a:t>
            </a:r>
            <a:endParaRPr lang="en-US" altLang="zh-CN" b="1" dirty="0">
              <a:solidFill>
                <a:srgbClr val="FF0000"/>
              </a:solidFill>
              <a:latin typeface="+mn-ea"/>
              <a:ea typeface="+mn-ea"/>
            </a:endParaRPr>
          </a:p>
          <a:p>
            <a:pPr algn="l"/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F(0) = 0</a:t>
            </a:r>
          </a:p>
          <a:p>
            <a:pPr algn="l"/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F(1) = 1</a:t>
            </a:r>
          </a:p>
          <a:p>
            <a:pPr algn="l"/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F(n) = F(n-1) + F(n-2)</a:t>
            </a:r>
            <a:endParaRPr lang="zh-CN" altLang="en-US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6380F129-0556-78F3-66AD-B40B8C9F9040}"/>
              </a:ext>
            </a:extLst>
          </p:cNvPr>
          <p:cNvSpPr/>
          <p:nvPr/>
        </p:nvSpPr>
        <p:spPr>
          <a:xfrm>
            <a:off x="4013199" y="5140339"/>
            <a:ext cx="926379" cy="595405"/>
          </a:xfrm>
          <a:prstGeom prst="rightArrow">
            <a:avLst/>
          </a:prstGeom>
          <a:noFill/>
          <a:ln w="28575">
            <a:solidFill>
              <a:srgbClr val="FF00DF"/>
            </a:solidFill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24830660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538CF-5453-C971-C110-4D74AC609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8C3C4E0-E845-62E0-EDE3-DB4CB7CDC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sz="4000" dirty="0">
                <a:latin typeface="+mn-ea"/>
              </a:rPr>
              <a:t>一、</a:t>
            </a:r>
            <a:r>
              <a:rPr lang="en-US" altLang="zh-CN" sz="4000" dirty="0">
                <a:latin typeface="+mn-ea"/>
              </a:rPr>
              <a:t>Python</a:t>
            </a:r>
            <a:r>
              <a:rPr lang="zh-CN" altLang="en-US" sz="4000" dirty="0">
                <a:latin typeface="微软雅黑" pitchFamily="34" charset="-122"/>
                <a:ea typeface="微软雅黑" pitchFamily="34" charset="-122"/>
              </a:rPr>
              <a:t>函数</a:t>
            </a:r>
            <a:endParaRPr lang="zh-CN" altLang="en-US"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15386D-7324-4F34-CC8B-0F504A25F80A}"/>
              </a:ext>
            </a:extLst>
          </p:cNvPr>
          <p:cNvSpPr txBox="1"/>
          <p:nvPr/>
        </p:nvSpPr>
        <p:spPr>
          <a:xfrm>
            <a:off x="246741" y="938418"/>
            <a:ext cx="6381450" cy="4518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4000" b="1" dirty="0">
                <a:solidFill>
                  <a:schemeClr val="accent2"/>
                </a:solidFill>
                <a:latin typeface="+mn-ea"/>
                <a:ea typeface="+mn-ea"/>
              </a:rPr>
              <a:t>函数的装饰器语法</a:t>
            </a:r>
            <a:endParaRPr lang="en-US" altLang="zh-CN" sz="40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3600" dirty="0">
                <a:solidFill>
                  <a:schemeClr val="bg2"/>
                </a:solidFill>
                <a:latin typeface="+mn-ea"/>
                <a:ea typeface="+mn-ea"/>
              </a:rPr>
              <a:t>装饰器是</a:t>
            </a:r>
            <a:r>
              <a:rPr lang="zh-CN" altLang="en-US" sz="3600" b="1" dirty="0">
                <a:solidFill>
                  <a:schemeClr val="bg2"/>
                </a:solidFill>
                <a:latin typeface="+mn-ea"/>
                <a:ea typeface="+mn-ea"/>
              </a:rPr>
              <a:t>修改或扩展函数功能</a:t>
            </a:r>
            <a:r>
              <a:rPr lang="zh-CN" altLang="en-US" sz="3600" dirty="0">
                <a:solidFill>
                  <a:schemeClr val="bg2"/>
                </a:solidFill>
                <a:latin typeface="+mn-ea"/>
                <a:ea typeface="+mn-ea"/>
              </a:rPr>
              <a:t>的一种方式，通常用于增强代码的可读性和复用性、日志记录、权限控制等任务。</a:t>
            </a:r>
            <a:endParaRPr lang="en-US" altLang="zh-CN" sz="36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AE08F48-E5E7-FD81-A97D-4663E29C1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8191" y="938418"/>
            <a:ext cx="5317553" cy="1807776"/>
          </a:xfrm>
          <a:prstGeom prst="rect">
            <a:avLst/>
          </a:prstGeom>
          <a:ln w="12700">
            <a:solidFill>
              <a:schemeClr val="bg2"/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371BD0E-9C61-DCD6-9362-4BBAEC1566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7955" y="2812463"/>
            <a:ext cx="4850100" cy="1909123"/>
          </a:xfrm>
          <a:prstGeom prst="rect">
            <a:avLst/>
          </a:prstGeom>
          <a:ln w="12700">
            <a:solidFill>
              <a:schemeClr val="bg2"/>
            </a:solidFill>
          </a:ln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1981528-DCC3-298E-CFF7-2B3D20D9BC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7955" y="4790008"/>
            <a:ext cx="4850100" cy="1990280"/>
          </a:xfrm>
          <a:prstGeom prst="rect">
            <a:avLst/>
          </a:prstGeom>
          <a:ln w="12700"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141366588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7B4E3-FC76-3BD7-FB86-4E588AF0E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6BFABF4-A7E4-19A0-E8ED-C81944248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20C777-DB56-581F-2E86-B3DA95296857}"/>
              </a:ext>
            </a:extLst>
          </p:cNvPr>
          <p:cNvSpPr txBox="1"/>
          <p:nvPr/>
        </p:nvSpPr>
        <p:spPr>
          <a:xfrm>
            <a:off x="283029" y="1000472"/>
            <a:ext cx="5588000" cy="4950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3600" b="1" dirty="0">
                <a:solidFill>
                  <a:schemeClr val="accent2"/>
                </a:solidFill>
                <a:latin typeface="+mn-ea"/>
                <a:ea typeface="+mn-ea"/>
              </a:rPr>
              <a:t>特殊类型函数：生成器</a:t>
            </a:r>
            <a:endParaRPr lang="en-US" altLang="zh-CN" sz="36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3000" dirty="0">
                <a:solidFill>
                  <a:schemeClr val="bg2"/>
                </a:solidFill>
                <a:latin typeface="+mn-ea"/>
                <a:ea typeface="+mn-ea"/>
              </a:rPr>
              <a:t>当需要处理大量列表元素，</a:t>
            </a:r>
            <a:r>
              <a:rPr lang="zh-CN" altLang="en-US" sz="3000" b="1" dirty="0">
                <a:solidFill>
                  <a:schemeClr val="bg2"/>
                </a:solidFill>
                <a:latin typeface="+mn-ea"/>
                <a:ea typeface="+mn-ea"/>
              </a:rPr>
              <a:t>为了节省内存占用</a:t>
            </a:r>
            <a:r>
              <a:rPr lang="zh-CN" altLang="en-US" sz="3000" dirty="0">
                <a:solidFill>
                  <a:schemeClr val="bg2"/>
                </a:solidFill>
                <a:latin typeface="+mn-ea"/>
                <a:ea typeface="+mn-ea"/>
              </a:rPr>
              <a:t>，我们不会将所有元素进行一次性生成，而是通过算法在需要使用时才生成特定元素。这种边循环边计算的机制，称为生成器（</a:t>
            </a:r>
            <a:r>
              <a:rPr lang="en-US" sz="3000" dirty="0">
                <a:solidFill>
                  <a:schemeClr val="bg2"/>
                </a:solidFill>
                <a:latin typeface="+mn-ea"/>
                <a:ea typeface="+mn-ea"/>
              </a:rPr>
              <a:t>generator）</a:t>
            </a:r>
            <a:r>
              <a:rPr lang="zh-CN" altLang="en-US" sz="3000" dirty="0">
                <a:solidFill>
                  <a:schemeClr val="bg2"/>
                </a:solidFill>
                <a:latin typeface="+mn-ea"/>
                <a:ea typeface="+mn-ea"/>
              </a:rPr>
              <a:t>。</a:t>
            </a:r>
            <a:endParaRPr lang="en-CN" sz="30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DD77E1-C5F6-F01F-B127-E4F9C1C751E4}"/>
              </a:ext>
            </a:extLst>
          </p:cNvPr>
          <p:cNvSpPr txBox="1"/>
          <p:nvPr/>
        </p:nvSpPr>
        <p:spPr>
          <a:xfrm>
            <a:off x="5871029" y="5740399"/>
            <a:ext cx="6103256" cy="1048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rgbClr val="404040"/>
                </a:solidFill>
                <a:latin typeface="+mn-ea"/>
                <a:ea typeface="+mn-ea"/>
              </a:rPr>
              <a:t>生成器通常由两种方式生成，用小括号</a:t>
            </a:r>
            <a:r>
              <a:rPr lang="en-US" altLang="zh-CN" sz="2200" dirty="0">
                <a:solidFill>
                  <a:srgbClr val="404040"/>
                </a:solidFill>
                <a:latin typeface="+mn-ea"/>
                <a:ea typeface="+mn-ea"/>
              </a:rPr>
              <a:t>()</a:t>
            </a:r>
            <a:r>
              <a:rPr lang="zh-CN" altLang="en-US" sz="2200" dirty="0">
                <a:solidFill>
                  <a:srgbClr val="404040"/>
                </a:solidFill>
                <a:latin typeface="+mn-ea"/>
                <a:ea typeface="+mn-ea"/>
              </a:rPr>
              <a:t>表示的生成器表达式和生成器关键字</a:t>
            </a:r>
            <a:r>
              <a:rPr lang="en-US" altLang="zh-CN" sz="2200" dirty="0">
                <a:solidFill>
                  <a:srgbClr val="404040"/>
                </a:solidFill>
                <a:latin typeface="+mn-ea"/>
                <a:ea typeface="+mn-ea"/>
              </a:rPr>
              <a:t>yield</a:t>
            </a:r>
            <a:r>
              <a:rPr lang="en-US" sz="2200" dirty="0">
                <a:solidFill>
                  <a:srgbClr val="404040"/>
                </a:solidFill>
                <a:latin typeface="+mn-ea"/>
                <a:ea typeface="+mn-ea"/>
              </a:rPr>
              <a:t>。</a:t>
            </a:r>
            <a:endParaRPr lang="en-CN" sz="2200" dirty="0">
              <a:latin typeface="+mn-ea"/>
              <a:ea typeface="+mn-ea"/>
            </a:endParaRPr>
          </a:p>
        </p:txBody>
      </p:sp>
      <p:pic>
        <p:nvPicPr>
          <p:cNvPr id="8" name="Picture 7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9AFB11A3-C433-2E9A-0AED-67F76F996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0686" y="1344956"/>
            <a:ext cx="5479143" cy="4261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96390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1C16E-EDB4-E193-2C7D-5F81CE5C7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3F6E130-41A8-D5C5-30C0-18A02127E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8FC523-CC19-B56A-03E8-4B1295A5B44F}"/>
              </a:ext>
            </a:extLst>
          </p:cNvPr>
          <p:cNvSpPr txBox="1"/>
          <p:nvPr/>
        </p:nvSpPr>
        <p:spPr>
          <a:xfrm>
            <a:off x="438671" y="1215683"/>
            <a:ext cx="5355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3600" b="1" dirty="0">
                <a:solidFill>
                  <a:schemeClr val="accent2"/>
                </a:solidFill>
                <a:latin typeface="+mn-ea"/>
                <a:ea typeface="+mn-ea"/>
              </a:rPr>
              <a:t>Python</a:t>
            </a:r>
            <a:r>
              <a:rPr lang="zh-CN" altLang="en-US" sz="3600" b="1" dirty="0">
                <a:solidFill>
                  <a:schemeClr val="accent2"/>
                </a:solidFill>
                <a:latin typeface="+mn-ea"/>
                <a:ea typeface="+mn-ea"/>
              </a:rPr>
              <a:t>内置函数</a:t>
            </a:r>
            <a:endParaRPr lang="en-US" altLang="zh-CN" sz="36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767467-845C-C150-F7FD-964D2DBA8DF2}"/>
              </a:ext>
            </a:extLst>
          </p:cNvPr>
          <p:cNvSpPr txBox="1"/>
          <p:nvPr/>
        </p:nvSpPr>
        <p:spPr>
          <a:xfrm>
            <a:off x="928179" y="2277009"/>
            <a:ext cx="10850163" cy="336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4000" b="1" dirty="0">
                <a:solidFill>
                  <a:schemeClr val="bg1"/>
                </a:solidFill>
                <a:latin typeface="+mn-ea"/>
                <a:ea typeface="+mn-ea"/>
              </a:rPr>
              <a:t>print(),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   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ea typeface="+mn-ea"/>
              </a:rPr>
              <a:t>Input(),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  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ea typeface="+mn-ea"/>
              </a:rPr>
              <a:t>range(),         type()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， </a:t>
            </a:r>
            <a:endParaRPr lang="en-US" altLang="zh-CN" sz="4000" b="1" dirty="0">
              <a:solidFill>
                <a:schemeClr val="bg1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4000" b="1" dirty="0">
                <a:solidFill>
                  <a:schemeClr val="bg1"/>
                </a:solidFill>
                <a:latin typeface="+mn-ea"/>
                <a:ea typeface="+mn-ea"/>
              </a:rPr>
              <a:t>float(),   int(),       enumerate(), list(), </a:t>
            </a:r>
          </a:p>
          <a:p>
            <a:pPr algn="just">
              <a:lnSpc>
                <a:spcPct val="150000"/>
              </a:lnSpc>
            </a:pPr>
            <a:r>
              <a:rPr lang="en-US" altLang="zh-CN" sz="4000" b="1" dirty="0" err="1">
                <a:solidFill>
                  <a:schemeClr val="bg1"/>
                </a:solidFill>
                <a:latin typeface="+mn-ea"/>
                <a:ea typeface="+mn-ea"/>
              </a:rPr>
              <a:t>len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ea typeface="+mn-ea"/>
              </a:rPr>
              <a:t>(),      abs(),      round(),        zip()</a:t>
            </a:r>
            <a:endParaRPr lang="en-CN" altLang="zh-CN" sz="4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90331161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3471863"/>
            <a:ext cx="12192000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4222" y="3868892"/>
            <a:ext cx="1167074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400" b="1" dirty="0">
                <a:latin typeface="微软雅黑" pitchFamily="34" charset="-122"/>
                <a:ea typeface="微软雅黑" pitchFamily="34" charset="-122"/>
              </a:rPr>
              <a:t>二、</a:t>
            </a:r>
            <a:r>
              <a:rPr lang="en-US" altLang="zh-CN" sz="4400" b="1" dirty="0"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sz="4400" b="1" dirty="0">
                <a:latin typeface="微软雅黑" pitchFamily="34" charset="-122"/>
                <a:ea typeface="微软雅黑" pitchFamily="34" charset="-122"/>
              </a:rPr>
              <a:t>模块与包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5014912"/>
            <a:ext cx="12192000" cy="72000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1122590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CD30D-0F5D-EF46-4DE7-92C4B826D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43785E7-C92C-7536-CEE1-325362310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二、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模块与包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D9B7FF-E4E2-4679-CAF2-ED6C24B5BA13}"/>
              </a:ext>
            </a:extLst>
          </p:cNvPr>
          <p:cNvSpPr txBox="1"/>
          <p:nvPr/>
        </p:nvSpPr>
        <p:spPr>
          <a:xfrm>
            <a:off x="300396" y="1112586"/>
            <a:ext cx="6358388" cy="5539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模块概念</a:t>
            </a:r>
            <a:r>
              <a:rPr lang="zh-CN" altLang="en-US" sz="36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en-US" sz="3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为了编写可重复使用的代码，通常把代码按功能分类，分别放在不同的</a:t>
            </a:r>
            <a:r>
              <a:rPr lang="en-US" altLang="zh-CN" sz="3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lang="en-US" altLang="zh-CN" sz="340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</a:t>
            </a:r>
            <a:r>
              <a:rPr lang="zh-CN" altLang="en-US" sz="3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文件里，使得单个文件中代码相对较少。该</a:t>
            </a:r>
            <a:r>
              <a:rPr lang="en-US" altLang="zh-CN" sz="3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lang="en-US" sz="340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</a:t>
            </a:r>
            <a:r>
              <a:rPr lang="zh-CN" altLang="en-US" sz="3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文件就称之为一个模块 （</a:t>
            </a:r>
            <a:r>
              <a:rPr lang="en-US" sz="3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module）。</a:t>
            </a:r>
            <a:r>
              <a:rPr lang="zh-CN" altLang="en-US" sz="3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模块可包含函数，类和变量。</a:t>
            </a:r>
            <a:endParaRPr lang="en-US" altLang="zh-CN" sz="3400" b="1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634F49E-FF07-A664-8A5E-05AFA1967718}"/>
              </a:ext>
            </a:extLst>
          </p:cNvPr>
          <p:cNvGrpSpPr/>
          <p:nvPr/>
        </p:nvGrpSpPr>
        <p:grpSpPr>
          <a:xfrm>
            <a:off x="6661146" y="1389628"/>
            <a:ext cx="5380549" cy="5075343"/>
            <a:chOff x="6980461" y="1346085"/>
            <a:chExt cx="5380549" cy="5075343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0218578E-CA0A-9C5C-9F91-A4863967C81D}"/>
                </a:ext>
              </a:extLst>
            </p:cNvPr>
            <p:cNvGrpSpPr/>
            <p:nvPr/>
          </p:nvGrpSpPr>
          <p:grpSpPr>
            <a:xfrm>
              <a:off x="7097485" y="1346085"/>
              <a:ext cx="5172526" cy="4581270"/>
              <a:chOff x="4911219" y="2293825"/>
              <a:chExt cx="4220421" cy="4255083"/>
            </a:xfrm>
          </p:grpSpPr>
          <p:grpSp>
            <p:nvGrpSpPr>
              <p:cNvPr id="5" name="组合 4">
                <a:extLst>
                  <a:ext uri="{FF2B5EF4-FFF2-40B4-BE49-F238E27FC236}">
                    <a16:creationId xmlns:a16="http://schemas.microsoft.com/office/drawing/2014/main" id="{9ABBEE5A-6CE2-4962-BB31-CCA22F395E97}"/>
                  </a:ext>
                </a:extLst>
              </p:cNvPr>
              <p:cNvGrpSpPr/>
              <p:nvPr/>
            </p:nvGrpSpPr>
            <p:grpSpPr>
              <a:xfrm>
                <a:off x="4911219" y="2293825"/>
                <a:ext cx="1227786" cy="880817"/>
                <a:chOff x="4916892" y="2293825"/>
                <a:chExt cx="1521854" cy="1030310"/>
              </a:xfrm>
            </p:grpSpPr>
            <p:sp>
              <p:nvSpPr>
                <p:cNvPr id="22" name="流程图: 文档 21">
                  <a:extLst>
                    <a:ext uri="{FF2B5EF4-FFF2-40B4-BE49-F238E27FC236}">
                      <a16:creationId xmlns:a16="http://schemas.microsoft.com/office/drawing/2014/main" id="{F50E73A3-1F20-2D86-ADE6-7E1017055533}"/>
                    </a:ext>
                  </a:extLst>
                </p:cNvPr>
                <p:cNvSpPr/>
                <p:nvPr/>
              </p:nvSpPr>
              <p:spPr>
                <a:xfrm>
                  <a:off x="4916892" y="2293825"/>
                  <a:ext cx="1521854" cy="1030310"/>
                </a:xfrm>
                <a:prstGeom prst="flowChartDocument">
                  <a:avLst/>
                </a:prstGeom>
                <a:solidFill>
                  <a:schemeClr val="accent6"/>
                </a:solidFill>
              </p:spPr>
              <p:txBody>
                <a:bodyPr wrap="square" lIns="0" rtlCol="0" anchor="ctr">
                  <a:noAutofit/>
                </a:bodyPr>
                <a:lstStyle/>
                <a:p>
                  <a:pPr algn="l"/>
                  <a:endParaRPr lang="zh-CN" altLang="en-US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4CF56CF6-6A7D-3B73-080A-D134C1C9B8CA}"/>
                    </a:ext>
                  </a:extLst>
                </p:cNvPr>
                <p:cNvSpPr/>
                <p:nvPr/>
              </p:nvSpPr>
              <p:spPr>
                <a:xfrm>
                  <a:off x="5158376" y="2467689"/>
                  <a:ext cx="1143911" cy="57311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8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函数</a:t>
                  </a:r>
                </a:p>
              </p:txBody>
            </p:sp>
          </p:grpSp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6C7C3C16-1634-399C-A158-2AF39E25395B}"/>
                  </a:ext>
                </a:extLst>
              </p:cNvPr>
              <p:cNvGrpSpPr/>
              <p:nvPr/>
            </p:nvGrpSpPr>
            <p:grpSpPr>
              <a:xfrm>
                <a:off x="6398654" y="2293825"/>
                <a:ext cx="1227786" cy="880817"/>
                <a:chOff x="6591837" y="2293825"/>
                <a:chExt cx="1521854" cy="1030310"/>
              </a:xfrm>
            </p:grpSpPr>
            <p:sp>
              <p:nvSpPr>
                <p:cNvPr id="20" name="流程图: 文档 19">
                  <a:extLst>
                    <a:ext uri="{FF2B5EF4-FFF2-40B4-BE49-F238E27FC236}">
                      <a16:creationId xmlns:a16="http://schemas.microsoft.com/office/drawing/2014/main" id="{7F594C22-1E69-C6FF-C971-030A01134E8F}"/>
                    </a:ext>
                  </a:extLst>
                </p:cNvPr>
                <p:cNvSpPr/>
                <p:nvPr/>
              </p:nvSpPr>
              <p:spPr>
                <a:xfrm>
                  <a:off x="6591837" y="2293825"/>
                  <a:ext cx="1521854" cy="1030310"/>
                </a:xfrm>
                <a:prstGeom prst="flowChartDocument">
                  <a:avLst/>
                </a:prstGeom>
                <a:solidFill>
                  <a:schemeClr val="accent6"/>
                </a:solidFill>
              </p:spPr>
              <p:txBody>
                <a:bodyPr wrap="square" lIns="0" rtlCol="0" anchor="ctr">
                  <a:noAutofit/>
                </a:bodyPr>
                <a:lstStyle/>
                <a:p>
                  <a:pPr algn="l"/>
                  <a:endParaRPr lang="zh-CN" altLang="en-US" sz="1800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54D9E802-8090-B795-1453-44B9C42E0CDF}"/>
                    </a:ext>
                  </a:extLst>
                </p:cNvPr>
                <p:cNvSpPr/>
                <p:nvPr/>
              </p:nvSpPr>
              <p:spPr>
                <a:xfrm>
                  <a:off x="6793407" y="2467688"/>
                  <a:ext cx="1143911" cy="5731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8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类</a:t>
                  </a:r>
                </a:p>
              </p:txBody>
            </p:sp>
          </p:grpSp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F45E1923-FDA7-108C-C0A5-2582A420C899}"/>
                  </a:ext>
                </a:extLst>
              </p:cNvPr>
              <p:cNvGrpSpPr/>
              <p:nvPr/>
            </p:nvGrpSpPr>
            <p:grpSpPr>
              <a:xfrm>
                <a:off x="7903854" y="2293825"/>
                <a:ext cx="1227786" cy="880817"/>
                <a:chOff x="8288803" y="2295211"/>
                <a:chExt cx="1521854" cy="1030310"/>
              </a:xfrm>
            </p:grpSpPr>
            <p:sp>
              <p:nvSpPr>
                <p:cNvPr id="18" name="流程图: 文档 17">
                  <a:extLst>
                    <a:ext uri="{FF2B5EF4-FFF2-40B4-BE49-F238E27FC236}">
                      <a16:creationId xmlns:a16="http://schemas.microsoft.com/office/drawing/2014/main" id="{A2D47F6F-91A8-3219-1715-B91FB82BCE89}"/>
                    </a:ext>
                  </a:extLst>
                </p:cNvPr>
                <p:cNvSpPr/>
                <p:nvPr/>
              </p:nvSpPr>
              <p:spPr>
                <a:xfrm>
                  <a:off x="8288803" y="2295211"/>
                  <a:ext cx="1521854" cy="1030310"/>
                </a:xfrm>
                <a:prstGeom prst="flowChartDocument">
                  <a:avLst/>
                </a:prstGeom>
                <a:solidFill>
                  <a:schemeClr val="accent6"/>
                </a:solidFill>
              </p:spPr>
              <p:txBody>
                <a:bodyPr wrap="square" lIns="0" rtlCol="0" anchor="ctr">
                  <a:noAutofit/>
                </a:bodyPr>
                <a:lstStyle/>
                <a:p>
                  <a:pPr algn="l"/>
                  <a:endParaRPr lang="zh-CN" altLang="en-US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91DD97E5-157B-5283-21CE-A6AD47AE44EC}"/>
                    </a:ext>
                  </a:extLst>
                </p:cNvPr>
                <p:cNvSpPr/>
                <p:nvPr/>
              </p:nvSpPr>
              <p:spPr>
                <a:xfrm>
                  <a:off x="8530281" y="2469075"/>
                  <a:ext cx="1143911" cy="5731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4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其他代码</a:t>
                  </a:r>
                </a:p>
              </p:txBody>
            </p:sp>
          </p:grp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1E20D218-04C8-2A08-5326-E60F3BAF69C6}"/>
                  </a:ext>
                </a:extLst>
              </p:cNvPr>
              <p:cNvGrpSpPr/>
              <p:nvPr/>
            </p:nvGrpSpPr>
            <p:grpSpPr>
              <a:xfrm>
                <a:off x="5661467" y="3715556"/>
                <a:ext cx="2702160" cy="2833352"/>
                <a:chOff x="5546758" y="3683359"/>
                <a:chExt cx="2702160" cy="2833352"/>
              </a:xfrm>
            </p:grpSpPr>
            <p:sp>
              <p:nvSpPr>
                <p:cNvPr id="13" name="流程图: 文档 12">
                  <a:extLst>
                    <a:ext uri="{FF2B5EF4-FFF2-40B4-BE49-F238E27FC236}">
                      <a16:creationId xmlns:a16="http://schemas.microsoft.com/office/drawing/2014/main" id="{7D9CE801-4E55-0E88-8BE8-7A27AB6C1D22}"/>
                    </a:ext>
                  </a:extLst>
                </p:cNvPr>
                <p:cNvSpPr/>
                <p:nvPr/>
              </p:nvSpPr>
              <p:spPr>
                <a:xfrm>
                  <a:off x="5546758" y="3683359"/>
                  <a:ext cx="2702160" cy="2833352"/>
                </a:xfrm>
                <a:prstGeom prst="flowChartDocument">
                  <a:avLst/>
                </a:prstGeom>
                <a:solidFill>
                  <a:srgbClr val="C3E8CC"/>
                </a:solidFill>
              </p:spPr>
              <p:txBody>
                <a:bodyPr wrap="square" lIns="0" rtlCol="0" anchor="ctr">
                  <a:noAutofit/>
                </a:bodyPr>
                <a:lstStyle/>
                <a:p>
                  <a:pPr algn="l"/>
                  <a:endParaRPr lang="zh-CN" altLang="en-US" b="1" dirty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4" name="椭圆 13">
                  <a:extLst>
                    <a:ext uri="{FF2B5EF4-FFF2-40B4-BE49-F238E27FC236}">
                      <a16:creationId xmlns:a16="http://schemas.microsoft.com/office/drawing/2014/main" id="{68AC5394-1485-277F-71D0-95BBD078DFA2}"/>
                    </a:ext>
                  </a:extLst>
                </p:cNvPr>
                <p:cNvSpPr/>
                <p:nvPr/>
              </p:nvSpPr>
              <p:spPr>
                <a:xfrm>
                  <a:off x="6421321" y="4159649"/>
                  <a:ext cx="985552" cy="58654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8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函数</a:t>
                  </a:r>
                </a:p>
              </p:txBody>
            </p:sp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id="{EDE924F0-FEEE-A8DD-C9EC-6855861DCF68}"/>
                    </a:ext>
                  </a:extLst>
                </p:cNvPr>
                <p:cNvSpPr/>
                <p:nvPr/>
              </p:nvSpPr>
              <p:spPr>
                <a:xfrm>
                  <a:off x="6422841" y="4835348"/>
                  <a:ext cx="985552" cy="58654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8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类</a:t>
                  </a:r>
                </a:p>
              </p:txBody>
            </p:sp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709B5B47-7F00-81C7-130A-B475271FAD63}"/>
                    </a:ext>
                  </a:extLst>
                </p:cNvPr>
                <p:cNvSpPr/>
                <p:nvPr/>
              </p:nvSpPr>
              <p:spPr>
                <a:xfrm>
                  <a:off x="6421320" y="5512160"/>
                  <a:ext cx="985552" cy="58654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6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其他代码</a:t>
                  </a:r>
                </a:p>
              </p:txBody>
            </p:sp>
          </p:grp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77102147-8B5B-CF9F-B29D-B40751FA2949}"/>
                  </a:ext>
                </a:extLst>
              </p:cNvPr>
              <p:cNvSpPr/>
              <p:nvPr/>
            </p:nvSpPr>
            <p:spPr>
              <a:xfrm>
                <a:off x="5661467" y="3715556"/>
                <a:ext cx="2702160" cy="398918"/>
              </a:xfrm>
              <a:prstGeom prst="rect">
                <a:avLst/>
              </a:prstGeom>
              <a:solidFill>
                <a:srgbClr val="FFCC99"/>
              </a:solidFill>
            </p:spPr>
            <p:txBody>
              <a:bodyPr wrap="square" lIns="0" rtlCol="0" anchor="ctr">
                <a:noAutofit/>
              </a:bodyPr>
              <a:lstStyle/>
              <a:p>
                <a:pPr algn="l"/>
                <a:r>
                  <a:rPr lang="zh-CN" altLang="en-US" sz="2000" b="1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 模块</a:t>
                </a:r>
                <a:r>
                  <a:rPr lang="en-US" altLang="zh-CN" sz="2000" b="1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.</a:t>
                </a:r>
                <a:r>
                  <a:rPr lang="en-US" altLang="zh-CN" sz="2000" b="1" dirty="0" err="1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py</a:t>
                </a:r>
                <a:endParaRPr lang="zh-CN" altLang="en-US" sz="2000" b="1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cxnSp>
            <p:nvCxnSpPr>
              <p:cNvPr id="10" name="连接符: 肘形 9">
                <a:extLst>
                  <a:ext uri="{FF2B5EF4-FFF2-40B4-BE49-F238E27FC236}">
                    <a16:creationId xmlns:a16="http://schemas.microsoft.com/office/drawing/2014/main" id="{47304888-2486-09E8-70AA-498193C0CCB4}"/>
                  </a:ext>
                </a:extLst>
              </p:cNvPr>
              <p:cNvCxnSpPr>
                <a:stCxn id="22" idx="2"/>
                <a:endCxn id="9" idx="0"/>
              </p:cNvCxnSpPr>
              <p:nvPr/>
            </p:nvCxnSpPr>
            <p:spPr bwMode="auto">
              <a:xfrm rot="16200000" flipH="1">
                <a:off x="5969257" y="2672264"/>
                <a:ext cx="599146" cy="1487435"/>
              </a:xfrm>
              <a:prstGeom prst="bentConnector3">
                <a:avLst/>
              </a:prstGeom>
              <a:noFill/>
              <a:ln w="285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1" name="连接符: 肘形 10">
                <a:extLst>
                  <a:ext uri="{FF2B5EF4-FFF2-40B4-BE49-F238E27FC236}">
                    <a16:creationId xmlns:a16="http://schemas.microsoft.com/office/drawing/2014/main" id="{DBD0C748-C8AB-3591-B5D0-F8DE2BD1AEF2}"/>
                  </a:ext>
                </a:extLst>
              </p:cNvPr>
              <p:cNvCxnSpPr>
                <a:cxnSpLocks/>
                <a:stCxn id="18" idx="2"/>
                <a:endCxn id="9" idx="0"/>
              </p:cNvCxnSpPr>
              <p:nvPr/>
            </p:nvCxnSpPr>
            <p:spPr bwMode="auto">
              <a:xfrm rot="5400000">
                <a:off x="7465575" y="2663383"/>
                <a:ext cx="599146" cy="1505200"/>
              </a:xfrm>
              <a:prstGeom prst="bentConnector3">
                <a:avLst>
                  <a:gd name="adj1" fmla="val 50000"/>
                </a:avLst>
              </a:prstGeom>
              <a:noFill/>
              <a:ln w="285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2" name="直接箭头连接符 11">
                <a:extLst>
                  <a:ext uri="{FF2B5EF4-FFF2-40B4-BE49-F238E27FC236}">
                    <a16:creationId xmlns:a16="http://schemas.microsoft.com/office/drawing/2014/main" id="{3DE5FB91-349B-1B36-9DC9-806DBF4E5DD1}"/>
                  </a:ext>
                </a:extLst>
              </p:cNvPr>
              <p:cNvCxnSpPr>
                <a:cxnSpLocks/>
                <a:stCxn id="20" idx="2"/>
                <a:endCxn id="9" idx="0"/>
              </p:cNvCxnSpPr>
              <p:nvPr/>
            </p:nvCxnSpPr>
            <p:spPr bwMode="auto">
              <a:xfrm>
                <a:off x="7012547" y="3116410"/>
                <a:ext cx="0" cy="599146"/>
              </a:xfrm>
              <a:prstGeom prst="straightConnector1">
                <a:avLst/>
              </a:prstGeom>
              <a:ln w="28575">
                <a:headEnd type="none" w="med" len="med"/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80DC41D9-A2F2-65A5-880A-BB4A8E0091F0}"/>
                </a:ext>
              </a:extLst>
            </p:cNvPr>
            <p:cNvSpPr txBox="1"/>
            <p:nvPr/>
          </p:nvSpPr>
          <p:spPr>
            <a:xfrm>
              <a:off x="6980461" y="5959763"/>
              <a:ext cx="53805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2"/>
                  </a:solidFill>
                  <a:latin typeface="+mn-ea"/>
                  <a:ea typeface="+mn-ea"/>
                </a:rPr>
                <a:t>函数、类与模块之间关系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2024960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二、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模块与包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05FFCA-3371-AF5C-381D-71D984055F5A}"/>
              </a:ext>
            </a:extLst>
          </p:cNvPr>
          <p:cNvSpPr txBox="1"/>
          <p:nvPr/>
        </p:nvSpPr>
        <p:spPr>
          <a:xfrm>
            <a:off x="182665" y="942358"/>
            <a:ext cx="6572800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3600" b="1" dirty="0">
                <a:solidFill>
                  <a:schemeClr val="accent2"/>
                </a:solidFill>
                <a:latin typeface="+mn-ea"/>
                <a:ea typeface="+mn-ea"/>
              </a:rPr>
              <a:t>模块化优势</a:t>
            </a:r>
            <a:r>
              <a:rPr lang="zh-CN" altLang="en-US" sz="36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endParaRPr lang="en-US" altLang="zh-CN" sz="36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3600" dirty="0">
                <a:solidFill>
                  <a:schemeClr val="bg2"/>
                </a:solidFill>
                <a:latin typeface="+mn-ea"/>
                <a:ea typeface="+mn-ea"/>
              </a:rPr>
              <a:t>代码可维护性、团队协作、功能隔离与测试</a:t>
            </a:r>
            <a:endParaRPr lang="en-US" altLang="zh-CN" sz="36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3600" b="1" dirty="0">
                <a:solidFill>
                  <a:schemeClr val="accent2"/>
                </a:solidFill>
                <a:latin typeface="+mn-ea"/>
                <a:ea typeface="+mn-ea"/>
              </a:rPr>
              <a:t>模块化层次</a:t>
            </a:r>
            <a:r>
              <a:rPr lang="zh-CN" altLang="en-US" sz="3600" b="1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endParaRPr lang="en-US" altLang="zh-CN" sz="3600" b="1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3600" dirty="0">
                <a:solidFill>
                  <a:schemeClr val="bg2"/>
                </a:solidFill>
                <a:latin typeface="+mn-ea"/>
                <a:ea typeface="+mn-ea"/>
              </a:rPr>
              <a:t>函数 </a:t>
            </a:r>
            <a:r>
              <a:rPr lang="en-US" altLang="zh-CN" sz="3600" dirty="0">
                <a:solidFill>
                  <a:schemeClr val="bg2"/>
                </a:solidFill>
                <a:latin typeface="+mn-ea"/>
                <a:ea typeface="+mn-ea"/>
              </a:rPr>
              <a:t>-&gt;</a:t>
            </a:r>
            <a:r>
              <a:rPr lang="zh-CN" altLang="en-US" sz="3600" dirty="0">
                <a:solidFill>
                  <a:schemeClr val="bg2"/>
                </a:solidFill>
                <a:latin typeface="+mn-ea"/>
                <a:ea typeface="+mn-ea"/>
              </a:rPr>
              <a:t> 模块 </a:t>
            </a:r>
            <a:r>
              <a:rPr lang="en-US" altLang="zh-CN" sz="3600" dirty="0">
                <a:solidFill>
                  <a:schemeClr val="bg2"/>
                </a:solidFill>
                <a:latin typeface="+mn-ea"/>
              </a:rPr>
              <a:t>-&gt; </a:t>
            </a:r>
            <a:r>
              <a:rPr lang="zh-CN" altLang="en-US" sz="3600" dirty="0">
                <a:solidFill>
                  <a:schemeClr val="bg2"/>
                </a:solidFill>
                <a:latin typeface="+mn-ea"/>
                <a:ea typeface="+mn-ea"/>
              </a:rPr>
              <a:t>包</a:t>
            </a:r>
            <a:endParaRPr lang="en-US" altLang="zh-CN" sz="3600" dirty="0">
              <a:solidFill>
                <a:schemeClr val="bg2"/>
              </a:solidFill>
              <a:latin typeface="+mn-ea"/>
              <a:ea typeface="+mn-ea"/>
            </a:endParaRPr>
          </a:p>
          <a:p>
            <a:pPr marL="0" marR="0" lvl="0" indent="0" algn="just" defTabSz="914400" rtl="0" eaLnBrk="1" fontAlgn="base" latinLnBrk="0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</a:rPr>
              <a:t>模块导入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：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</a:endParaRPr>
          </a:p>
          <a:p>
            <a:pPr algn="just"/>
            <a:r>
              <a:rPr lang="en-US" altLang="zh-CN" sz="4000" dirty="0">
                <a:solidFill>
                  <a:schemeClr val="bg2"/>
                </a:solidFill>
                <a:latin typeface="+mn-ea"/>
                <a:ea typeface="+mn-ea"/>
              </a:rPr>
              <a:t>import</a:t>
            </a:r>
            <a:r>
              <a:rPr lang="zh-CN" altLang="en-US" sz="4000" dirty="0">
                <a:solidFill>
                  <a:schemeClr val="bg2"/>
                </a:solidFill>
                <a:latin typeface="+mn-ea"/>
                <a:ea typeface="+mn-ea"/>
              </a:rPr>
              <a:t>，或</a:t>
            </a:r>
            <a:r>
              <a:rPr lang="en-US" altLang="zh-CN" sz="4000" dirty="0">
                <a:solidFill>
                  <a:schemeClr val="bg2"/>
                </a:solidFill>
                <a:latin typeface="+mn-ea"/>
                <a:ea typeface="+mn-ea"/>
              </a:rPr>
              <a:t>from…import…</a:t>
            </a:r>
            <a:endParaRPr lang="zh-CN" altLang="en-US" sz="40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00052C8D-EB36-DD6A-6A88-54EDEEACFAA8}"/>
              </a:ext>
            </a:extLst>
          </p:cNvPr>
          <p:cNvGrpSpPr/>
          <p:nvPr/>
        </p:nvGrpSpPr>
        <p:grpSpPr>
          <a:xfrm>
            <a:off x="6755486" y="1142886"/>
            <a:ext cx="5380549" cy="5075343"/>
            <a:chOff x="6980461" y="1346085"/>
            <a:chExt cx="5380549" cy="5075343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FBB9AAD5-C9FB-4435-771E-8D5CFF918E5E}"/>
                </a:ext>
              </a:extLst>
            </p:cNvPr>
            <p:cNvGrpSpPr/>
            <p:nvPr/>
          </p:nvGrpSpPr>
          <p:grpSpPr>
            <a:xfrm>
              <a:off x="7097485" y="1346085"/>
              <a:ext cx="5172526" cy="4581270"/>
              <a:chOff x="4911219" y="2293825"/>
              <a:chExt cx="4220421" cy="4255083"/>
            </a:xfrm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D4DA87C5-4C9B-1D60-B8EF-ED741EEEC25E}"/>
                  </a:ext>
                </a:extLst>
              </p:cNvPr>
              <p:cNvGrpSpPr/>
              <p:nvPr/>
            </p:nvGrpSpPr>
            <p:grpSpPr>
              <a:xfrm>
                <a:off x="4911219" y="2293825"/>
                <a:ext cx="1227786" cy="880817"/>
                <a:chOff x="4916892" y="2293825"/>
                <a:chExt cx="1521854" cy="1030310"/>
              </a:xfrm>
            </p:grpSpPr>
            <p:sp>
              <p:nvSpPr>
                <p:cNvPr id="44" name="流程图: 文档 43">
                  <a:extLst>
                    <a:ext uri="{FF2B5EF4-FFF2-40B4-BE49-F238E27FC236}">
                      <a16:creationId xmlns:a16="http://schemas.microsoft.com/office/drawing/2014/main" id="{8F66112F-CE1C-C66A-4631-CBD24E87028C}"/>
                    </a:ext>
                  </a:extLst>
                </p:cNvPr>
                <p:cNvSpPr/>
                <p:nvPr/>
              </p:nvSpPr>
              <p:spPr>
                <a:xfrm>
                  <a:off x="4916892" y="2293825"/>
                  <a:ext cx="1521854" cy="1030310"/>
                </a:xfrm>
                <a:prstGeom prst="flowChartDocument">
                  <a:avLst/>
                </a:prstGeom>
                <a:solidFill>
                  <a:schemeClr val="accent6"/>
                </a:solidFill>
              </p:spPr>
              <p:txBody>
                <a:bodyPr wrap="square" lIns="0" rtlCol="0" anchor="ctr">
                  <a:noAutofit/>
                </a:bodyPr>
                <a:lstStyle/>
                <a:p>
                  <a:pPr algn="l"/>
                  <a:endParaRPr lang="zh-CN" altLang="en-US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5" name="椭圆 44">
                  <a:extLst>
                    <a:ext uri="{FF2B5EF4-FFF2-40B4-BE49-F238E27FC236}">
                      <a16:creationId xmlns:a16="http://schemas.microsoft.com/office/drawing/2014/main" id="{529B8D39-2371-E183-D1F4-EE1528E1D8E6}"/>
                    </a:ext>
                  </a:extLst>
                </p:cNvPr>
                <p:cNvSpPr/>
                <p:nvPr/>
              </p:nvSpPr>
              <p:spPr>
                <a:xfrm>
                  <a:off x="5158376" y="2467689"/>
                  <a:ext cx="1143911" cy="57311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8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函数</a:t>
                  </a:r>
                </a:p>
              </p:txBody>
            </p:sp>
          </p:grpSp>
          <p:grpSp>
            <p:nvGrpSpPr>
              <p:cNvPr id="29" name="组合 28">
                <a:extLst>
                  <a:ext uri="{FF2B5EF4-FFF2-40B4-BE49-F238E27FC236}">
                    <a16:creationId xmlns:a16="http://schemas.microsoft.com/office/drawing/2014/main" id="{0F3BB020-D06F-9231-8569-18F6D7829F51}"/>
                  </a:ext>
                </a:extLst>
              </p:cNvPr>
              <p:cNvGrpSpPr/>
              <p:nvPr/>
            </p:nvGrpSpPr>
            <p:grpSpPr>
              <a:xfrm>
                <a:off x="6398654" y="2293825"/>
                <a:ext cx="1227786" cy="880817"/>
                <a:chOff x="6591837" y="2293825"/>
                <a:chExt cx="1521854" cy="1030310"/>
              </a:xfrm>
            </p:grpSpPr>
            <p:sp>
              <p:nvSpPr>
                <p:cNvPr id="42" name="流程图: 文档 41">
                  <a:extLst>
                    <a:ext uri="{FF2B5EF4-FFF2-40B4-BE49-F238E27FC236}">
                      <a16:creationId xmlns:a16="http://schemas.microsoft.com/office/drawing/2014/main" id="{9D6ED68E-EC33-0ABD-67CD-6477508939AB}"/>
                    </a:ext>
                  </a:extLst>
                </p:cNvPr>
                <p:cNvSpPr/>
                <p:nvPr/>
              </p:nvSpPr>
              <p:spPr>
                <a:xfrm>
                  <a:off x="6591837" y="2293825"/>
                  <a:ext cx="1521854" cy="1030310"/>
                </a:xfrm>
                <a:prstGeom prst="flowChartDocument">
                  <a:avLst/>
                </a:prstGeom>
                <a:solidFill>
                  <a:schemeClr val="accent6"/>
                </a:solidFill>
              </p:spPr>
              <p:txBody>
                <a:bodyPr wrap="square" lIns="0" rtlCol="0" anchor="ctr">
                  <a:noAutofit/>
                </a:bodyPr>
                <a:lstStyle/>
                <a:p>
                  <a:pPr algn="l"/>
                  <a:endParaRPr lang="zh-CN" altLang="en-US" sz="1800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3" name="椭圆 42">
                  <a:extLst>
                    <a:ext uri="{FF2B5EF4-FFF2-40B4-BE49-F238E27FC236}">
                      <a16:creationId xmlns:a16="http://schemas.microsoft.com/office/drawing/2014/main" id="{FE7D08E2-E3AB-2245-E140-683E9B287A5A}"/>
                    </a:ext>
                  </a:extLst>
                </p:cNvPr>
                <p:cNvSpPr/>
                <p:nvPr/>
              </p:nvSpPr>
              <p:spPr>
                <a:xfrm>
                  <a:off x="6793407" y="2467688"/>
                  <a:ext cx="1143911" cy="5731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8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类</a:t>
                  </a:r>
                </a:p>
              </p:txBody>
            </p:sp>
          </p:grpSp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DDA003A7-4C93-B4A1-D48E-C5CABD072166}"/>
                  </a:ext>
                </a:extLst>
              </p:cNvPr>
              <p:cNvGrpSpPr/>
              <p:nvPr/>
            </p:nvGrpSpPr>
            <p:grpSpPr>
              <a:xfrm>
                <a:off x="7903854" y="2293825"/>
                <a:ext cx="1227786" cy="880817"/>
                <a:chOff x="8288803" y="2295211"/>
                <a:chExt cx="1521854" cy="1030310"/>
              </a:xfrm>
            </p:grpSpPr>
            <p:sp>
              <p:nvSpPr>
                <p:cNvPr id="40" name="流程图: 文档 39">
                  <a:extLst>
                    <a:ext uri="{FF2B5EF4-FFF2-40B4-BE49-F238E27FC236}">
                      <a16:creationId xmlns:a16="http://schemas.microsoft.com/office/drawing/2014/main" id="{8D478ED2-E8DD-9488-EAD9-3722CF453FB6}"/>
                    </a:ext>
                  </a:extLst>
                </p:cNvPr>
                <p:cNvSpPr/>
                <p:nvPr/>
              </p:nvSpPr>
              <p:spPr>
                <a:xfrm>
                  <a:off x="8288803" y="2295211"/>
                  <a:ext cx="1521854" cy="1030310"/>
                </a:xfrm>
                <a:prstGeom prst="flowChartDocument">
                  <a:avLst/>
                </a:prstGeom>
                <a:solidFill>
                  <a:schemeClr val="accent6"/>
                </a:solidFill>
              </p:spPr>
              <p:txBody>
                <a:bodyPr wrap="square" lIns="0" rtlCol="0" anchor="ctr">
                  <a:noAutofit/>
                </a:bodyPr>
                <a:lstStyle/>
                <a:p>
                  <a:pPr algn="l"/>
                  <a:endParaRPr lang="zh-CN" altLang="en-US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1" name="椭圆 40">
                  <a:extLst>
                    <a:ext uri="{FF2B5EF4-FFF2-40B4-BE49-F238E27FC236}">
                      <a16:creationId xmlns:a16="http://schemas.microsoft.com/office/drawing/2014/main" id="{080A0433-6150-9E81-E89F-64BF77CD24C2}"/>
                    </a:ext>
                  </a:extLst>
                </p:cNvPr>
                <p:cNvSpPr/>
                <p:nvPr/>
              </p:nvSpPr>
              <p:spPr>
                <a:xfrm>
                  <a:off x="8530281" y="2469075"/>
                  <a:ext cx="1143911" cy="5731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4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其他代码</a:t>
                  </a:r>
                </a:p>
              </p:txBody>
            </p:sp>
          </p:grpSp>
          <p:grpSp>
            <p:nvGrpSpPr>
              <p:cNvPr id="31" name="组合 30">
                <a:extLst>
                  <a:ext uri="{FF2B5EF4-FFF2-40B4-BE49-F238E27FC236}">
                    <a16:creationId xmlns:a16="http://schemas.microsoft.com/office/drawing/2014/main" id="{672B1762-3509-8909-2474-1C6FE073E659}"/>
                  </a:ext>
                </a:extLst>
              </p:cNvPr>
              <p:cNvGrpSpPr/>
              <p:nvPr/>
            </p:nvGrpSpPr>
            <p:grpSpPr>
              <a:xfrm>
                <a:off x="5661467" y="3715556"/>
                <a:ext cx="2702160" cy="2833352"/>
                <a:chOff x="5546758" y="3683359"/>
                <a:chExt cx="2702160" cy="2833352"/>
              </a:xfrm>
            </p:grpSpPr>
            <p:sp>
              <p:nvSpPr>
                <p:cNvPr id="36" name="流程图: 文档 35">
                  <a:extLst>
                    <a:ext uri="{FF2B5EF4-FFF2-40B4-BE49-F238E27FC236}">
                      <a16:creationId xmlns:a16="http://schemas.microsoft.com/office/drawing/2014/main" id="{0C8CA267-147A-F541-A704-65BC3E87DF41}"/>
                    </a:ext>
                  </a:extLst>
                </p:cNvPr>
                <p:cNvSpPr/>
                <p:nvPr/>
              </p:nvSpPr>
              <p:spPr>
                <a:xfrm>
                  <a:off x="5546758" y="3683359"/>
                  <a:ext cx="2702160" cy="2833352"/>
                </a:xfrm>
                <a:prstGeom prst="flowChartDocument">
                  <a:avLst/>
                </a:prstGeom>
                <a:solidFill>
                  <a:srgbClr val="C3E8CC"/>
                </a:solidFill>
              </p:spPr>
              <p:txBody>
                <a:bodyPr wrap="square" lIns="0" rtlCol="0" anchor="ctr">
                  <a:noAutofit/>
                </a:bodyPr>
                <a:lstStyle/>
                <a:p>
                  <a:pPr algn="l"/>
                  <a:endParaRPr lang="zh-CN" altLang="en-US" b="1" dirty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7" name="椭圆 36">
                  <a:extLst>
                    <a:ext uri="{FF2B5EF4-FFF2-40B4-BE49-F238E27FC236}">
                      <a16:creationId xmlns:a16="http://schemas.microsoft.com/office/drawing/2014/main" id="{B2F10CAA-FE0D-35E7-8AAF-8909F26A533E}"/>
                    </a:ext>
                  </a:extLst>
                </p:cNvPr>
                <p:cNvSpPr/>
                <p:nvPr/>
              </p:nvSpPr>
              <p:spPr>
                <a:xfrm>
                  <a:off x="6421321" y="4159649"/>
                  <a:ext cx="985552" cy="58654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8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函数</a:t>
                  </a:r>
                </a:p>
              </p:txBody>
            </p:sp>
            <p:sp>
              <p:nvSpPr>
                <p:cNvPr id="38" name="椭圆 37">
                  <a:extLst>
                    <a:ext uri="{FF2B5EF4-FFF2-40B4-BE49-F238E27FC236}">
                      <a16:creationId xmlns:a16="http://schemas.microsoft.com/office/drawing/2014/main" id="{E434F634-6D8B-270C-3299-A5D2231027EB}"/>
                    </a:ext>
                  </a:extLst>
                </p:cNvPr>
                <p:cNvSpPr/>
                <p:nvPr/>
              </p:nvSpPr>
              <p:spPr>
                <a:xfrm>
                  <a:off x="6422841" y="4835348"/>
                  <a:ext cx="985552" cy="58654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8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类</a:t>
                  </a:r>
                </a:p>
              </p:txBody>
            </p:sp>
            <p:sp>
              <p:nvSpPr>
                <p:cNvPr id="39" name="椭圆 38">
                  <a:extLst>
                    <a:ext uri="{FF2B5EF4-FFF2-40B4-BE49-F238E27FC236}">
                      <a16:creationId xmlns:a16="http://schemas.microsoft.com/office/drawing/2014/main" id="{7A1C17FB-BA62-7BD7-DDB9-DE0EFC768C06}"/>
                    </a:ext>
                  </a:extLst>
                </p:cNvPr>
                <p:cNvSpPr/>
                <p:nvPr/>
              </p:nvSpPr>
              <p:spPr>
                <a:xfrm>
                  <a:off x="6421320" y="5512160"/>
                  <a:ext cx="985552" cy="58654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6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其他代码</a:t>
                  </a:r>
                </a:p>
              </p:txBody>
            </p:sp>
          </p:grp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6B54B125-EB19-0981-BE87-A70EBD8D8BE4}"/>
                  </a:ext>
                </a:extLst>
              </p:cNvPr>
              <p:cNvSpPr/>
              <p:nvPr/>
            </p:nvSpPr>
            <p:spPr>
              <a:xfrm>
                <a:off x="5661467" y="3715556"/>
                <a:ext cx="2702160" cy="398918"/>
              </a:xfrm>
              <a:prstGeom prst="rect">
                <a:avLst/>
              </a:prstGeom>
              <a:solidFill>
                <a:srgbClr val="FFCC99"/>
              </a:solidFill>
            </p:spPr>
            <p:txBody>
              <a:bodyPr wrap="square" lIns="0" rtlCol="0" anchor="ctr">
                <a:noAutofit/>
              </a:bodyPr>
              <a:lstStyle/>
              <a:p>
                <a:pPr algn="l"/>
                <a:r>
                  <a:rPr lang="zh-CN" altLang="en-US" sz="2000" b="1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 模块</a:t>
                </a:r>
                <a:r>
                  <a:rPr lang="en-US" altLang="zh-CN" sz="2000" b="1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.</a:t>
                </a:r>
                <a:r>
                  <a:rPr lang="en-US" altLang="zh-CN" sz="2000" b="1" dirty="0" err="1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py</a:t>
                </a:r>
                <a:endParaRPr lang="zh-CN" altLang="en-US" sz="2000" b="1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cxnSp>
            <p:nvCxnSpPr>
              <p:cNvPr id="33" name="连接符: 肘形 32">
                <a:extLst>
                  <a:ext uri="{FF2B5EF4-FFF2-40B4-BE49-F238E27FC236}">
                    <a16:creationId xmlns:a16="http://schemas.microsoft.com/office/drawing/2014/main" id="{0CEF2548-9402-3D39-B33D-367652A16062}"/>
                  </a:ext>
                </a:extLst>
              </p:cNvPr>
              <p:cNvCxnSpPr>
                <a:stCxn id="44" idx="2"/>
                <a:endCxn id="32" idx="0"/>
              </p:cNvCxnSpPr>
              <p:nvPr/>
            </p:nvCxnSpPr>
            <p:spPr bwMode="auto">
              <a:xfrm rot="16200000" flipH="1">
                <a:off x="5969257" y="2672264"/>
                <a:ext cx="599146" cy="1487435"/>
              </a:xfrm>
              <a:prstGeom prst="bentConnector3">
                <a:avLst/>
              </a:prstGeom>
              <a:noFill/>
              <a:ln w="285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34" name="连接符: 肘形 33">
                <a:extLst>
                  <a:ext uri="{FF2B5EF4-FFF2-40B4-BE49-F238E27FC236}">
                    <a16:creationId xmlns:a16="http://schemas.microsoft.com/office/drawing/2014/main" id="{21A801DA-CA8C-511E-C72C-5E64068990EF}"/>
                  </a:ext>
                </a:extLst>
              </p:cNvPr>
              <p:cNvCxnSpPr>
                <a:cxnSpLocks/>
                <a:stCxn id="40" idx="2"/>
                <a:endCxn id="32" idx="0"/>
              </p:cNvCxnSpPr>
              <p:nvPr/>
            </p:nvCxnSpPr>
            <p:spPr bwMode="auto">
              <a:xfrm rot="5400000">
                <a:off x="7465575" y="2663383"/>
                <a:ext cx="599146" cy="1505200"/>
              </a:xfrm>
              <a:prstGeom prst="bentConnector3">
                <a:avLst>
                  <a:gd name="adj1" fmla="val 50000"/>
                </a:avLst>
              </a:prstGeom>
              <a:noFill/>
              <a:ln w="285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35" name="直接箭头连接符 34">
                <a:extLst>
                  <a:ext uri="{FF2B5EF4-FFF2-40B4-BE49-F238E27FC236}">
                    <a16:creationId xmlns:a16="http://schemas.microsoft.com/office/drawing/2014/main" id="{69BD08FB-2AF4-8CE5-302D-14B4C4989415}"/>
                  </a:ext>
                </a:extLst>
              </p:cNvPr>
              <p:cNvCxnSpPr>
                <a:cxnSpLocks/>
                <a:stCxn id="42" idx="2"/>
                <a:endCxn id="32" idx="0"/>
              </p:cNvCxnSpPr>
              <p:nvPr/>
            </p:nvCxnSpPr>
            <p:spPr bwMode="auto">
              <a:xfrm>
                <a:off x="7012547" y="3116410"/>
                <a:ext cx="0" cy="599146"/>
              </a:xfrm>
              <a:prstGeom prst="straightConnector1">
                <a:avLst/>
              </a:prstGeom>
              <a:ln w="28575">
                <a:headEnd type="none" w="med" len="med"/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D4DF6BB6-D573-FCEF-313C-4A0784BFE78E}"/>
                </a:ext>
              </a:extLst>
            </p:cNvPr>
            <p:cNvSpPr txBox="1"/>
            <p:nvPr/>
          </p:nvSpPr>
          <p:spPr>
            <a:xfrm>
              <a:off x="6980461" y="5959763"/>
              <a:ext cx="53805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2"/>
                  </a:solidFill>
                  <a:latin typeface="+mn-ea"/>
                  <a:ea typeface="+mn-ea"/>
                </a:rPr>
                <a:t>函数、类与模块之间关系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5114206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9E05FFCA-3371-AF5C-381D-71D984055F5A}"/>
              </a:ext>
            </a:extLst>
          </p:cNvPr>
          <p:cNvSpPr txBox="1"/>
          <p:nvPr/>
        </p:nvSpPr>
        <p:spPr>
          <a:xfrm>
            <a:off x="341087" y="717714"/>
            <a:ext cx="11633200" cy="2898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2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lang="zh-CN" altLang="en-US" sz="3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包概念</a:t>
            </a:r>
            <a:r>
              <a:rPr lang="zh-CN" altLang="en-US" sz="32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/>
                <a:ea typeface="微软雅黑"/>
              </a:rPr>
              <a:t>在实际的编码环境中，已经存在大量模块，并且新模块还在不停被创建，为了避免模块名冲突，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/>
                <a:ea typeface="微软雅黑"/>
              </a:rPr>
              <a:t>Python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/>
                <a:ea typeface="微软雅黑"/>
              </a:rPr>
              <a:t>又引入了按目录来组织模块的方法，称为包（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/>
                <a:ea typeface="微软雅黑"/>
              </a:rPr>
              <a:t>Package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/>
                <a:ea typeface="微软雅黑"/>
              </a:rPr>
              <a:t>）。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pic>
        <p:nvPicPr>
          <p:cNvPr id="5" name="Picture 4" descr="A close-up of a computer code&#10;&#10;Description automatically generated">
            <a:extLst>
              <a:ext uri="{FF2B5EF4-FFF2-40B4-BE49-F238E27FC236}">
                <a16:creationId xmlns:a16="http://schemas.microsoft.com/office/drawing/2014/main" id="{BCF1F0B0-16D2-2BC1-5DE7-519643BE3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87" y="3846212"/>
            <a:ext cx="3987037" cy="2845966"/>
          </a:xfrm>
          <a:prstGeom prst="rect">
            <a:avLst/>
          </a:prstGeom>
        </p:spPr>
      </p:pic>
      <p:sp>
        <p:nvSpPr>
          <p:cNvPr id="4" name="标题 3">
            <a:extLst>
              <a:ext uri="{FF2B5EF4-FFF2-40B4-BE49-F238E27FC236}">
                <a16:creationId xmlns:a16="http://schemas.microsoft.com/office/drawing/2014/main" id="{5C4B760B-DA80-39FC-EA0E-1A45B57F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二、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模块与包</a:t>
            </a:r>
            <a:endParaRPr lang="zh-CN" altLang="en-US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0CF43B2-8C59-89E5-8FE4-6F499110892F}"/>
              </a:ext>
            </a:extLst>
          </p:cNvPr>
          <p:cNvGrpSpPr/>
          <p:nvPr/>
        </p:nvGrpSpPr>
        <p:grpSpPr>
          <a:xfrm>
            <a:off x="4426109" y="4016852"/>
            <a:ext cx="7707719" cy="2357596"/>
            <a:chOff x="4426109" y="4016852"/>
            <a:chExt cx="7707719" cy="235759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F2ED4A9-13D1-D01E-580E-7AEEB4ACE2AD}"/>
                </a:ext>
              </a:extLst>
            </p:cNvPr>
            <p:cNvSpPr txBox="1"/>
            <p:nvPr/>
          </p:nvSpPr>
          <p:spPr>
            <a:xfrm>
              <a:off x="5634476" y="4016852"/>
              <a:ext cx="499114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>
                  <a:solidFill>
                    <a:srgbClr val="333333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包的导入</a:t>
              </a:r>
              <a:endParaRPr lang="en-CN" b="1"/>
            </a:p>
          </p:txBody>
        </p: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94A22770-F61C-53B6-0D6B-58FF191765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26109" y="4641480"/>
              <a:ext cx="7707719" cy="17329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23723600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0DD5C-6ED2-CF6E-349F-CA4CF378F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2AE568CC-643F-8904-0795-959C88590FD1}"/>
              </a:ext>
            </a:extLst>
          </p:cNvPr>
          <p:cNvSpPr txBox="1"/>
          <p:nvPr/>
        </p:nvSpPr>
        <p:spPr>
          <a:xfrm>
            <a:off x="312057" y="942669"/>
            <a:ext cx="11756572" cy="2688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36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模块或包导入</a:t>
            </a:r>
            <a:r>
              <a:rPr lang="zh-CN" altLang="en-US" sz="32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en-US" sz="3000" u="sng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</a:t>
            </a:r>
            <a:r>
              <a:rPr lang="en-US" altLang="zh-CN" sz="3000" u="sng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import</a:t>
            </a:r>
            <a:r>
              <a:rPr lang="zh-CN" altLang="en-US" sz="3000" u="sng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语句，或</a:t>
            </a:r>
            <a:r>
              <a:rPr lang="en-US" altLang="zh-CN" sz="3000" u="sng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from…import…</a:t>
            </a:r>
            <a:r>
              <a:rPr lang="zh-CN" altLang="en-US" sz="3000" u="sng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语句。</a:t>
            </a:r>
            <a:endParaRPr lang="en-US" altLang="zh-CN" sz="3000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30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一条 </a:t>
            </a:r>
            <a:r>
              <a:rPr lang="en-US" sz="30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import </a:t>
            </a:r>
            <a:r>
              <a:rPr lang="zh-CN" altLang="en-US" sz="30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语句可以同时导入多个包</a:t>
            </a:r>
            <a:r>
              <a:rPr lang="en-US" altLang="zh-CN" sz="30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30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模块，以逗号</a:t>
            </a:r>
            <a:r>
              <a:rPr lang="zh-CN" altLang="en-US" sz="3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分隔；</a:t>
            </a:r>
            <a:endParaRPr lang="en-US" altLang="zh-CN" sz="30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3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</a:t>
            </a:r>
            <a:r>
              <a:rPr lang="en-US" altLang="zh-CN" sz="3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from…import…</a:t>
            </a:r>
            <a:r>
              <a:rPr lang="zh-CN" altLang="en-US" sz="3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可以指定导入包</a:t>
            </a:r>
            <a:r>
              <a:rPr lang="en-US" altLang="zh-CN" sz="3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3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模块中具体的变量和函数。</a:t>
            </a:r>
            <a:endParaRPr lang="en-US" altLang="zh-CN" sz="30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148489C8-4C4A-7521-188F-74BBEE849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699751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二、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模块与包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DE83AFF-5FBB-6A93-001A-142B441069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18"/>
          <a:stretch>
            <a:fillRect/>
          </a:stretch>
        </p:blipFill>
        <p:spPr>
          <a:xfrm>
            <a:off x="151947" y="4238693"/>
            <a:ext cx="11926207" cy="1741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556518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3471863"/>
            <a:ext cx="12192000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4223" y="3868893"/>
            <a:ext cx="992029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400" b="1" dirty="0">
                <a:latin typeface="微软雅黑" pitchFamily="34" charset="-122"/>
                <a:ea typeface="微软雅黑" pitchFamily="34" charset="-122"/>
              </a:rPr>
              <a:t>三、</a:t>
            </a:r>
            <a:r>
              <a:rPr lang="en-US" altLang="zh-CN" sz="4400" b="1" dirty="0"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sz="4400" b="1" dirty="0">
                <a:latin typeface="微软雅黑" pitchFamily="34" charset="-122"/>
                <a:ea typeface="微软雅黑" pitchFamily="34" charset="-122"/>
              </a:rPr>
              <a:t>标准库与第三方库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5014912"/>
            <a:ext cx="12192000" cy="72000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2163772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3F87F-3929-D8AB-33A3-491A9B546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F173EEA-7681-0EBA-CDCA-244EF572D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+mn-ea"/>
              </a:rPr>
              <a:t>标准库与第三方库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031BFD-CCE6-389F-63DA-67B18599B458}"/>
              </a:ext>
            </a:extLst>
          </p:cNvPr>
          <p:cNvSpPr txBox="1"/>
          <p:nvPr/>
        </p:nvSpPr>
        <p:spPr>
          <a:xfrm>
            <a:off x="174171" y="855532"/>
            <a:ext cx="11850914" cy="320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Python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标准库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sz="3200" dirty="0">
                <a:solidFill>
                  <a:schemeClr val="bg2"/>
                </a:solidFill>
                <a:latin typeface="+mn-ea"/>
                <a:ea typeface="+mn-ea"/>
              </a:rPr>
              <a:t>Python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语言内置的库，例如</a:t>
            </a:r>
            <a:r>
              <a:rPr lang="en-US" sz="3200" dirty="0" err="1">
                <a:solidFill>
                  <a:schemeClr val="bg2"/>
                </a:solidFill>
                <a:latin typeface="+mn-ea"/>
                <a:ea typeface="+mn-ea"/>
              </a:rPr>
              <a:t>os、sys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等，它们无需额外安装即可使用。</a:t>
            </a:r>
            <a:endParaRPr lang="en-US" altLang="zh-CN" sz="32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sz="3200" b="1" dirty="0" err="1">
                <a:solidFill>
                  <a:schemeClr val="accent2"/>
                </a:solidFill>
                <a:latin typeface="+mn-ea"/>
                <a:ea typeface="+mn-ea"/>
              </a:rPr>
              <a:t>第三方库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altLang="zh-CN" sz="3200" dirty="0">
                <a:solidFill>
                  <a:schemeClr val="bg2"/>
                </a:solidFill>
                <a:latin typeface="+mn-ea"/>
                <a:ea typeface="+mn-ea"/>
              </a:rPr>
              <a:t>Python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开发志愿者贡献，需手动安装的库，如</a:t>
            </a:r>
            <a:r>
              <a:rPr lang="en-US" altLang="zh-CN" sz="3200" dirty="0" err="1">
                <a:solidFill>
                  <a:schemeClr val="bg2"/>
                </a:solidFill>
                <a:latin typeface="+mn-ea"/>
                <a:ea typeface="+mn-ea"/>
              </a:rPr>
              <a:t>numpy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，</a:t>
            </a:r>
            <a:r>
              <a:rPr lang="en-US" altLang="zh-CN" sz="3200" dirty="0">
                <a:solidFill>
                  <a:schemeClr val="bg2"/>
                </a:solidFill>
                <a:latin typeface="+mn-ea"/>
                <a:ea typeface="+mn-ea"/>
              </a:rPr>
              <a:t>pandas, matplotlib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等。</a:t>
            </a:r>
            <a:endParaRPr lang="en-US" sz="32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8ABDF9C-631A-E69C-3FB8-0947C36A0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250885"/>
              </p:ext>
            </p:extLst>
          </p:nvPr>
        </p:nvGraphicFramePr>
        <p:xfrm>
          <a:off x="661481" y="4098015"/>
          <a:ext cx="11138634" cy="2578556"/>
        </p:xfrm>
        <a:graphic>
          <a:graphicData uri="http://schemas.openxmlformats.org/drawingml/2006/table">
            <a:tbl>
              <a:tblPr/>
              <a:tblGrid>
                <a:gridCol w="3712878">
                  <a:extLst>
                    <a:ext uri="{9D8B030D-6E8A-4147-A177-3AD203B41FA5}">
                      <a16:colId xmlns:a16="http://schemas.microsoft.com/office/drawing/2014/main" val="3675882594"/>
                    </a:ext>
                  </a:extLst>
                </a:gridCol>
                <a:gridCol w="3712878">
                  <a:extLst>
                    <a:ext uri="{9D8B030D-6E8A-4147-A177-3AD203B41FA5}">
                      <a16:colId xmlns:a16="http://schemas.microsoft.com/office/drawing/2014/main" val="3818600901"/>
                    </a:ext>
                  </a:extLst>
                </a:gridCol>
                <a:gridCol w="3712878">
                  <a:extLst>
                    <a:ext uri="{9D8B030D-6E8A-4147-A177-3AD203B41FA5}">
                      <a16:colId xmlns:a16="http://schemas.microsoft.com/office/drawing/2014/main" val="1558079673"/>
                    </a:ext>
                  </a:extLst>
                </a:gridCol>
              </a:tblGrid>
              <a:tr h="54225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solidFill>
                            <a:schemeClr val="bg2"/>
                          </a:solidFill>
                          <a:effectLst/>
                        </a:rPr>
                        <a:t>特性</a:t>
                      </a:r>
                      <a:endParaRPr lang="zh-CN" altLang="en-US" sz="2800" b="1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solidFill>
                            <a:schemeClr val="bg2"/>
                          </a:solidFill>
                          <a:effectLst/>
                        </a:rPr>
                        <a:t>标准库</a:t>
                      </a:r>
                      <a:endParaRPr lang="zh-CN" altLang="en-US" sz="2800" b="1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solidFill>
                            <a:schemeClr val="bg2"/>
                          </a:solidFill>
                          <a:effectLst/>
                        </a:rPr>
                        <a:t>第三方库</a:t>
                      </a:r>
                      <a:endParaRPr lang="zh-CN" altLang="en-US" sz="2800" b="1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580310"/>
                  </a:ext>
                </a:extLst>
              </a:tr>
              <a:tr h="85600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0" dirty="0">
                          <a:solidFill>
                            <a:schemeClr val="bg2"/>
                          </a:solidFill>
                          <a:effectLst/>
                        </a:rPr>
                        <a:t>安装方式</a:t>
                      </a:r>
                      <a:endParaRPr lang="zh-CN" altLang="en-US" sz="2800" b="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0" dirty="0">
                          <a:solidFill>
                            <a:schemeClr val="bg2"/>
                          </a:solidFill>
                          <a:effectLst/>
                        </a:rPr>
                        <a:t>内置</a:t>
                      </a:r>
                      <a:endParaRPr lang="zh-CN" altLang="en-US" sz="2800" b="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bg2"/>
                          </a:solidFill>
                          <a:effectLst/>
                        </a:rPr>
                        <a:t>pip/conda install</a:t>
                      </a:r>
                      <a:endParaRPr lang="en-US" sz="2800" b="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565303"/>
                  </a:ext>
                </a:extLst>
              </a:tr>
              <a:tr h="54225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0" dirty="0">
                          <a:solidFill>
                            <a:schemeClr val="bg2"/>
                          </a:solidFill>
                          <a:effectLst/>
                        </a:rPr>
                        <a:t>维护者</a:t>
                      </a:r>
                      <a:endParaRPr lang="zh-CN" altLang="en-US" sz="2800" b="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>
                          <a:solidFill>
                            <a:schemeClr val="bg2"/>
                          </a:solidFill>
                          <a:effectLst/>
                        </a:rPr>
                        <a:t>Python</a:t>
                      </a:r>
                      <a:r>
                        <a:rPr lang="zh-CN" altLang="en-US" sz="2800" b="0">
                          <a:solidFill>
                            <a:schemeClr val="bg2"/>
                          </a:solidFill>
                          <a:effectLst/>
                        </a:rPr>
                        <a:t>官方</a:t>
                      </a:r>
                      <a:endParaRPr lang="zh-CN" altLang="en-US" sz="2800" b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0" dirty="0">
                          <a:solidFill>
                            <a:schemeClr val="bg2"/>
                          </a:solidFill>
                          <a:effectLst/>
                        </a:rPr>
                        <a:t>开源社区</a:t>
                      </a:r>
                      <a:r>
                        <a:rPr lang="en-US" altLang="zh-CN" sz="2800" b="0" dirty="0">
                          <a:solidFill>
                            <a:schemeClr val="bg2"/>
                          </a:solidFill>
                          <a:effectLst/>
                        </a:rPr>
                        <a:t>/</a:t>
                      </a:r>
                      <a:r>
                        <a:rPr lang="zh-CN" altLang="en-US" sz="2800" b="0" dirty="0">
                          <a:solidFill>
                            <a:schemeClr val="bg2"/>
                          </a:solidFill>
                          <a:effectLst/>
                        </a:rPr>
                        <a:t>企业</a:t>
                      </a:r>
                      <a:endParaRPr lang="zh-CN" altLang="en-US" sz="2800" b="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422408"/>
                  </a:ext>
                </a:extLst>
              </a:tr>
              <a:tr h="63804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0" dirty="0">
                          <a:solidFill>
                            <a:schemeClr val="bg2"/>
                          </a:solidFill>
                          <a:effectLst/>
                        </a:rPr>
                        <a:t>功能范围</a:t>
                      </a:r>
                      <a:endParaRPr lang="zh-CN" altLang="en-US" sz="2800" b="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0" dirty="0">
                          <a:solidFill>
                            <a:schemeClr val="bg2"/>
                          </a:solidFill>
                          <a:effectLst/>
                        </a:rPr>
                        <a:t>基础功能</a:t>
                      </a:r>
                      <a:endParaRPr lang="zh-CN" altLang="en-US" sz="2800" b="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0" dirty="0">
                          <a:solidFill>
                            <a:schemeClr val="bg2"/>
                          </a:solidFill>
                          <a:effectLst/>
                        </a:rPr>
                        <a:t>领域专用</a:t>
                      </a:r>
                      <a:endParaRPr lang="zh-CN" altLang="en-US" sz="2800" b="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1044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7208711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6F8DE-22C8-E28C-2062-1F93E0AE5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1160987-C948-7425-799C-BBF8BD724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+mn-ea"/>
              </a:rPr>
              <a:t>标准库与第三方库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EF2A28-2750-B996-6CEB-D6FF2B2CB0BD}"/>
              </a:ext>
            </a:extLst>
          </p:cNvPr>
          <p:cNvSpPr txBox="1"/>
          <p:nvPr/>
        </p:nvSpPr>
        <p:spPr>
          <a:xfrm>
            <a:off x="220519" y="831762"/>
            <a:ext cx="5026395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Python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标准库</a:t>
            </a:r>
            <a:endParaRPr lang="en-US" altLang="zh-CN" sz="32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3CE8E4-A46A-2945-1C5F-ADCF4371A8F1}"/>
              </a:ext>
            </a:extLst>
          </p:cNvPr>
          <p:cNvSpPr txBox="1"/>
          <p:nvPr/>
        </p:nvSpPr>
        <p:spPr>
          <a:xfrm>
            <a:off x="341087" y="1510808"/>
            <a:ext cx="6996574" cy="66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 err="1">
                <a:solidFill>
                  <a:schemeClr val="bg2"/>
                </a:solidFill>
                <a:latin typeface="+mn-ea"/>
                <a:ea typeface="+mn-ea"/>
              </a:rPr>
              <a:t>文件与系统操作</a:t>
            </a: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sz="2800" b="1" dirty="0" err="1">
                <a:solidFill>
                  <a:schemeClr val="bg2"/>
                </a:solidFill>
                <a:latin typeface="+mn-ea"/>
                <a:ea typeface="+mn-ea"/>
              </a:rPr>
              <a:t>os、sys</a:t>
            </a:r>
            <a:endParaRPr lang="en-US" sz="2800" b="1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pic>
        <p:nvPicPr>
          <p:cNvPr id="5" name="Picture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5AA6FA35-2E65-949A-B069-702F057D29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6270" b="39358"/>
          <a:stretch>
            <a:fillRect/>
          </a:stretch>
        </p:blipFill>
        <p:spPr>
          <a:xfrm>
            <a:off x="635876" y="2199843"/>
            <a:ext cx="3159145" cy="1441505"/>
          </a:xfrm>
          <a:prstGeom prst="rect">
            <a:avLst/>
          </a:prstGeom>
        </p:spPr>
      </p:pic>
      <p:pic>
        <p:nvPicPr>
          <p:cNvPr id="7" name="Picture 6" descr="A group of text on a black background&#10;&#10;AI-generated content may be incorrect.">
            <a:extLst>
              <a:ext uri="{FF2B5EF4-FFF2-40B4-BE49-F238E27FC236}">
                <a16:creationId xmlns:a16="http://schemas.microsoft.com/office/drawing/2014/main" id="{48C70CA8-A9C0-B339-04BE-F3E5BD3B96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282"/>
          <a:stretch>
            <a:fillRect/>
          </a:stretch>
        </p:blipFill>
        <p:spPr>
          <a:xfrm>
            <a:off x="3915187" y="2216144"/>
            <a:ext cx="7500301" cy="1425204"/>
          </a:xfrm>
          <a:prstGeom prst="rect">
            <a:avLst/>
          </a:prstGeom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E69396D2-75BE-228B-A027-E7DB64F7BE21}"/>
              </a:ext>
            </a:extLst>
          </p:cNvPr>
          <p:cNvSpPr txBox="1"/>
          <p:nvPr/>
        </p:nvSpPr>
        <p:spPr>
          <a:xfrm>
            <a:off x="341088" y="4501565"/>
            <a:ext cx="358430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数据计算与统计等：</a:t>
            </a:r>
            <a:endParaRPr lang="en-US" altLang="zh-CN" sz="2800" b="1" dirty="0">
              <a:solidFill>
                <a:schemeClr val="bg2"/>
              </a:solidFill>
              <a:latin typeface="+mn-ea"/>
              <a:ea typeface="+mn-ea"/>
            </a:endParaRPr>
          </a:p>
          <a:p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math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、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random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、</a:t>
            </a:r>
            <a:r>
              <a:rPr lang="en-US" altLang="zh-CN" sz="2800" dirty="0" err="1">
                <a:solidFill>
                  <a:schemeClr val="bg2"/>
                </a:solidFill>
                <a:latin typeface="+mn-ea"/>
                <a:ea typeface="+mn-ea"/>
              </a:rPr>
              <a:t>statististics</a:t>
            </a:r>
            <a:endParaRPr lang="en-US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pic>
        <p:nvPicPr>
          <p:cNvPr id="8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D87A25D-104B-83F2-8C83-92083E9E25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5391" y="3914730"/>
            <a:ext cx="7490097" cy="277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522713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BD5F3-5F53-5FA9-D2AB-0485D9C1F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0520AA9-5923-C4A3-ACE3-68F3BB856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+mn-ea"/>
              </a:rPr>
              <a:t>标准库与第三方库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452499-D372-2FBA-C44F-6EFEA0897549}"/>
              </a:ext>
            </a:extLst>
          </p:cNvPr>
          <p:cNvSpPr txBox="1"/>
          <p:nvPr/>
        </p:nvSpPr>
        <p:spPr>
          <a:xfrm>
            <a:off x="471713" y="880398"/>
            <a:ext cx="6030687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Python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第三方库</a:t>
            </a:r>
            <a:endParaRPr lang="en-US" altLang="zh-CN" sz="32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EA8241-F27A-BC22-6D1D-C320943718E9}"/>
              </a:ext>
            </a:extLst>
          </p:cNvPr>
          <p:cNvSpPr txBox="1"/>
          <p:nvPr/>
        </p:nvSpPr>
        <p:spPr>
          <a:xfrm>
            <a:off x="624114" y="1609579"/>
            <a:ext cx="10943771" cy="743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 err="1">
                <a:solidFill>
                  <a:schemeClr val="bg2"/>
                </a:solidFill>
                <a:latin typeface="+mn-ea"/>
                <a:ea typeface="+mn-ea"/>
              </a:rPr>
              <a:t>数据处理三剑客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sz="3200" dirty="0" err="1">
                <a:solidFill>
                  <a:schemeClr val="bg2"/>
                </a:solidFill>
                <a:latin typeface="+mn-ea"/>
                <a:ea typeface="+mn-ea"/>
              </a:rPr>
              <a:t>Numpy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，</a:t>
            </a:r>
            <a:r>
              <a:rPr lang="en-US" sz="3200" dirty="0">
                <a:solidFill>
                  <a:schemeClr val="bg2"/>
                </a:solidFill>
                <a:latin typeface="+mn-ea"/>
                <a:ea typeface="+mn-ea"/>
              </a:rPr>
              <a:t>Pandas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， </a:t>
            </a:r>
            <a:r>
              <a:rPr lang="en-US" altLang="zh-CN" sz="3200" dirty="0">
                <a:solidFill>
                  <a:schemeClr val="bg2"/>
                </a:solidFill>
                <a:latin typeface="+mn-ea"/>
                <a:ea typeface="+mn-ea"/>
              </a:rPr>
              <a:t>Matplotlib</a:t>
            </a:r>
            <a:endParaRPr lang="en-US" sz="32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6DE1E74-7E4B-A6A8-D10F-C49348F57B46}"/>
              </a:ext>
            </a:extLst>
          </p:cNvPr>
          <p:cNvGraphicFramePr>
            <a:graphicFrameLocks noGrp="1"/>
          </p:cNvGraphicFramePr>
          <p:nvPr/>
        </p:nvGraphicFramePr>
        <p:xfrm>
          <a:off x="624115" y="2448196"/>
          <a:ext cx="11054741" cy="2994770"/>
        </p:xfrm>
        <a:graphic>
          <a:graphicData uri="http://schemas.openxmlformats.org/drawingml/2006/table">
            <a:tbl>
              <a:tblPr/>
              <a:tblGrid>
                <a:gridCol w="2036597">
                  <a:extLst>
                    <a:ext uri="{9D8B030D-6E8A-4147-A177-3AD203B41FA5}">
                      <a16:colId xmlns:a16="http://schemas.microsoft.com/office/drawing/2014/main" val="2283228956"/>
                    </a:ext>
                  </a:extLst>
                </a:gridCol>
                <a:gridCol w="4065680">
                  <a:extLst>
                    <a:ext uri="{9D8B030D-6E8A-4147-A177-3AD203B41FA5}">
                      <a16:colId xmlns:a16="http://schemas.microsoft.com/office/drawing/2014/main" val="1378140691"/>
                    </a:ext>
                  </a:extLst>
                </a:gridCol>
                <a:gridCol w="4952464">
                  <a:extLst>
                    <a:ext uri="{9D8B030D-6E8A-4147-A177-3AD203B41FA5}">
                      <a16:colId xmlns:a16="http://schemas.microsoft.com/office/drawing/2014/main" val="4108045389"/>
                    </a:ext>
                  </a:extLst>
                </a:gridCol>
              </a:tblGrid>
              <a:tr h="55541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b="1" dirty="0">
                          <a:solidFill>
                            <a:schemeClr val="bg2"/>
                          </a:solidFill>
                          <a:effectLst/>
                        </a:rPr>
                        <a:t>库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b="1">
                          <a:solidFill>
                            <a:schemeClr val="bg2"/>
                          </a:solidFill>
                          <a:effectLst/>
                        </a:rPr>
                        <a:t>核心功能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b="1">
                          <a:solidFill>
                            <a:schemeClr val="bg2"/>
                          </a:solidFill>
                          <a:effectLst/>
                        </a:rPr>
                        <a:t>优势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9920418"/>
                  </a:ext>
                </a:extLst>
              </a:tr>
              <a:tr h="62420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  <a:effectLst/>
                        </a:rPr>
                        <a:t>NumPy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>
                          <a:solidFill>
                            <a:schemeClr val="bg2"/>
                          </a:solidFill>
                          <a:effectLst/>
                        </a:rPr>
                        <a:t>多维数组与数学运算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>
                          <a:solidFill>
                            <a:schemeClr val="bg2"/>
                          </a:solidFill>
                          <a:effectLst/>
                        </a:rPr>
                        <a:t>高性能数值计算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09642"/>
                  </a:ext>
                </a:extLst>
              </a:tr>
              <a:tr h="102861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800">
                          <a:solidFill>
                            <a:schemeClr val="bg2"/>
                          </a:solidFill>
                          <a:effectLst/>
                        </a:rPr>
                        <a:t>Pandas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dirty="0">
                          <a:solidFill>
                            <a:schemeClr val="bg2"/>
                          </a:solidFill>
                          <a:effectLst/>
                        </a:rPr>
                        <a:t>结构化数据分析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>
                          <a:solidFill>
                            <a:schemeClr val="bg2"/>
                          </a:solidFill>
                          <a:effectLst/>
                        </a:rPr>
                        <a:t>表格数据处理、时间序列分析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0289158"/>
                  </a:ext>
                </a:extLst>
              </a:tr>
              <a:tr h="55541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  <a:effectLst/>
                        </a:rPr>
                        <a:t>Matplotlib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dirty="0">
                          <a:solidFill>
                            <a:schemeClr val="bg2"/>
                          </a:solidFill>
                          <a:effectLst/>
                        </a:rPr>
                        <a:t>数据可视化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dirty="0">
                          <a:solidFill>
                            <a:schemeClr val="bg2"/>
                          </a:solidFill>
                          <a:effectLst/>
                        </a:rPr>
                        <a:t>丰富的图表类型支持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65134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0258A42-D03D-C8BA-9C3E-F18BE2978705}"/>
              </a:ext>
            </a:extLst>
          </p:cNvPr>
          <p:cNvSpPr txBox="1"/>
          <p:nvPr/>
        </p:nvSpPr>
        <p:spPr>
          <a:xfrm>
            <a:off x="490002" y="5649640"/>
            <a:ext cx="3497396" cy="1015663"/>
          </a:xfrm>
          <a:prstGeom prst="rect">
            <a:avLst/>
          </a:prstGeom>
          <a:solidFill>
            <a:schemeClr val="accent6">
              <a:alpha val="35999"/>
            </a:schemeClr>
          </a:solidFill>
          <a:ln w="28575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400" dirty="0">
                <a:solidFill>
                  <a:schemeClr val="bg2"/>
                </a:solidFill>
                <a:latin typeface="+mn-ea"/>
                <a:ea typeface="+mn-ea"/>
              </a:rPr>
              <a:t>pip install </a:t>
            </a:r>
            <a:r>
              <a:rPr lang="en-US" altLang="zh-CN" sz="2400" dirty="0" err="1">
                <a:solidFill>
                  <a:schemeClr val="bg2"/>
                </a:solidFill>
                <a:latin typeface="+mn-ea"/>
                <a:ea typeface="+mn-ea"/>
              </a:rPr>
              <a:t>numpy</a:t>
            </a:r>
            <a:r>
              <a:rPr lang="en-US" altLang="zh-CN" sz="2400" dirty="0">
                <a:solidFill>
                  <a:schemeClr val="bg2"/>
                </a:solidFill>
                <a:latin typeface="+mn-ea"/>
                <a:ea typeface="+mn-ea"/>
              </a:rPr>
              <a:t> </a:t>
            </a:r>
          </a:p>
          <a:p>
            <a:pPr algn="l"/>
            <a:r>
              <a:rPr lang="en-US" altLang="zh-CN" sz="2400" dirty="0" err="1">
                <a:solidFill>
                  <a:schemeClr val="bg2"/>
                </a:solidFill>
                <a:latin typeface="+mn-ea"/>
                <a:ea typeface="+mn-ea"/>
              </a:rPr>
              <a:t>conda</a:t>
            </a:r>
            <a:r>
              <a:rPr lang="en-US" altLang="zh-CN" sz="2400" dirty="0">
                <a:solidFill>
                  <a:schemeClr val="bg2"/>
                </a:solidFill>
                <a:latin typeface="+mn-ea"/>
                <a:ea typeface="+mn-ea"/>
              </a:rPr>
              <a:t> install </a:t>
            </a:r>
            <a:r>
              <a:rPr lang="en-US" altLang="zh-CN" sz="2400" dirty="0" err="1">
                <a:solidFill>
                  <a:schemeClr val="bg2"/>
                </a:solidFill>
                <a:latin typeface="+mn-ea"/>
                <a:ea typeface="+mn-ea"/>
              </a:rPr>
              <a:t>numpy</a:t>
            </a:r>
            <a:endParaRPr lang="en-US" altLang="zh-CN" sz="24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BA4C88-3ABE-D7A7-86B3-E60B1329735C}"/>
              </a:ext>
            </a:extLst>
          </p:cNvPr>
          <p:cNvSpPr txBox="1"/>
          <p:nvPr/>
        </p:nvSpPr>
        <p:spPr>
          <a:xfrm>
            <a:off x="4346301" y="5649639"/>
            <a:ext cx="3497396" cy="1015663"/>
          </a:xfrm>
          <a:prstGeom prst="rect">
            <a:avLst/>
          </a:prstGeom>
          <a:solidFill>
            <a:schemeClr val="accent6">
              <a:alpha val="35999"/>
            </a:schemeClr>
          </a:solidFill>
          <a:ln w="28575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400" dirty="0">
                <a:solidFill>
                  <a:schemeClr val="bg2"/>
                </a:solidFill>
                <a:latin typeface="+mn-ea"/>
                <a:ea typeface="+mn-ea"/>
              </a:rPr>
              <a:t>pip install pandas</a:t>
            </a:r>
          </a:p>
          <a:p>
            <a:pPr algn="l"/>
            <a:r>
              <a:rPr lang="en-US" altLang="zh-CN" sz="2400" dirty="0" err="1">
                <a:solidFill>
                  <a:schemeClr val="bg2"/>
                </a:solidFill>
                <a:latin typeface="+mn-ea"/>
                <a:ea typeface="+mn-ea"/>
              </a:rPr>
              <a:t>conda</a:t>
            </a:r>
            <a:r>
              <a:rPr lang="en-US" altLang="zh-CN" sz="2400" dirty="0">
                <a:solidFill>
                  <a:schemeClr val="bg2"/>
                </a:solidFill>
                <a:latin typeface="+mn-ea"/>
                <a:ea typeface="+mn-ea"/>
              </a:rPr>
              <a:t> install </a:t>
            </a:r>
            <a:r>
              <a:rPr lang="en-US" altLang="zh-CN" dirty="0">
                <a:solidFill>
                  <a:schemeClr val="bg2"/>
                </a:solidFill>
                <a:latin typeface="+mn-ea"/>
              </a:rPr>
              <a:t>pandas</a:t>
            </a:r>
            <a:endParaRPr lang="en-US" altLang="zh-CN" sz="24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8EAC60-5A2B-2CD5-A10F-60834F7FE0B7}"/>
              </a:ext>
            </a:extLst>
          </p:cNvPr>
          <p:cNvSpPr txBox="1"/>
          <p:nvPr/>
        </p:nvSpPr>
        <p:spPr>
          <a:xfrm>
            <a:off x="8202600" y="5649639"/>
            <a:ext cx="3649879" cy="1015663"/>
          </a:xfrm>
          <a:prstGeom prst="rect">
            <a:avLst/>
          </a:prstGeom>
          <a:solidFill>
            <a:schemeClr val="accent6">
              <a:alpha val="35999"/>
            </a:schemeClr>
          </a:solidFill>
          <a:ln w="28575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400" dirty="0">
                <a:solidFill>
                  <a:schemeClr val="bg2"/>
                </a:solidFill>
                <a:latin typeface="+mn-ea"/>
                <a:ea typeface="+mn-ea"/>
              </a:rPr>
              <a:t>pip install </a:t>
            </a:r>
            <a:r>
              <a:rPr lang="en-US" altLang="zh-CN" dirty="0">
                <a:solidFill>
                  <a:schemeClr val="bg2"/>
                </a:solidFill>
                <a:latin typeface="+mn-ea"/>
              </a:rPr>
              <a:t>matplotlib</a:t>
            </a:r>
            <a:endParaRPr lang="en-US" altLang="zh-CN" sz="24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/>
            <a:r>
              <a:rPr lang="en-US" altLang="zh-CN" sz="2400" dirty="0" err="1">
                <a:solidFill>
                  <a:schemeClr val="bg2"/>
                </a:solidFill>
                <a:latin typeface="+mn-ea"/>
                <a:ea typeface="+mn-ea"/>
              </a:rPr>
              <a:t>conda</a:t>
            </a:r>
            <a:r>
              <a:rPr lang="en-US" altLang="zh-CN" sz="2400" dirty="0">
                <a:solidFill>
                  <a:schemeClr val="bg2"/>
                </a:solidFill>
                <a:latin typeface="+mn-ea"/>
                <a:ea typeface="+mn-ea"/>
              </a:rPr>
              <a:t> install </a:t>
            </a:r>
            <a:r>
              <a:rPr lang="en-US" altLang="zh-CN" dirty="0">
                <a:solidFill>
                  <a:schemeClr val="bg2"/>
                </a:solidFill>
                <a:latin typeface="+mn-ea"/>
              </a:rPr>
              <a:t>matplotlib</a:t>
            </a:r>
            <a:endParaRPr lang="en-US" altLang="zh-CN" sz="2400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07537084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716D2-86B2-586C-CEC2-99800A4C9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79C29DD-BB7C-8879-D6BA-D003903EF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三、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+mn-ea"/>
              </a:rPr>
              <a:t>标准库与第三方库</a:t>
            </a:r>
            <a:endParaRPr lang="zh-CN" altLang="en-US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CD452499-D372-2FBA-C44F-6EFEA0897549}"/>
              </a:ext>
            </a:extLst>
          </p:cNvPr>
          <p:cNvSpPr txBox="1"/>
          <p:nvPr/>
        </p:nvSpPr>
        <p:spPr>
          <a:xfrm>
            <a:off x="611712" y="844210"/>
            <a:ext cx="7741811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1pPr>
            <a:lvl2pPr marL="4572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2pPr>
            <a:lvl3pPr marL="9144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3pPr>
            <a:lvl4pPr marL="13716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4pPr>
            <a:lvl5pPr marL="18288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Python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第三方库</a:t>
            </a: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-</a:t>
            </a:r>
            <a:r>
              <a:rPr lang="en-US" altLang="zh-CN" sz="3200" b="1" dirty="0" err="1">
                <a:solidFill>
                  <a:schemeClr val="accent2"/>
                </a:solidFill>
                <a:latin typeface="+mn-ea"/>
                <a:ea typeface="+mn-ea"/>
              </a:rPr>
              <a:t>Numpy</a:t>
            </a:r>
            <a:endParaRPr lang="en-US" altLang="zh-CN" sz="32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D56E66-3806-91F3-E44F-E429181BD448}"/>
              </a:ext>
            </a:extLst>
          </p:cNvPr>
          <p:cNvSpPr txBox="1"/>
          <p:nvPr/>
        </p:nvSpPr>
        <p:spPr>
          <a:xfrm>
            <a:off x="611712" y="1631755"/>
            <a:ext cx="11275488" cy="2170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是开源</a:t>
            </a:r>
            <a:r>
              <a:rPr lang="en-US" sz="2800" dirty="0">
                <a:solidFill>
                  <a:schemeClr val="bg2"/>
                </a:solidFill>
                <a:latin typeface="+mn-ea"/>
                <a:ea typeface="+mn-ea"/>
              </a:rPr>
              <a:t>Python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库，广泛应用在</a:t>
            </a: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数据分析和科学计算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领域。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NumPy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的许多底层函数由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C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语言实现，因此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NumPy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具有</a:t>
            </a: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较高的运算效率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。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E289D6-1B85-CAA3-8E75-FEB9ED8D5043}"/>
              </a:ext>
            </a:extLst>
          </p:cNvPr>
          <p:cNvSpPr txBox="1"/>
          <p:nvPr/>
        </p:nvSpPr>
        <p:spPr>
          <a:xfrm>
            <a:off x="2561001" y="3228988"/>
            <a:ext cx="9584700" cy="3351046"/>
          </a:xfrm>
          <a:prstGeom prst="rect">
            <a:avLst/>
          </a:prstGeom>
          <a:noFill/>
          <a:ln w="28575">
            <a:solidFill>
              <a:srgbClr val="00B050"/>
            </a:solidFill>
            <a:prstDash val="dash"/>
          </a:ln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创建数组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CN" altLang="zh-CN" dirty="0">
                <a:solidFill>
                  <a:schemeClr val="bg2"/>
                </a:solidFill>
                <a:latin typeface="+mn-ea"/>
                <a:ea typeface="+mn-ea"/>
              </a:rPr>
              <a:t>np.array()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，</a:t>
            </a:r>
            <a:r>
              <a:rPr lang="en-CN" altLang="zh-CN" dirty="0">
                <a:solidFill>
                  <a:schemeClr val="bg2"/>
                </a:solidFill>
                <a:latin typeface="+mn-ea"/>
                <a:ea typeface="+mn-ea"/>
              </a:rPr>
              <a:t>np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.zeros(), 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np.ones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()…</a:t>
            </a:r>
          </a:p>
          <a:p>
            <a:pPr algn="l">
              <a:lnSpc>
                <a:spcPct val="150000"/>
              </a:lnSpc>
            </a:pP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矩阵运算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：*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对应元素相乘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)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， </a:t>
            </a:r>
            <a:r>
              <a:rPr lang="en-CN" altLang="zh-CN" dirty="0">
                <a:solidFill>
                  <a:schemeClr val="bg2"/>
                </a:solidFill>
                <a:latin typeface="+mn-ea"/>
                <a:ea typeface="+mn-ea"/>
              </a:rPr>
              <a:t>np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.dot()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（矩阵内积）、</a:t>
            </a:r>
            <a:r>
              <a:rPr lang="en-CN" altLang="zh-CN" dirty="0">
                <a:solidFill>
                  <a:schemeClr val="bg2"/>
                </a:solidFill>
                <a:latin typeface="+mn-ea"/>
                <a:ea typeface="+mn-ea"/>
              </a:rPr>
              <a:t>np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.mean()(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平均值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)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，</a:t>
            </a:r>
            <a:r>
              <a:rPr lang="en-CN" altLang="zh-CN" dirty="0">
                <a:solidFill>
                  <a:schemeClr val="bg2"/>
                </a:solidFill>
                <a:latin typeface="+mn-ea"/>
                <a:ea typeface="+mn-ea"/>
              </a:rPr>
              <a:t>np.max()(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最大值</a:t>
            </a:r>
            <a:r>
              <a:rPr lang="en-CN" altLang="zh-CN" dirty="0">
                <a:solidFill>
                  <a:schemeClr val="bg2"/>
                </a:solidFill>
                <a:latin typeface="+mn-ea"/>
                <a:ea typeface="+mn-ea"/>
              </a:rPr>
              <a:t>)</a:t>
            </a:r>
            <a:r>
              <a:rPr lang="zh-CN" altLang="en-CN" dirty="0">
                <a:solidFill>
                  <a:schemeClr val="bg2"/>
                </a:solidFill>
                <a:latin typeface="+mn-ea"/>
                <a:ea typeface="+mn-ea"/>
              </a:rPr>
              <a:t>等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。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索引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：元素所在数组位置。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数组合并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np.vstack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(), 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np.hstack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(), 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np.newaxis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(), 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np.concatenate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1FCDB9-E706-31EB-1075-B5EE60F13E79}"/>
              </a:ext>
            </a:extLst>
          </p:cNvPr>
          <p:cNvSpPr txBox="1"/>
          <p:nvPr/>
        </p:nvSpPr>
        <p:spPr>
          <a:xfrm>
            <a:off x="458985" y="4370918"/>
            <a:ext cx="20064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800" dirty="0">
                <a:solidFill>
                  <a:schemeClr val="bg2"/>
                </a:solidFill>
                <a:latin typeface="+mn-ea"/>
                <a:ea typeface="+mn-ea"/>
              </a:rPr>
              <a:t>主要功能及使用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endParaRPr lang="en-CN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B3D7948F-BBEE-1157-7319-6DA3B0E17E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5199" b="69509"/>
          <a:stretch>
            <a:fillRect/>
          </a:stretch>
        </p:blipFill>
        <p:spPr>
          <a:xfrm>
            <a:off x="7338349" y="4798975"/>
            <a:ext cx="4017663" cy="110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738081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679A5-28AF-079A-9263-76B3671E2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F886346-B0D4-D77D-ABFD-9537B1F06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三、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+mn-ea"/>
              </a:rPr>
              <a:t>标准库与第三方库</a:t>
            </a:r>
            <a:endParaRPr lang="zh-CN" altLang="en-US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B04EF2B4-9F82-79D3-73A7-F7ABFD3D4677}"/>
              </a:ext>
            </a:extLst>
          </p:cNvPr>
          <p:cNvSpPr txBox="1"/>
          <p:nvPr/>
        </p:nvSpPr>
        <p:spPr>
          <a:xfrm>
            <a:off x="522513" y="800688"/>
            <a:ext cx="7741811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1pPr>
            <a:lvl2pPr marL="4572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2pPr>
            <a:lvl3pPr marL="9144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3pPr>
            <a:lvl4pPr marL="13716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4pPr>
            <a:lvl5pPr marL="18288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Python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第三方库</a:t>
            </a: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-Pandas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293719-93FC-5FBF-0F96-BA17A2740B07}"/>
              </a:ext>
            </a:extLst>
          </p:cNvPr>
          <p:cNvSpPr txBox="1"/>
          <p:nvPr/>
        </p:nvSpPr>
        <p:spPr>
          <a:xfrm>
            <a:off x="611712" y="1631755"/>
            <a:ext cx="11275488" cy="1519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基于</a:t>
            </a:r>
            <a:r>
              <a:rPr lang="en-US" sz="2800" dirty="0" err="1">
                <a:solidFill>
                  <a:schemeClr val="bg2"/>
                </a:solidFill>
                <a:latin typeface="+mn-ea"/>
                <a:ea typeface="+mn-ea"/>
              </a:rPr>
              <a:t>Numpy开发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，用于数据挖掘、数据分析以及数据处理。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能够简单、直观地处理结构化数据。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1A9E70-47A6-FE16-AC16-8CC8FC3C81C6}"/>
              </a:ext>
            </a:extLst>
          </p:cNvPr>
          <p:cNvSpPr txBox="1"/>
          <p:nvPr/>
        </p:nvSpPr>
        <p:spPr>
          <a:xfrm>
            <a:off x="652040" y="4454961"/>
            <a:ext cx="22008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800" dirty="0">
                <a:solidFill>
                  <a:schemeClr val="bg2"/>
                </a:solidFill>
                <a:latin typeface="+mn-ea"/>
                <a:ea typeface="+mn-ea"/>
              </a:rPr>
              <a:t>主要功能及使用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endParaRPr lang="en-CN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DA76CF-AD6F-7C0F-4ADE-91D33A036D3E}"/>
              </a:ext>
            </a:extLst>
          </p:cNvPr>
          <p:cNvSpPr txBox="1"/>
          <p:nvPr/>
        </p:nvSpPr>
        <p:spPr>
          <a:xfrm>
            <a:off x="2882556" y="3238419"/>
            <a:ext cx="8657404" cy="2677656"/>
          </a:xfrm>
          <a:prstGeom prst="rect">
            <a:avLst/>
          </a:prstGeom>
          <a:noFill/>
          <a:ln w="28575">
            <a:solidFill>
              <a:srgbClr val="00B050"/>
            </a:solidFill>
            <a:prstDash val="dash"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b="1" dirty="0" err="1">
                <a:solidFill>
                  <a:schemeClr val="bg2"/>
                </a:solidFill>
                <a:latin typeface="+mn-ea"/>
                <a:ea typeface="+mn-ea"/>
              </a:rPr>
              <a:t>DataFrame</a:t>
            </a: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添加</a:t>
            </a:r>
            <a:r>
              <a:rPr lang="en-US" altLang="zh-CN" b="1" dirty="0">
                <a:solidFill>
                  <a:schemeClr val="bg2"/>
                </a:solidFill>
                <a:latin typeface="+mn-ea"/>
                <a:ea typeface="+mn-ea"/>
              </a:rPr>
              <a:t>/</a:t>
            </a: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删除数据</a:t>
            </a:r>
            <a:endParaRPr lang="en-US" altLang="zh-CN" b="1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/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处理丢失的数据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 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dataframe.drop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</a:p>
          <a:p>
            <a:pPr algn="l"/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数据读写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pandas.read_csv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，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dataframe.to_csv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</a:p>
          <a:p>
            <a:pPr algn="l"/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数据合并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pandas.concat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</a:p>
          <a:p>
            <a:pPr algn="l"/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数据可视化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dataframe.plot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</a:p>
        </p:txBody>
      </p:sp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F77C252D-3541-9366-B7F9-6605C0AEB1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939" b="39107"/>
          <a:stretch>
            <a:fillRect/>
          </a:stretch>
        </p:blipFill>
        <p:spPr>
          <a:xfrm>
            <a:off x="2882556" y="6003156"/>
            <a:ext cx="7214794" cy="749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280249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E737F-12F2-95E4-165E-27396F3F8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7510DDC-500B-460B-DFBA-BEBC3BE67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三、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+mn-ea"/>
              </a:rPr>
              <a:t>标准库与第三方库</a:t>
            </a:r>
            <a:endParaRPr lang="zh-CN" altLang="en-US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220F6501-5206-179D-8A3B-BE0425DF4E8D}"/>
              </a:ext>
            </a:extLst>
          </p:cNvPr>
          <p:cNvSpPr txBox="1"/>
          <p:nvPr/>
        </p:nvSpPr>
        <p:spPr>
          <a:xfrm>
            <a:off x="522513" y="800688"/>
            <a:ext cx="7741811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1pPr>
            <a:lvl2pPr marL="4572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2pPr>
            <a:lvl3pPr marL="9144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3pPr>
            <a:lvl4pPr marL="13716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4pPr>
            <a:lvl5pPr marL="18288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Python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第三方库</a:t>
            </a: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-Matplotlib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F0A8AF-71B9-2AF1-7DBF-A61D590E4FBD}"/>
              </a:ext>
            </a:extLst>
          </p:cNvPr>
          <p:cNvSpPr txBox="1"/>
          <p:nvPr/>
        </p:nvSpPr>
        <p:spPr>
          <a:xfrm>
            <a:off x="611712" y="1631755"/>
            <a:ext cx="11275488" cy="1519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用于绘制图形的</a:t>
            </a:r>
            <a:r>
              <a:rPr lang="en-US" sz="2800" dirty="0" err="1">
                <a:solidFill>
                  <a:schemeClr val="bg2"/>
                </a:solidFill>
                <a:latin typeface="+mn-ea"/>
                <a:ea typeface="+mn-ea"/>
              </a:rPr>
              <a:t>Python第三方库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通常和 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P</a:t>
            </a:r>
            <a:r>
              <a:rPr lang="en-US" sz="2800" dirty="0">
                <a:solidFill>
                  <a:schemeClr val="bg2"/>
                </a:solidFill>
                <a:latin typeface="+mn-ea"/>
                <a:ea typeface="+mn-ea"/>
              </a:rPr>
              <a:t>andas 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与 </a:t>
            </a:r>
            <a:r>
              <a:rPr lang="en-US" sz="2800" dirty="0">
                <a:solidFill>
                  <a:schemeClr val="bg2"/>
                </a:solidFill>
                <a:latin typeface="+mn-ea"/>
                <a:ea typeface="+mn-ea"/>
              </a:rPr>
              <a:t>NumPy 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库一起使用。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47EA68-9C36-4D28-ECFC-973A6DBB96A2}"/>
              </a:ext>
            </a:extLst>
          </p:cNvPr>
          <p:cNvSpPr txBox="1"/>
          <p:nvPr/>
        </p:nvSpPr>
        <p:spPr>
          <a:xfrm>
            <a:off x="611712" y="4493935"/>
            <a:ext cx="22008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800" dirty="0">
                <a:solidFill>
                  <a:schemeClr val="bg2"/>
                </a:solidFill>
                <a:latin typeface="+mn-ea"/>
                <a:ea typeface="+mn-ea"/>
              </a:rPr>
              <a:t>主要功能及使用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endParaRPr lang="en-CN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6F60CF-7048-7CBE-EA1F-6948C155BB6F}"/>
              </a:ext>
            </a:extLst>
          </p:cNvPr>
          <p:cNvSpPr txBox="1"/>
          <p:nvPr/>
        </p:nvSpPr>
        <p:spPr>
          <a:xfrm>
            <a:off x="2821733" y="3355162"/>
            <a:ext cx="9065467" cy="3231654"/>
          </a:xfrm>
          <a:prstGeom prst="rect">
            <a:avLst/>
          </a:prstGeom>
          <a:noFill/>
          <a:ln w="28575">
            <a:solidFill>
              <a:srgbClr val="00B050"/>
            </a:solidFill>
            <a:prstDash val="dash"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绘制画布</a:t>
            </a:r>
            <a:r>
              <a:rPr lang="en-US" altLang="zh-CN" b="1" dirty="0">
                <a:solidFill>
                  <a:schemeClr val="bg2"/>
                </a:solidFill>
                <a:latin typeface="+mn-ea"/>
                <a:ea typeface="+mn-ea"/>
              </a:rPr>
              <a:t>/</a:t>
            </a: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画板：</a:t>
            </a:r>
            <a:r>
              <a:rPr lang="en-US" altLang="zh-CN" b="1" dirty="0" err="1">
                <a:solidFill>
                  <a:schemeClr val="bg2"/>
                </a:solidFill>
                <a:latin typeface="+mn-ea"/>
                <a:ea typeface="+mn-ea"/>
              </a:rPr>
              <a:t>plt.figure</a:t>
            </a:r>
            <a:r>
              <a:rPr lang="en-US" altLang="zh-CN" b="1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，</a:t>
            </a:r>
            <a:r>
              <a:rPr lang="en-US" altLang="zh-CN" b="1" dirty="0">
                <a:solidFill>
                  <a:schemeClr val="bg2"/>
                </a:solidFill>
                <a:latin typeface="+mn-ea"/>
                <a:ea typeface="+mn-ea"/>
              </a:rPr>
              <a:t>.subplots(1,1)</a:t>
            </a:r>
            <a:endParaRPr lang="en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/>
            <a:r>
              <a:rPr lang="en-CN" b="1" dirty="0">
                <a:solidFill>
                  <a:schemeClr val="bg2"/>
                </a:solidFill>
                <a:latin typeface="+mn-ea"/>
                <a:ea typeface="+mn-ea"/>
              </a:rPr>
              <a:t>线性图绘制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plt.plot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  <a:endParaRPr lang="en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/>
            <a:r>
              <a:rPr lang="en-CN" b="1" dirty="0">
                <a:solidFill>
                  <a:schemeClr val="bg2"/>
                </a:solidFill>
                <a:latin typeface="+mn-ea"/>
                <a:ea typeface="+mn-ea"/>
              </a:rPr>
              <a:t>坐标系设置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CN" altLang="zh-CN" dirty="0">
                <a:solidFill>
                  <a:schemeClr val="bg2"/>
                </a:solidFill>
                <a:latin typeface="+mn-ea"/>
                <a:ea typeface="+mn-ea"/>
              </a:rPr>
              <a:t>plt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.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set_xlabel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(),</a:t>
            </a:r>
            <a:r>
              <a:rPr lang="en-CN" altLang="zh-CN" dirty="0">
                <a:solidFill>
                  <a:schemeClr val="bg2"/>
                </a:solidFill>
                <a:latin typeface="+mn-ea"/>
                <a:ea typeface="+mn-ea"/>
              </a:rPr>
              <a:t> 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plt.set_ylabel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()…</a:t>
            </a:r>
            <a:endParaRPr lang="en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/>
            <a:r>
              <a:rPr lang="en-US" b="1" dirty="0" err="1">
                <a:solidFill>
                  <a:schemeClr val="bg2"/>
                </a:solidFill>
                <a:latin typeface="+mn-ea"/>
                <a:ea typeface="+mn-ea"/>
              </a:rPr>
              <a:t>添加图例</a:t>
            </a:r>
            <a:r>
              <a:rPr lang="en-US" dirty="0">
                <a:solidFill>
                  <a:schemeClr val="bg2"/>
                </a:solidFill>
                <a:latin typeface="+mn-ea"/>
                <a:ea typeface="+mn-ea"/>
              </a:rPr>
              <a:t>: </a:t>
            </a:r>
            <a:r>
              <a:rPr lang="en-US" dirty="0" err="1">
                <a:solidFill>
                  <a:schemeClr val="bg2"/>
                </a:solidFill>
                <a:latin typeface="+mn-ea"/>
                <a:ea typeface="+mn-ea"/>
              </a:rPr>
              <a:t>plt.legend</a:t>
            </a:r>
            <a:r>
              <a:rPr lang="en-US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/>
            <a:r>
              <a:rPr lang="en-US" b="1" dirty="0" err="1">
                <a:solidFill>
                  <a:schemeClr val="bg2"/>
                </a:solidFill>
                <a:latin typeface="+mn-ea"/>
                <a:ea typeface="+mn-ea"/>
              </a:rPr>
              <a:t>柱状图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plt.bar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  <a:endParaRPr lang="en-US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/>
            <a:r>
              <a:rPr lang="en-US" b="1" dirty="0" err="1">
                <a:solidFill>
                  <a:schemeClr val="bg2"/>
                </a:solidFill>
                <a:latin typeface="+mn-ea"/>
                <a:ea typeface="+mn-ea"/>
              </a:rPr>
              <a:t>图像显示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plt.imshow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  <a:endParaRPr lang="en-US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D476F4E8-0C4C-6A6D-DD99-EA0A40043A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6626" r="37113"/>
          <a:stretch>
            <a:fillRect/>
          </a:stretch>
        </p:blipFill>
        <p:spPr>
          <a:xfrm>
            <a:off x="6605980" y="5064199"/>
            <a:ext cx="5166034" cy="135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27686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sz="4000" dirty="0">
                <a:latin typeface="+mn-ea"/>
              </a:rPr>
              <a:t>第</a:t>
            </a:r>
            <a:r>
              <a:rPr lang="en-US" altLang="zh-CN" sz="4000" dirty="0">
                <a:latin typeface="+mn-ea"/>
              </a:rPr>
              <a:t>4</a:t>
            </a:r>
            <a:r>
              <a:rPr lang="zh-CN" altLang="en-US" sz="4000" dirty="0">
                <a:latin typeface="+mn-ea"/>
              </a:rPr>
              <a:t>章、函数与模块化编程</a:t>
            </a:r>
            <a:endParaRPr lang="zh-CN" altLang="en-US" sz="4000" dirty="0"/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DBE2EB52-1153-547D-4DDB-F105FCA1059C}"/>
              </a:ext>
            </a:extLst>
          </p:cNvPr>
          <p:cNvSpPr txBox="1"/>
          <p:nvPr/>
        </p:nvSpPr>
        <p:spPr>
          <a:xfrm>
            <a:off x="442687" y="908405"/>
            <a:ext cx="66548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章节实验</a:t>
            </a: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1-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创建函数、模块和包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68615743-0F76-1E7B-8513-381292D6BC62}"/>
              </a:ext>
            </a:extLst>
          </p:cNvPr>
          <p:cNvSpPr txBox="1"/>
          <p:nvPr/>
        </p:nvSpPr>
        <p:spPr>
          <a:xfrm>
            <a:off x="377373" y="1652391"/>
            <a:ext cx="11611428" cy="4847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3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实验目标：</a:t>
            </a:r>
            <a:endParaRPr lang="en-US" altLang="zh-CN" sz="3000" b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/>
            <a:r>
              <a:rPr lang="zh-CN" altLang="en-US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掌握</a:t>
            </a:r>
            <a:r>
              <a:rPr lang="en-US" altLang="zh-CN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Python</a:t>
            </a:r>
            <a:r>
              <a:rPr lang="zh-CN" altLang="en-US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编程函数、模块和包的创建与使用</a:t>
            </a:r>
            <a:endParaRPr lang="en-US" altLang="zh-CN" sz="2600" dirty="0">
              <a:solidFill>
                <a:schemeClr val="bg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/>
            <a:r>
              <a:rPr lang="zh-CN" altLang="en-US" sz="3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实验内容及要求：</a:t>
            </a:r>
            <a:endParaRPr lang="en-US" altLang="zh-CN" sz="3000" b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/>
            <a:r>
              <a:rPr lang="zh-CN" altLang="en-US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）设计以下函数：</a:t>
            </a:r>
            <a:r>
              <a:rPr lang="en-US" altLang="zh-CN" sz="26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zh-CN" altLang="en-US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查询家乡为某省同学的人数</a:t>
            </a:r>
            <a:r>
              <a:rPr lang="en-US" altLang="zh-CN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</a:t>
            </a:r>
            <a:r>
              <a:rPr lang="en-US" altLang="zh-CN" sz="26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b</a:t>
            </a:r>
            <a:r>
              <a:rPr lang="en-US" altLang="zh-CN" sz="26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查询家乡为某省的同学姓名，</a:t>
            </a: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(c) </a:t>
            </a:r>
            <a:r>
              <a:rPr lang="zh-CN" altLang="en-US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统计一批同学中不同家乡省份的数量，</a:t>
            </a: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(d) </a:t>
            </a:r>
            <a:r>
              <a:rPr lang="zh-CN" altLang="en-US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统计一批同学中不同家乡城市的数量。</a:t>
            </a:r>
            <a:endParaRPr lang="en-US" altLang="zh-CN" sz="2600" dirty="0">
              <a:solidFill>
                <a:schemeClr val="bg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/>
            <a:r>
              <a:rPr lang="zh-CN" altLang="en-US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）将</a:t>
            </a:r>
            <a:r>
              <a:rPr lang="en-US" altLang="zh-CN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26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)(</a:t>
            </a: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b</a:t>
            </a:r>
            <a:r>
              <a:rPr lang="en-US" altLang="zh-CN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函数</a:t>
            </a:r>
            <a:r>
              <a:rPr lang="zh-CN" altLang="en-US" sz="2600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保存到模块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module1.py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，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(c)(d)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函数保存到模块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module2.py.</a:t>
            </a:r>
          </a:p>
          <a:p>
            <a:pPr algn="just"/>
            <a:r>
              <a:rPr lang="zh-CN" altLang="en-US" sz="2600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（</a:t>
            </a: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3</a:t>
            </a:r>
            <a:r>
              <a:rPr lang="zh-CN" altLang="en-US" sz="2600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）将</a:t>
            </a: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module1.py</a:t>
            </a:r>
            <a:r>
              <a:rPr lang="zh-CN" altLang="en-US" sz="2600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和</a:t>
            </a: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module2.py</a:t>
            </a:r>
            <a:r>
              <a:rPr lang="zh-CN" altLang="en-US" sz="2600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保存到一个包中。代码演示通过包的导入使用</a:t>
            </a: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(a)(b)(c)(d)</a:t>
            </a:r>
            <a:r>
              <a:rPr lang="zh-CN" altLang="en-US" sz="2600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函数。</a:t>
            </a:r>
            <a:r>
              <a:rPr lang="zh-CN" altLang="en-US" sz="2600" u="sng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主要代码及结果发课程群</a:t>
            </a:r>
            <a:r>
              <a:rPr lang="zh-CN" altLang="en-US" sz="2600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。</a:t>
            </a:r>
            <a:endParaRPr lang="en-US" altLang="zh-CN" sz="2600" dirty="0">
              <a:solidFill>
                <a:schemeClr val="bg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7004688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629C2-4A0E-00DA-0529-323788B07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65D7809-32B9-73D0-DAA2-E70DB954D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sz="4000" dirty="0">
                <a:latin typeface="+mn-ea"/>
              </a:rPr>
              <a:t>第</a:t>
            </a:r>
            <a:r>
              <a:rPr lang="en-US" altLang="zh-CN" sz="4000" dirty="0">
                <a:latin typeface="+mn-ea"/>
              </a:rPr>
              <a:t>4</a:t>
            </a:r>
            <a:r>
              <a:rPr lang="zh-CN" altLang="en-US" sz="4000" dirty="0">
                <a:latin typeface="+mn-ea"/>
              </a:rPr>
              <a:t>章、函数与模块化编程</a:t>
            </a:r>
            <a:endParaRPr lang="zh-CN" altLang="en-US" sz="4000" dirty="0"/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8F3DC74A-684F-BCDC-C414-D34B1CD8DA72}"/>
              </a:ext>
            </a:extLst>
          </p:cNvPr>
          <p:cNvSpPr txBox="1"/>
          <p:nvPr/>
        </p:nvSpPr>
        <p:spPr>
          <a:xfrm>
            <a:off x="552734" y="908405"/>
            <a:ext cx="9984639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章节实验</a:t>
            </a: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2-Python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内置库与第三方库使用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F9F7A302-D1A1-746F-E50F-0B2CEC6C7883}"/>
              </a:ext>
            </a:extLst>
          </p:cNvPr>
          <p:cNvSpPr txBox="1"/>
          <p:nvPr/>
        </p:nvSpPr>
        <p:spPr>
          <a:xfrm>
            <a:off x="486228" y="1819305"/>
            <a:ext cx="11226801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实验目标：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/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掌握</a:t>
            </a: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Python</a:t>
            </a: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常用内置库与第三方库的使用</a:t>
            </a:r>
            <a:endParaRPr lang="en-US" altLang="zh-CN" sz="2800" dirty="0">
              <a:solidFill>
                <a:schemeClr val="bg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/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实验内容及要求：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/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）学习</a:t>
            </a: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Python</a:t>
            </a: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常用内置库、第三方库课程代码。</a:t>
            </a:r>
            <a:endParaRPr lang="en-US" altLang="zh-CN" sz="2800" dirty="0">
              <a:solidFill>
                <a:schemeClr val="bg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/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）使用</a:t>
            </a: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python</a:t>
            </a: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第三方库</a:t>
            </a:r>
            <a:r>
              <a:rPr lang="en-US" altLang="zh-CN" sz="2800" dirty="0" err="1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numpy</a:t>
            </a: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pandas</a:t>
            </a: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matplotlib</a:t>
            </a: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，统计不同省份同学数量并进行图表可视化表达。</a:t>
            </a:r>
            <a:endParaRPr lang="en-US" altLang="zh-CN" sz="2800" dirty="0">
              <a:solidFill>
                <a:schemeClr val="bg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/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）主要代码及结果发课程群。</a:t>
            </a:r>
            <a:endParaRPr lang="en-US" altLang="zh-CN" sz="2800" dirty="0">
              <a:solidFill>
                <a:schemeClr val="bg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2764192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4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三、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开发环境配置</a:t>
            </a:r>
            <a:endParaRPr lang="zh-CN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A7E693-8098-76C4-CD5D-47166ABEB164}"/>
              </a:ext>
            </a:extLst>
          </p:cNvPr>
          <p:cNvSpPr txBox="1"/>
          <p:nvPr/>
        </p:nvSpPr>
        <p:spPr>
          <a:xfrm>
            <a:off x="510073" y="797358"/>
            <a:ext cx="9743375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第二次选做作业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3BC878-BC57-D350-27A3-F03AE48213AC}"/>
              </a:ext>
            </a:extLst>
          </p:cNvPr>
          <p:cNvSpPr txBox="1"/>
          <p:nvPr/>
        </p:nvSpPr>
        <p:spPr>
          <a:xfrm>
            <a:off x="583007" y="2126994"/>
            <a:ext cx="11273508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作业内容及要求：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l"/>
            <a:r>
              <a:rPr lang="en-US" dirty="0">
                <a:solidFill>
                  <a:srgbClr val="333333"/>
                </a:solidFill>
                <a:latin typeface="+mn-ea"/>
                <a:ea typeface="+mn-ea"/>
              </a:rPr>
              <a:t>1. 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结合所学内容设计学生成绩管理函数，代码需逐行注释。</a:t>
            </a:r>
            <a:endParaRPr lang="en-CN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l"/>
            <a:r>
              <a:rPr lang="en-US" dirty="0">
                <a:solidFill>
                  <a:srgbClr val="333333"/>
                </a:solidFill>
                <a:latin typeface="+mn-ea"/>
                <a:ea typeface="+mn-ea"/>
              </a:rPr>
              <a:t>2. 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需具备以下功能（函数）：（</a:t>
            </a:r>
            <a:r>
              <a:rPr lang="en-US" dirty="0">
                <a:solidFill>
                  <a:srgbClr val="333333"/>
                </a:solidFill>
                <a:latin typeface="+mn-ea"/>
                <a:ea typeface="+mn-ea"/>
              </a:rPr>
              <a:t>1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）添加科目及对应学分；（</a:t>
            </a:r>
            <a:r>
              <a:rPr lang="en-US" dirty="0">
                <a:solidFill>
                  <a:srgbClr val="333333"/>
                </a:solidFill>
                <a:latin typeface="+mn-ea"/>
                <a:ea typeface="+mn-ea"/>
              </a:rPr>
              <a:t>2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）录入科目成绩；（</a:t>
            </a:r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3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）计算各科目平均分；（</a:t>
            </a:r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4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）根据学分计算加权平均分；（</a:t>
            </a:r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5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）计算所有同学某科目平均分；（</a:t>
            </a:r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6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）查看某科目最高分等。</a:t>
            </a:r>
            <a:endParaRPr lang="en-CN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l"/>
            <a:r>
              <a:rPr lang="en-US" dirty="0">
                <a:solidFill>
                  <a:srgbClr val="333333"/>
                </a:solidFill>
                <a:latin typeface="+mn-ea"/>
                <a:ea typeface="+mn-ea"/>
              </a:rPr>
              <a:t>3. 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对函数功能进行代码演示及实验总结。</a:t>
            </a:r>
            <a:endParaRPr lang="en-CN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作业提交：</a:t>
            </a:r>
            <a:r>
              <a:rPr lang="en-US" altLang="zh-CN" u="sng" dirty="0">
                <a:solidFill>
                  <a:srgbClr val="333333"/>
                </a:solidFill>
                <a:latin typeface="+mn-ea"/>
                <a:ea typeface="+mn-ea"/>
              </a:rPr>
              <a:t>pdf</a:t>
            </a:r>
            <a:r>
              <a:rPr lang="zh-CN" altLang="en-US" u="sng" dirty="0">
                <a:solidFill>
                  <a:srgbClr val="333333"/>
                </a:solidFill>
                <a:latin typeface="+mn-ea"/>
                <a:ea typeface="+mn-ea"/>
              </a:rPr>
              <a:t>格式实验文档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，要求</a:t>
            </a:r>
            <a:r>
              <a:rPr lang="zh-CN" altLang="en-US" u="sng" dirty="0">
                <a:solidFill>
                  <a:srgbClr val="333333"/>
                </a:solidFill>
                <a:latin typeface="+mn-ea"/>
                <a:ea typeface="+mn-ea"/>
              </a:rPr>
              <a:t>格式规范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、</a:t>
            </a:r>
            <a:r>
              <a:rPr lang="zh-CN" altLang="en-US" u="sng" dirty="0">
                <a:solidFill>
                  <a:srgbClr val="333333"/>
                </a:solidFill>
                <a:latin typeface="+mn-ea"/>
                <a:ea typeface="+mn-ea"/>
              </a:rPr>
              <a:t>内容准确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且实验</a:t>
            </a:r>
            <a:r>
              <a:rPr lang="zh-CN" altLang="en-US" u="sng" dirty="0">
                <a:solidFill>
                  <a:srgbClr val="333333"/>
                </a:solidFill>
                <a:latin typeface="+mn-ea"/>
                <a:ea typeface="+mn-ea"/>
              </a:rPr>
              <a:t>细节充分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。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难度</a:t>
            </a:r>
            <a:r>
              <a:rPr lang="zh-CN" altLang="en-US" sz="3200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r>
              <a:rPr lang="en-US" altLang="zh-CN" sz="3200" b="1" dirty="0">
                <a:solidFill>
                  <a:srgbClr val="FF0000"/>
                </a:solidFill>
                <a:latin typeface="+mn-ea"/>
                <a:ea typeface="+mn-ea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星</a:t>
            </a: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；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截止日期：</a:t>
            </a:r>
            <a:r>
              <a:rPr lang="en-US" altLang="zh-CN" sz="2800" b="1" u="sng" dirty="0">
                <a:solidFill>
                  <a:srgbClr val="FF0000"/>
                </a:solidFill>
                <a:latin typeface="+mn-ea"/>
                <a:ea typeface="+mn-ea"/>
              </a:rPr>
              <a:t>2025</a:t>
            </a:r>
            <a:r>
              <a:rPr lang="zh-CN" altLang="en-US" sz="2800" b="1" u="sng" dirty="0">
                <a:solidFill>
                  <a:srgbClr val="FF0000"/>
                </a:solidFill>
                <a:latin typeface="+mn-ea"/>
                <a:ea typeface="+mn-ea"/>
              </a:rPr>
              <a:t>年</a:t>
            </a:r>
            <a:r>
              <a:rPr lang="en-US" altLang="zh-CN" sz="2800" b="1" u="sng" dirty="0">
                <a:solidFill>
                  <a:srgbClr val="FF0000"/>
                </a:solidFill>
                <a:latin typeface="+mn-ea"/>
                <a:ea typeface="+mn-ea"/>
              </a:rPr>
              <a:t>12</a:t>
            </a:r>
            <a:r>
              <a:rPr lang="zh-CN" altLang="en-US" sz="2800" b="1" u="sng" dirty="0">
                <a:solidFill>
                  <a:srgbClr val="FF0000"/>
                </a:solidFill>
                <a:latin typeface="+mn-ea"/>
                <a:ea typeface="+mn-ea"/>
              </a:rPr>
              <a:t>月</a:t>
            </a:r>
            <a:r>
              <a:rPr lang="en-US" altLang="zh-CN" sz="2800" b="1" u="sng" dirty="0">
                <a:solidFill>
                  <a:srgbClr val="FF0000"/>
                </a:solidFill>
                <a:latin typeface="+mn-ea"/>
                <a:ea typeface="+mn-ea"/>
              </a:rPr>
              <a:t>10</a:t>
            </a:r>
            <a:r>
              <a:rPr lang="zh-CN" altLang="en-US" sz="2800" b="1" u="sng" dirty="0">
                <a:solidFill>
                  <a:srgbClr val="FF0000"/>
                </a:solidFill>
                <a:latin typeface="+mn-ea"/>
                <a:ea typeface="+mn-ea"/>
              </a:rPr>
              <a:t>日</a:t>
            </a:r>
            <a:endParaRPr lang="en-US" altLang="zh-CN" sz="2800" b="1" u="sng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17BA0C2-A265-EE38-7F87-B0E3E08CDBEB}"/>
              </a:ext>
            </a:extLst>
          </p:cNvPr>
          <p:cNvSpPr txBox="1"/>
          <p:nvPr/>
        </p:nvSpPr>
        <p:spPr>
          <a:xfrm>
            <a:off x="939282" y="1529492"/>
            <a:ext cx="103684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u="sng" dirty="0">
                <a:solidFill>
                  <a:srgbClr val="FF0000"/>
                </a:solidFill>
                <a:latin typeface="+mn-ea"/>
                <a:ea typeface="+mn-ea"/>
              </a:rPr>
              <a:t>题目：学生成绩管理程序设计</a:t>
            </a:r>
            <a:endParaRPr lang="en-US" altLang="zh-CN" sz="3200" b="1" u="sng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40880124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9c55888ab0cbd7322514a7fc9bd945c0e60"/>
</p:tagLst>
</file>

<file path=ppt/theme/theme1.xml><?xml version="1.0" encoding="utf-8"?>
<a:theme xmlns:a="http://schemas.openxmlformats.org/drawingml/2006/main" name="2_Global">
  <a:themeElements>
    <a:clrScheme name="自定义 33">
      <a:dk1>
        <a:sysClr val="windowText" lastClr="000000"/>
      </a:dk1>
      <a:lt1>
        <a:sysClr val="window" lastClr="FFFFFF"/>
      </a:lt1>
      <a:dk2>
        <a:srgbClr val="0000CC"/>
      </a:dk2>
      <a:lt2>
        <a:srgbClr val="EEECE1"/>
      </a:lt2>
      <a:accent1>
        <a:srgbClr val="0000CC"/>
      </a:accent1>
      <a:accent2>
        <a:srgbClr val="C00000"/>
      </a:accent2>
      <a:accent3>
        <a:srgbClr val="FF0000"/>
      </a:accent3>
      <a:accent4>
        <a:srgbClr val="FFFF00"/>
      </a:accent4>
      <a:accent5>
        <a:srgbClr val="0000CC"/>
      </a:accent5>
      <a:accent6>
        <a:srgbClr val="CAEAFA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85000"/>
            <a:lumOff val="15000"/>
          </a:schemeClr>
        </a:solidFill>
      </a:spPr>
      <a:bodyPr wrap="square" lIns="0" rtlCol="0" anchor="ctr">
        <a:noAutofit/>
      </a:bodyPr>
      <a:lstStyle>
        <a:defPPr algn="l">
          <a:defRPr b="1" dirty="0" smtClean="0">
            <a:solidFill>
              <a:srgbClr val="FF0000"/>
            </a:solidFill>
            <a:latin typeface="微软雅黑" pitchFamily="34" charset="-122"/>
            <a:ea typeface="微软雅黑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9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7897B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0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1">
        <a:dk1>
          <a:srgbClr val="1B3753"/>
        </a:dk1>
        <a:lt1>
          <a:srgbClr val="FFFFFF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DADA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12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D0EB6B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opyright (c) 2007-2010 NordriDesign™ _light">
  <a:themeElements>
    <a:clrScheme name="1_Copyright (c) 2007-2010 NordriDesign™ _light 1">
      <a:dk1>
        <a:srgbClr val="000000"/>
      </a:dk1>
      <a:lt1>
        <a:srgbClr val="FFFFFF"/>
      </a:lt1>
      <a:dk2>
        <a:srgbClr val="FFFFFF"/>
      </a:dk2>
      <a:lt2>
        <a:srgbClr val="B2B2B2"/>
      </a:lt2>
      <a:accent1>
        <a:srgbClr val="43A1FF"/>
      </a:accent1>
      <a:accent2>
        <a:srgbClr val="00246C"/>
      </a:accent2>
      <a:accent3>
        <a:srgbClr val="FFFFFF"/>
      </a:accent3>
      <a:accent4>
        <a:srgbClr val="000000"/>
      </a:accent4>
      <a:accent5>
        <a:srgbClr val="B0CDFF"/>
      </a:accent5>
      <a:accent6>
        <a:srgbClr val="002061"/>
      </a:accent6>
      <a:hlink>
        <a:srgbClr val="FEA23C"/>
      </a:hlink>
      <a:folHlink>
        <a:srgbClr val="FFFF5B"/>
      </a:folHlink>
    </a:clrScheme>
    <a:fontScheme name="1_Copyright (c) 2007-2010 NordriDesign™ _light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1_Copyright (c) 2007-2010 NordriDesign™ _light 1">
        <a:dk1>
          <a:srgbClr val="000000"/>
        </a:dk1>
        <a:lt1>
          <a:srgbClr val="FFFFFF"/>
        </a:lt1>
        <a:dk2>
          <a:srgbClr val="FFFFFF"/>
        </a:dk2>
        <a:lt2>
          <a:srgbClr val="B2B2B2"/>
        </a:lt2>
        <a:accent1>
          <a:srgbClr val="43A1FF"/>
        </a:accent1>
        <a:accent2>
          <a:srgbClr val="00246C"/>
        </a:accent2>
        <a:accent3>
          <a:srgbClr val="FFFFFF"/>
        </a:accent3>
        <a:accent4>
          <a:srgbClr val="000000"/>
        </a:accent4>
        <a:accent5>
          <a:srgbClr val="B0CDFF"/>
        </a:accent5>
        <a:accent6>
          <a:srgbClr val="002061"/>
        </a:accent6>
        <a:hlink>
          <a:srgbClr val="FEA23C"/>
        </a:hlink>
        <a:folHlink>
          <a:srgbClr val="FFFF5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1533</TotalTime>
  <Words>1713</Words>
  <Application>Microsoft Macintosh PowerPoint</Application>
  <PresentationFormat>Widescreen</PresentationFormat>
  <Paragraphs>208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微软雅黑</vt:lpstr>
      <vt:lpstr>微软雅黑</vt:lpstr>
      <vt:lpstr>黑体</vt:lpstr>
      <vt:lpstr>宋体</vt:lpstr>
      <vt:lpstr>Arial</vt:lpstr>
      <vt:lpstr>Calibri</vt:lpstr>
      <vt:lpstr>Times New Roman</vt:lpstr>
      <vt:lpstr>Wingdings</vt:lpstr>
      <vt:lpstr>2_Global</vt:lpstr>
      <vt:lpstr>1_Copyright (c) 2007-2010 NordriDesign™ _light</vt:lpstr>
      <vt:lpstr>PowerPoint Presentation</vt:lpstr>
      <vt:lpstr>PowerPoint Presentation</vt:lpstr>
      <vt:lpstr>PowerPoint Presentation</vt:lpstr>
      <vt:lpstr>一、Python函数</vt:lpstr>
      <vt:lpstr>一、Python函数</vt:lpstr>
      <vt:lpstr>一、Python函数</vt:lpstr>
      <vt:lpstr>一、Python函数</vt:lpstr>
      <vt:lpstr>一、Python函数</vt:lpstr>
      <vt:lpstr>一、Python函数</vt:lpstr>
      <vt:lpstr>一、Python函数</vt:lpstr>
      <vt:lpstr>一、Python函数</vt:lpstr>
      <vt:lpstr>一、Python函数</vt:lpstr>
      <vt:lpstr>PowerPoint Presentation</vt:lpstr>
      <vt:lpstr>二、Python模块与包</vt:lpstr>
      <vt:lpstr>二、Python模块与包</vt:lpstr>
      <vt:lpstr>二、Python模块与包</vt:lpstr>
      <vt:lpstr>二、Python模块与包</vt:lpstr>
      <vt:lpstr>PowerPoint Presentation</vt:lpstr>
      <vt:lpstr>三、Python标准库与第三方库</vt:lpstr>
      <vt:lpstr>三、Python标准库与第三方库</vt:lpstr>
      <vt:lpstr>三、Python标准库与第三方库</vt:lpstr>
      <vt:lpstr>三、Python标准库与第三方库</vt:lpstr>
      <vt:lpstr>三、Python标准库与第三方库</vt:lpstr>
      <vt:lpstr>三、Python标准库与第三方库</vt:lpstr>
      <vt:lpstr>第4章、函数与模块化编程</vt:lpstr>
      <vt:lpstr>第4章、函数与模块化编程</vt:lpstr>
      <vt:lpstr>三、Python开发环境配置</vt:lpstr>
    </vt:vector>
  </TitlesOfParts>
  <Company>tongji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lsb</dc:creator>
  <cp:lastModifiedBy>Xin Luo</cp:lastModifiedBy>
  <cp:revision>37</cp:revision>
  <dcterms:created xsi:type="dcterms:W3CDTF">2004-07-09T11:40:27Z</dcterms:created>
  <dcterms:modified xsi:type="dcterms:W3CDTF">2026-08-27T06:20:45Z</dcterms:modified>
</cp:coreProperties>
</file>