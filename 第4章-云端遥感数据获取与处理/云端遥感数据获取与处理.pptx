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773" r:id="rId1"/>
    <p:sldMasterId id="2147484986" r:id="rId2"/>
  </p:sldMasterIdLst>
  <p:notesMasterIdLst>
    <p:notesMasterId r:id="rId17"/>
  </p:notesMasterIdLst>
  <p:handoutMasterIdLst>
    <p:handoutMasterId r:id="rId18"/>
  </p:handoutMasterIdLst>
  <p:sldIdLst>
    <p:sldId id="2206" r:id="rId3"/>
    <p:sldId id="2722" r:id="rId4"/>
    <p:sldId id="2736" r:id="rId5"/>
    <p:sldId id="2700" r:id="rId6"/>
    <p:sldId id="2794" r:id="rId7"/>
    <p:sldId id="2799" r:id="rId8"/>
    <p:sldId id="2800" r:id="rId9"/>
    <p:sldId id="2801" r:id="rId10"/>
    <p:sldId id="2805" r:id="rId11"/>
    <p:sldId id="2802" r:id="rId12"/>
    <p:sldId id="2803" r:id="rId13"/>
    <p:sldId id="2797" r:id="rId14"/>
    <p:sldId id="2804" r:id="rId15"/>
    <p:sldId id="2806" r:id="rId16"/>
  </p:sldIdLst>
  <p:sldSz cx="12192000" cy="6858000"/>
  <p:notesSz cx="7099300" cy="10234613"/>
  <p:custDataLst>
    <p:tags r:id="rId19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412" userDrawn="1">
          <p15:clr>
            <a:srgbClr val="A4A3A4"/>
          </p15:clr>
        </p15:guide>
        <p15:guide id="3" pos="241" userDrawn="1">
          <p15:clr>
            <a:srgbClr val="A4A3A4"/>
          </p15:clr>
        </p15:guide>
        <p15:guide id="4" pos="7408" userDrawn="1">
          <p15:clr>
            <a:srgbClr val="A4A3A4"/>
          </p15:clr>
        </p15:guide>
        <p15:guide id="5" pos="3871" userDrawn="1">
          <p15:clr>
            <a:srgbClr val="A4A3A4"/>
          </p15:clr>
        </p15:guide>
        <p15:guide id="6" orient="horz" pos="700" userDrawn="1">
          <p15:clr>
            <a:srgbClr val="A4A3A4"/>
          </p15:clr>
        </p15:guide>
        <p15:guide id="7" orient="horz" pos="4119" userDrawn="1">
          <p15:clr>
            <a:srgbClr val="A4A3A4"/>
          </p15:clr>
        </p15:guide>
        <p15:guide id="8" pos="415" userDrawn="1">
          <p15:clr>
            <a:srgbClr val="A4A3A4"/>
          </p15:clr>
        </p15:guide>
        <p15:guide id="9" pos="7335" userDrawn="1">
          <p15:clr>
            <a:srgbClr val="A4A3A4"/>
          </p15:clr>
        </p15:guide>
        <p15:guide id="10" orient="horz" pos="462" userDrawn="1">
          <p15:clr>
            <a:srgbClr val="A4A3A4"/>
          </p15:clr>
        </p15:guide>
        <p15:guide id="11" pos="103" userDrawn="1">
          <p15:clr>
            <a:srgbClr val="A4A3A4"/>
          </p15:clr>
        </p15:guide>
        <p15:guide id="12" pos="96" userDrawn="1">
          <p15:clr>
            <a:srgbClr val="A4A3A4"/>
          </p15:clr>
        </p15:guide>
        <p15:guide id="13" orient="horz" pos="2" userDrawn="1">
          <p15:clr>
            <a:srgbClr val="A4A3A4"/>
          </p15:clr>
        </p15:guide>
        <p15:guide id="14" pos="1076" userDrawn="1">
          <p15:clr>
            <a:srgbClr val="A4A3A4"/>
          </p15:clr>
        </p15:guide>
        <p15:guide id="15" pos="1951" userDrawn="1">
          <p15:clr>
            <a:srgbClr val="A4A3A4"/>
          </p15:clr>
        </p15:guide>
        <p15:guide id="16" pos="2772" userDrawn="1">
          <p15:clr>
            <a:srgbClr val="A4A3A4"/>
          </p15:clr>
        </p15:guide>
        <p15:guide id="17" pos="3619" userDrawn="1">
          <p15:clr>
            <a:srgbClr val="A4A3A4"/>
          </p15:clr>
        </p15:guide>
        <p15:guide id="18" pos="4493" userDrawn="1">
          <p15:clr>
            <a:srgbClr val="A4A3A4"/>
          </p15:clr>
        </p15:guide>
        <p15:guide id="19" pos="5313" userDrawn="1">
          <p15:clr>
            <a:srgbClr val="A4A3A4"/>
          </p15:clr>
        </p15:guide>
        <p15:guide id="20" pos="6175" userDrawn="1">
          <p15:clr>
            <a:srgbClr val="A4A3A4"/>
          </p15:clr>
        </p15:guide>
        <p15:guide id="21" orient="horz" pos="581" userDrawn="1">
          <p15:clr>
            <a:srgbClr val="A4A3A4"/>
          </p15:clr>
        </p15:guide>
        <p15:guide id="22" orient="horz" pos="3230" userDrawn="1">
          <p15:clr>
            <a:srgbClr val="A4A3A4"/>
          </p15:clr>
        </p15:guide>
        <p15:guide id="23" orient="horz" pos="1230" userDrawn="1">
          <p15:clr>
            <a:srgbClr val="A4A3A4"/>
          </p15:clr>
        </p15:guide>
        <p15:guide id="24" orient="horz" userDrawn="1">
          <p15:clr>
            <a:srgbClr val="A4A3A4"/>
          </p15:clr>
        </p15:guide>
        <p15:guide id="25" orient="horz" pos="1450" userDrawn="1">
          <p15:clr>
            <a:srgbClr val="A4A3A4"/>
          </p15:clr>
        </p15:guide>
        <p15:guide id="26" pos="375" userDrawn="1">
          <p15:clr>
            <a:srgbClr val="A4A3A4"/>
          </p15:clr>
        </p15:guide>
        <p15:guide id="27" orient="horz" pos="3095" userDrawn="1">
          <p15:clr>
            <a:srgbClr val="A4A3A4"/>
          </p15:clr>
        </p15:guide>
        <p15:guide id="28" orient="horz" pos="2372" userDrawn="1">
          <p15:clr>
            <a:srgbClr val="A4A3A4"/>
          </p15:clr>
        </p15:guide>
        <p15:guide id="29" orient="horz" pos="4159" userDrawn="1">
          <p15:clr>
            <a:srgbClr val="A4A3A4"/>
          </p15:clr>
        </p15:guide>
        <p15:guide id="30" pos="417" userDrawn="1">
          <p15:clr>
            <a:srgbClr val="A4A3A4"/>
          </p15:clr>
        </p15:guide>
        <p15:guide id="31" pos="2207" userDrawn="1">
          <p15:clr>
            <a:srgbClr val="A4A3A4"/>
          </p15:clr>
        </p15:guide>
        <p15:guide id="32" pos="7636" userDrawn="1">
          <p15:clr>
            <a:srgbClr val="A4A3A4"/>
          </p15:clr>
        </p15:guide>
        <p15:guide id="33" orient="horz" pos="632" userDrawn="1">
          <p15:clr>
            <a:srgbClr val="A4A3A4"/>
          </p15:clr>
        </p15:guide>
        <p15:guide id="34" orient="horz" pos="1461" userDrawn="1">
          <p15:clr>
            <a:srgbClr val="A4A3A4"/>
          </p15:clr>
        </p15:guide>
        <p15:guide id="35" orient="horz" pos="2262" userDrawn="1">
          <p15:clr>
            <a:srgbClr val="A4A3A4"/>
          </p15:clr>
        </p15:guide>
        <p15:guide id="36" orient="horz" pos="3072" userDrawn="1">
          <p15:clr>
            <a:srgbClr val="A4A3A4"/>
          </p15:clr>
        </p15:guide>
        <p15:guide id="37" pos="1020" userDrawn="1">
          <p15:clr>
            <a:srgbClr val="A4A3A4"/>
          </p15:clr>
        </p15:guide>
        <p15:guide id="38" pos="7440" userDrawn="1">
          <p15:clr>
            <a:srgbClr val="A4A3A4"/>
          </p15:clr>
        </p15:guide>
        <p15:guide id="39" pos="6719" userDrawn="1">
          <p15:clr>
            <a:srgbClr val="A4A3A4"/>
          </p15:clr>
        </p15:guide>
        <p15:guide id="40" orient="horz" pos="621" userDrawn="1">
          <p15:clr>
            <a:srgbClr val="A4A3A4"/>
          </p15:clr>
        </p15:guide>
        <p15:guide id="41" orient="horz" pos="38" userDrawn="1">
          <p15:clr>
            <a:srgbClr val="A4A3A4"/>
          </p15:clr>
        </p15:guide>
        <p15:guide id="42" orient="horz" pos="4319" userDrawn="1">
          <p15:clr>
            <a:srgbClr val="A4A3A4"/>
          </p15:clr>
        </p15:guide>
        <p15:guide id="43" orient="horz" pos="39" userDrawn="1">
          <p15:clr>
            <a:srgbClr val="A4A3A4"/>
          </p15:clr>
        </p15:guide>
        <p15:guide id="44" pos="4489" userDrawn="1">
          <p15:clr>
            <a:srgbClr val="A4A3A4"/>
          </p15:clr>
        </p15:guide>
        <p15:guide id="45" pos="6207" userDrawn="1">
          <p15:clr>
            <a:srgbClr val="A4A3A4"/>
          </p15:clr>
        </p15:guide>
        <p15:guide id="46" orient="horz" pos="1" userDrawn="1">
          <p15:clr>
            <a:srgbClr val="A4A3A4"/>
          </p15:clr>
        </p15:guide>
        <p15:guide id="47" orient="horz" pos="4067" userDrawn="1">
          <p15:clr>
            <a:srgbClr val="A4A3A4"/>
          </p15:clr>
        </p15:guide>
        <p15:guide id="48" orient="horz" pos="601" userDrawn="1">
          <p15:clr>
            <a:srgbClr val="A4A3A4"/>
          </p15:clr>
        </p15:guide>
        <p15:guide id="49" pos="199" userDrawn="1">
          <p15:clr>
            <a:srgbClr val="A4A3A4"/>
          </p15:clr>
        </p15:guide>
        <p15:guide id="50" pos="7452" userDrawn="1">
          <p15:clr>
            <a:srgbClr val="A4A3A4"/>
          </p15:clr>
        </p15:guide>
        <p15:guide id="51" pos="43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950741"/>
    <a:srgbClr val="C3E8CC"/>
    <a:srgbClr val="7A81FF"/>
    <a:srgbClr val="00B050"/>
    <a:srgbClr val="FF00DF"/>
    <a:srgbClr val="FF00FF"/>
    <a:srgbClr val="269FA0"/>
    <a:srgbClr val="FFC0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724101-EEAA-294E-9515-2A96A5FD743E}" v="6" dt="2026-08-31T10:07:34.4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5"/>
    <p:restoredTop sz="91931" autoAdjust="0"/>
  </p:normalViewPr>
  <p:slideViewPr>
    <p:cSldViewPr snapToGrid="0">
      <p:cViewPr varScale="1">
        <p:scale>
          <a:sx n="81" d="100"/>
          <a:sy n="81" d="100"/>
        </p:scale>
        <p:origin x="309" y="45"/>
      </p:cViewPr>
      <p:guideLst>
        <p:guide orient="horz" pos="663"/>
        <p:guide orient="horz" pos="1412"/>
        <p:guide pos="241"/>
        <p:guide pos="7408"/>
        <p:guide pos="3871"/>
        <p:guide orient="horz" pos="700"/>
        <p:guide orient="horz" pos="4119"/>
        <p:guide pos="415"/>
        <p:guide pos="7335"/>
        <p:guide orient="horz" pos="462"/>
        <p:guide pos="103"/>
        <p:guide pos="96"/>
        <p:guide orient="horz" pos="2"/>
        <p:guide pos="1076"/>
        <p:guide pos="1951"/>
        <p:guide pos="2772"/>
        <p:guide pos="3619"/>
        <p:guide pos="4493"/>
        <p:guide pos="5313"/>
        <p:guide pos="6175"/>
        <p:guide orient="horz" pos="581"/>
        <p:guide orient="horz" pos="3230"/>
        <p:guide orient="horz" pos="1230"/>
        <p:guide orient="horz"/>
        <p:guide orient="horz" pos="1450"/>
        <p:guide pos="375"/>
        <p:guide orient="horz" pos="3095"/>
        <p:guide orient="horz" pos="2372"/>
        <p:guide orient="horz" pos="4159"/>
        <p:guide pos="417"/>
        <p:guide pos="2207"/>
        <p:guide pos="7636"/>
        <p:guide orient="horz" pos="632"/>
        <p:guide orient="horz" pos="1461"/>
        <p:guide orient="horz" pos="2262"/>
        <p:guide orient="horz" pos="3072"/>
        <p:guide pos="1020"/>
        <p:guide pos="7440"/>
        <p:guide pos="6719"/>
        <p:guide orient="horz" pos="621"/>
        <p:guide orient="horz" pos="38"/>
        <p:guide orient="horz" pos="4319"/>
        <p:guide orient="horz" pos="39"/>
        <p:guide pos="4489"/>
        <p:guide pos="6207"/>
        <p:guide orient="horz" pos="1"/>
        <p:guide orient="horz" pos="4067"/>
        <p:guide orient="horz" pos="601"/>
        <p:guide pos="199"/>
        <p:guide pos="7452"/>
        <p:guide pos="4303"/>
      </p:guideLst>
    </p:cSldViewPr>
  </p:slideViewPr>
  <p:notesTextViewPr>
    <p:cViewPr>
      <p:scale>
        <a:sx n="130" d="100"/>
        <a:sy n="13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D1C76DA8-6A23-54AC-AD0D-AC8E743EAA8D}"/>
    <pc:docChg chg="undo custSel addSld delSld modSld">
      <pc:chgData name="Xin Luo" userId="82312ee5779919a4" providerId="LiveId" clId="{D1C76DA8-6A23-54AC-AD0D-AC8E743EAA8D}" dt="2026-08-31T10:08:01.505" v="251" actId="1036"/>
      <pc:docMkLst>
        <pc:docMk/>
      </pc:docMkLst>
      <pc:sldChg chg="modSp mod">
        <pc:chgData name="Xin Luo" userId="82312ee5779919a4" providerId="LiveId" clId="{D1C76DA8-6A23-54AC-AD0D-AC8E743EAA8D}" dt="2026-08-31T10:04:39.481" v="79" actId="14100"/>
        <pc:sldMkLst>
          <pc:docMk/>
          <pc:sldMk cId="1153920038" sldId="2206"/>
        </pc:sldMkLst>
        <pc:spChg chg="mod">
          <ac:chgData name="Xin Luo" userId="82312ee5779919a4" providerId="LiveId" clId="{D1C76DA8-6A23-54AC-AD0D-AC8E743EAA8D}" dt="2026-08-31T10:04:39.481" v="79" actId="14100"/>
          <ac:spMkLst>
            <pc:docMk/>
            <pc:sldMk cId="1153920038" sldId="2206"/>
            <ac:spMk id="24" creationId="{00000000-0000-0000-0000-000000000000}"/>
          </ac:spMkLst>
        </pc:spChg>
      </pc:sldChg>
      <pc:sldChg chg="modSp mod">
        <pc:chgData name="Xin Luo" userId="82312ee5779919a4" providerId="LiveId" clId="{D1C76DA8-6A23-54AC-AD0D-AC8E743EAA8D}" dt="2026-08-31T10:08:01.505" v="251" actId="1036"/>
        <pc:sldMkLst>
          <pc:docMk/>
          <pc:sldMk cId="295872025" sldId="2722"/>
        </pc:sldMkLst>
        <pc:spChg chg="mod">
          <ac:chgData name="Xin Luo" userId="82312ee5779919a4" providerId="LiveId" clId="{D1C76DA8-6A23-54AC-AD0D-AC8E743EAA8D}" dt="2026-08-31T10:07:47.937" v="248" actId="403"/>
          <ac:spMkLst>
            <pc:docMk/>
            <pc:sldMk cId="295872025" sldId="2722"/>
            <ac:spMk id="10" creationId="{00000000-0000-0000-0000-000000000000}"/>
          </ac:spMkLst>
        </pc:spChg>
        <pc:spChg chg="mod">
          <ac:chgData name="Xin Luo" userId="82312ee5779919a4" providerId="LiveId" clId="{D1C76DA8-6A23-54AC-AD0D-AC8E743EAA8D}" dt="2026-08-31T10:08:01.505" v="251" actId="1036"/>
          <ac:spMkLst>
            <pc:docMk/>
            <pc:sldMk cId="295872025" sldId="2722"/>
            <ac:spMk id="12" creationId="{00000000-0000-0000-0000-000000000000}"/>
          </ac:spMkLst>
        </pc:spChg>
        <pc:spChg chg="mod">
          <ac:chgData name="Xin Luo" userId="82312ee5779919a4" providerId="LiveId" clId="{D1C76DA8-6A23-54AC-AD0D-AC8E743EAA8D}" dt="2026-08-31T10:07:47.937" v="248" actId="403"/>
          <ac:spMkLst>
            <pc:docMk/>
            <pc:sldMk cId="295872025" sldId="2722"/>
            <ac:spMk id="13" creationId="{00000000-0000-0000-0000-000000000000}"/>
          </ac:spMkLst>
        </pc:spChg>
        <pc:spChg chg="mod">
          <ac:chgData name="Xin Luo" userId="82312ee5779919a4" providerId="LiveId" clId="{D1C76DA8-6A23-54AC-AD0D-AC8E743EAA8D}" dt="2026-08-31T10:07:51.280" v="249" actId="14100"/>
          <ac:spMkLst>
            <pc:docMk/>
            <pc:sldMk cId="295872025" sldId="2722"/>
            <ac:spMk id="14" creationId="{00000000-0000-0000-0000-000000000000}"/>
          </ac:spMkLst>
        </pc:spChg>
        <pc:grpChg chg="mod">
          <ac:chgData name="Xin Luo" userId="82312ee5779919a4" providerId="LiveId" clId="{D1C76DA8-6A23-54AC-AD0D-AC8E743EAA8D}" dt="2026-08-31T10:05:44.731" v="185" actId="14100"/>
          <ac:grpSpMkLst>
            <pc:docMk/>
            <pc:sldMk cId="295872025" sldId="2722"/>
            <ac:grpSpMk id="3" creationId="{12ED16A1-79B8-7DB1-1CC1-250B051BAD58}"/>
          </ac:grpSpMkLst>
        </pc:grpChg>
      </pc:sldChg>
      <pc:sldChg chg="del">
        <pc:chgData name="Xin Luo" userId="82312ee5779919a4" providerId="LiveId" clId="{D1C76DA8-6A23-54AC-AD0D-AC8E743EAA8D}" dt="2026-08-31T10:05:04.221" v="84" actId="2696"/>
        <pc:sldMkLst>
          <pc:docMk/>
          <pc:sldMk cId="1230170631" sldId="2735"/>
        </pc:sldMkLst>
      </pc:sldChg>
      <pc:sldChg chg="modSp add mod">
        <pc:chgData name="Xin Luo" userId="82312ee5779919a4" providerId="LiveId" clId="{D1C76DA8-6A23-54AC-AD0D-AC8E743EAA8D}" dt="2026-08-31T10:06:59.771" v="223" actId="1035"/>
        <pc:sldMkLst>
          <pc:docMk/>
          <pc:sldMk cId="567792194" sldId="2736"/>
        </pc:sldMkLst>
        <pc:spChg chg="mod">
          <ac:chgData name="Xin Luo" userId="82312ee5779919a4" providerId="LiveId" clId="{D1C76DA8-6A23-54AC-AD0D-AC8E743EAA8D}" dt="2026-08-31T10:06:43.146" v="218" actId="14100"/>
          <ac:spMkLst>
            <pc:docMk/>
            <pc:sldMk cId="567792194" sldId="2736"/>
            <ac:spMk id="3" creationId="{00000000-0000-0000-0000-000000000000}"/>
          </ac:spMkLst>
        </pc:spChg>
        <pc:spChg chg="mod">
          <ac:chgData name="Xin Luo" userId="82312ee5779919a4" providerId="LiveId" clId="{D1C76DA8-6A23-54AC-AD0D-AC8E743EAA8D}" dt="2026-08-31T10:06:59.771" v="223" actId="1035"/>
          <ac:spMkLst>
            <pc:docMk/>
            <pc:sldMk cId="567792194" sldId="2736"/>
            <ac:spMk id="7" creationId="{00000000-0000-0000-0000-000000000000}"/>
          </ac:spMkLst>
        </pc:spChg>
        <pc:spChg chg="mod">
          <ac:chgData name="Xin Luo" userId="82312ee5779919a4" providerId="LiveId" clId="{D1C76DA8-6A23-54AC-AD0D-AC8E743EAA8D}" dt="2026-08-31T10:06:43.146" v="218" actId="14100"/>
          <ac:spMkLst>
            <pc:docMk/>
            <pc:sldMk cId="567792194" sldId="2736"/>
            <ac:spMk id="8" creationId="{00000000-0000-0000-0000-000000000000}"/>
          </ac:spMkLst>
        </pc:spChg>
      </pc:sldChg>
      <pc:sldChg chg="del">
        <pc:chgData name="Xin Luo" userId="82312ee5779919a4" providerId="LiveId" clId="{D1C76DA8-6A23-54AC-AD0D-AC8E743EAA8D}" dt="2026-08-31T10:05:04.222" v="85" actId="2696"/>
        <pc:sldMkLst>
          <pc:docMk/>
          <pc:sldMk cId="2695144220" sldId="2736"/>
        </pc:sldMkLst>
      </pc:sldChg>
      <pc:sldChg chg="del">
        <pc:chgData name="Xin Luo" userId="82312ee5779919a4" providerId="LiveId" clId="{D1C76DA8-6A23-54AC-AD0D-AC8E743EAA8D}" dt="2026-08-31T10:05:04.219" v="80" actId="2696"/>
        <pc:sldMkLst>
          <pc:docMk/>
          <pc:sldMk cId="1756138031" sldId="2760"/>
        </pc:sldMkLst>
      </pc:sldChg>
      <pc:sldChg chg="del">
        <pc:chgData name="Xin Luo" userId="82312ee5779919a4" providerId="LiveId" clId="{D1C76DA8-6A23-54AC-AD0D-AC8E743EAA8D}" dt="2026-08-31T10:05:04.221" v="83" actId="2696"/>
        <pc:sldMkLst>
          <pc:docMk/>
          <pc:sldMk cId="411278195" sldId="2763"/>
        </pc:sldMkLst>
      </pc:sldChg>
      <pc:sldChg chg="del">
        <pc:chgData name="Xin Luo" userId="82312ee5779919a4" providerId="LiveId" clId="{D1C76DA8-6A23-54AC-AD0D-AC8E743EAA8D}" dt="2026-08-31T10:05:04.220" v="81" actId="2696"/>
        <pc:sldMkLst>
          <pc:docMk/>
          <pc:sldMk cId="2618060945" sldId="2764"/>
        </pc:sldMkLst>
      </pc:sldChg>
      <pc:sldChg chg="del">
        <pc:chgData name="Xin Luo" userId="82312ee5779919a4" providerId="LiveId" clId="{D1C76DA8-6A23-54AC-AD0D-AC8E743EAA8D}" dt="2026-08-31T10:05:04.222" v="86" actId="2696"/>
        <pc:sldMkLst>
          <pc:docMk/>
          <pc:sldMk cId="4191147494" sldId="2765"/>
        </pc:sldMkLst>
      </pc:sldChg>
      <pc:sldChg chg="del">
        <pc:chgData name="Xin Luo" userId="82312ee5779919a4" providerId="LiveId" clId="{D1C76DA8-6A23-54AC-AD0D-AC8E743EAA8D}" dt="2026-08-31T10:05:04.220" v="82" actId="2696"/>
        <pc:sldMkLst>
          <pc:docMk/>
          <pc:sldMk cId="4092781461" sldId="2766"/>
        </pc:sldMkLst>
      </pc:sldChg>
      <pc:sldChg chg="del">
        <pc:chgData name="Xin Luo" userId="82312ee5779919a4" providerId="LiveId" clId="{D1C76DA8-6A23-54AC-AD0D-AC8E743EAA8D}" dt="2026-08-31T10:07:08.035" v="225" actId="2696"/>
        <pc:sldMkLst>
          <pc:docMk/>
          <pc:sldMk cId="3503311939" sldId="2767"/>
        </pc:sldMkLst>
      </pc:sldChg>
      <pc:sldChg chg="del">
        <pc:chgData name="Xin Luo" userId="82312ee5779919a4" providerId="LiveId" clId="{D1C76DA8-6A23-54AC-AD0D-AC8E743EAA8D}" dt="2026-08-31T10:07:32.151" v="246" actId="2696"/>
        <pc:sldMkLst>
          <pc:docMk/>
          <pc:sldMk cId="1888094498" sldId="2797"/>
        </pc:sldMkLst>
      </pc:sldChg>
      <pc:sldChg chg="add">
        <pc:chgData name="Xin Luo" userId="82312ee5779919a4" providerId="LiveId" clId="{D1C76DA8-6A23-54AC-AD0D-AC8E743EAA8D}" dt="2026-08-31T10:07:34.454" v="247"/>
        <pc:sldMkLst>
          <pc:docMk/>
          <pc:sldMk cId="3839817587" sldId="2797"/>
        </pc:sldMkLst>
      </pc:sldChg>
      <pc:sldChg chg="add">
        <pc:chgData name="Xin Luo" userId="82312ee5779919a4" providerId="LiveId" clId="{D1C76DA8-6A23-54AC-AD0D-AC8E743EAA8D}" dt="2026-08-31T10:07:34.454" v="247"/>
        <pc:sldMkLst>
          <pc:docMk/>
          <pc:sldMk cId="866506701" sldId="2802"/>
        </pc:sldMkLst>
      </pc:sldChg>
      <pc:sldChg chg="del">
        <pc:chgData name="Xin Luo" userId="82312ee5779919a4" providerId="LiveId" clId="{D1C76DA8-6A23-54AC-AD0D-AC8E743EAA8D}" dt="2026-08-31T10:07:32.151" v="246" actId="2696"/>
        <pc:sldMkLst>
          <pc:docMk/>
          <pc:sldMk cId="1988860152" sldId="2802"/>
        </pc:sldMkLst>
      </pc:sldChg>
      <pc:sldChg chg="add">
        <pc:chgData name="Xin Luo" userId="82312ee5779919a4" providerId="LiveId" clId="{D1C76DA8-6A23-54AC-AD0D-AC8E743EAA8D}" dt="2026-08-31T10:07:34.454" v="247"/>
        <pc:sldMkLst>
          <pc:docMk/>
          <pc:sldMk cId="426093808" sldId="2803"/>
        </pc:sldMkLst>
      </pc:sldChg>
      <pc:sldChg chg="del">
        <pc:chgData name="Xin Luo" userId="82312ee5779919a4" providerId="LiveId" clId="{D1C76DA8-6A23-54AC-AD0D-AC8E743EAA8D}" dt="2026-08-31T10:07:32.151" v="246" actId="2696"/>
        <pc:sldMkLst>
          <pc:docMk/>
          <pc:sldMk cId="1408012397" sldId="2803"/>
        </pc:sldMkLst>
      </pc:sldChg>
      <pc:sldChg chg="add">
        <pc:chgData name="Xin Luo" userId="82312ee5779919a4" providerId="LiveId" clId="{D1C76DA8-6A23-54AC-AD0D-AC8E743EAA8D}" dt="2026-08-31T10:07:34.454" v="247"/>
        <pc:sldMkLst>
          <pc:docMk/>
          <pc:sldMk cId="2988760458" sldId="2804"/>
        </pc:sldMkLst>
      </pc:sldChg>
      <pc:sldChg chg="del">
        <pc:chgData name="Xin Luo" userId="82312ee5779919a4" providerId="LiveId" clId="{D1C76DA8-6A23-54AC-AD0D-AC8E743EAA8D}" dt="2026-08-31T10:07:32.151" v="246" actId="2696"/>
        <pc:sldMkLst>
          <pc:docMk/>
          <pc:sldMk cId="3568981223" sldId="2804"/>
        </pc:sldMkLst>
      </pc:sldChg>
      <pc:sldChg chg="modSp add mod">
        <pc:chgData name="Xin Luo" userId="82312ee5779919a4" providerId="LiveId" clId="{D1C76DA8-6A23-54AC-AD0D-AC8E743EAA8D}" dt="2026-08-31T10:07:22.346" v="245" actId="20577"/>
        <pc:sldMkLst>
          <pc:docMk/>
          <pc:sldMk cId="3558344046" sldId="2805"/>
        </pc:sldMkLst>
        <pc:spChg chg="mod">
          <ac:chgData name="Xin Luo" userId="82312ee5779919a4" providerId="LiveId" clId="{D1C76DA8-6A23-54AC-AD0D-AC8E743EAA8D}" dt="2026-08-31T10:07:22.346" v="245" actId="20577"/>
          <ac:spMkLst>
            <pc:docMk/>
            <pc:sldMk cId="3558344046" sldId="2805"/>
            <ac:spMk id="7" creationId="{2626E5B4-51BA-FA14-5CC6-10B17A5E436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5" y="0"/>
            <a:ext cx="3074987" cy="511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9"/>
            <a:ext cx="3074988" cy="511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5" y="9723439"/>
            <a:ext cx="3074987" cy="511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875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0924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875" y="768350"/>
            <a:ext cx="6818313" cy="3836988"/>
          </a:xfrm>
          <a:ln/>
        </p:spPr>
        <p:txBody>
          <a:bodyPr/>
          <a:lstStyle/>
          <a:p>
            <a:endParaRPr lang="en-CN"/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kern="120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548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  <p:txBody>
          <a:bodyPr/>
          <a:lstStyle/>
          <a:p>
            <a:endParaRPr lang="en-CN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7ECF62-1638-4DD4-9C28-B7A1E023F854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279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110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提供了便捷高效的数据获取、数据处理与</a:t>
            </a:r>
            <a:r>
              <a:rPr lang="zh-CN" altLang="en-US"/>
              <a:t>分析工作模式。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7042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A3DFF-0EC7-59E4-AB64-A2715F806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4F3EE1-1602-7179-70F9-CBB47299B2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3ACD4C-376C-9A5F-76F4-DC6F552E3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1202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B1A9-1BE2-25A5-E673-54B7F727B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FBBF23-77BB-09DA-4AFF-7442FB80A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E1A5886-D509-5419-73B9-E8A8AEBBF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9186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6F92A-68F2-9243-BED5-387F8EEAF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60FF34-07F4-8F3E-7E00-1302DBBF42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8251DB-CB14-BC1E-BA38-5A1196686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3193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720EA-E160-B9B0-3E13-2A7E4189E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64CCF7F-D5FB-67C0-8750-68DCCFECFF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3D1F95-0905-0A58-73DE-8D5AC8F54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97061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041D0-2363-AE4A-5980-155FC70A4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72EA672-2562-FB8D-8CAC-D8274DDA9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7564AE-149D-E031-D01B-49592CAC6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0551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6C1F5-3A97-6AC4-C8E4-2CDFD54D2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BD3DD3-BE12-284A-C35E-5EF291037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DCD735-0802-98F6-6D9A-39BF56405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67739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90EB7-2715-3EEF-9591-3782235E1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565BE3-299C-9E76-0A0E-2630E2A09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0A922B-B2A7-A2A4-05A2-D6222DEE9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52712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122ED-877F-64F6-615D-9D1499E91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86F661-FD9C-495C-A234-316AFC3FE3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EFE16F-A8FC-30A3-E691-02DEE1DB0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26371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24152-D2A6-F167-1B57-D254622AB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BA4171-07A6-951B-D14B-00195FAD0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481F41-4C0F-A127-0872-743F0474B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28511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51DA4-2B83-063E-EE81-6E91E0C79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FCD0C1-A685-2BD5-FED0-C8D289A05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FE1317-6C3C-3294-6968-28B708CB2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6830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12192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2438400" y="1828800"/>
            <a:ext cx="92456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4572000"/>
            <a:ext cx="92456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12192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09685" y="646740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12192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60939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3945235"/>
            <a:ext cx="10363200" cy="46166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3918" y="1087439"/>
            <a:ext cx="5369983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07100" y="1087439"/>
            <a:ext cx="5369984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39344"/>
            <a:ext cx="5386917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639344"/>
            <a:ext cx="5389033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6653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6832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17676" y="1087439"/>
            <a:ext cx="3459409" cy="233294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76218" y="115889"/>
            <a:ext cx="2891367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30674" y="115889"/>
            <a:ext cx="2942344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3800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6030021" y="-5257469"/>
            <a:ext cx="72000" cy="1213204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11385532" y="38087"/>
            <a:ext cx="72000" cy="154093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" y="1"/>
            <a:ext cx="12189884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9"/>
            <a:ext cx="11567584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3918" y="1087439"/>
            <a:ext cx="10943167" cy="23329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99226"/>
            <a:ext cx="28448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1535874" y="1685332"/>
            <a:ext cx="9071165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zh-CN" altLang="en-US" sz="6000" b="1" dirty="0">
                <a:solidFill>
                  <a:schemeClr val="accent3"/>
                </a:solidFill>
                <a:latin typeface="+mj-ea"/>
                <a:ea typeface="+mj-ea"/>
              </a:rPr>
              <a:t>云端遥感数据获取与处理</a:t>
            </a:r>
            <a:endParaRPr lang="zh-CN" altLang="zh-CN" sz="6000" b="1" dirty="0">
              <a:solidFill>
                <a:schemeClr val="accent3"/>
              </a:solidFill>
              <a:latin typeface="+mj-ea"/>
              <a:ea typeface="+mj-ea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677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SzPct val="80000"/>
            </a:pPr>
            <a:r>
              <a:rPr lang="zh-CN" altLang="en-US" b="1">
                <a:solidFill>
                  <a:srgbClr val="002060"/>
                </a:solidFill>
                <a:latin typeface="+mn-ea"/>
                <a:ea typeface="+mn-ea"/>
                <a:cs typeface="微软雅黑" charset="0"/>
              </a:rPr>
              <a:t>罗 新</a:t>
            </a:r>
            <a:endParaRPr lang="en-US" altLang="zh-CN" b="1">
              <a:solidFill>
                <a:srgbClr val="002060"/>
              </a:solidFill>
              <a:latin typeface="+mn-ea"/>
              <a:ea typeface="+mn-ea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</a:pPr>
            <a:r>
              <a:rPr lang="zh-CN" altLang="en-US" b="1">
                <a:solidFill>
                  <a:srgbClr val="002060"/>
                </a:solidFill>
                <a:latin typeface="+mn-ea"/>
                <a:ea typeface="+mn-ea"/>
                <a:cs typeface="微软雅黑" charset="0"/>
              </a:rPr>
              <a:t>云南大学 地球科学学院</a:t>
            </a:r>
            <a:endParaRPr lang="en-US" altLang="zh-CN" b="1">
              <a:solidFill>
                <a:srgbClr val="002060"/>
              </a:solidFill>
              <a:latin typeface="+mn-ea"/>
              <a:ea typeface="+mn-ea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</a:pPr>
            <a:endParaRPr lang="zh-CN" altLang="en-US" sz="2800" b="1">
              <a:solidFill>
                <a:srgbClr val="002060"/>
              </a:solidFill>
              <a:latin typeface="+mn-ea"/>
              <a:ea typeface="+mn-ea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</a:pPr>
            <a:endParaRPr lang="en-US" altLang="zh-CN" sz="2000">
              <a:solidFill>
                <a:srgbClr val="002060"/>
              </a:solidFill>
              <a:latin typeface="+mn-ea"/>
              <a:ea typeface="+mn-ea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</a:pPr>
            <a:endParaRPr lang="en-US" altLang="zh-CN" sz="2000">
              <a:solidFill>
                <a:srgbClr val="002060"/>
              </a:solidFill>
              <a:latin typeface="+mn-ea"/>
              <a:ea typeface="+mn-ea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</a:pPr>
            <a:endParaRPr lang="en-US" altLang="zh-CN" sz="1800">
              <a:solidFill>
                <a:srgbClr val="002060"/>
              </a:solidFill>
              <a:latin typeface="+mn-ea"/>
              <a:ea typeface="+mn-ea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2316000" y="3614405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1831819" y="5474698"/>
            <a:ext cx="8627953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bg2"/>
                </a:solidFill>
                <a:latin typeface="+mn-ea"/>
                <a:ea typeface="+mn-ea"/>
              </a:rPr>
              <a:t>邮箱</a:t>
            </a:r>
            <a:r>
              <a:rPr lang="en-CN" sz="1800">
                <a:solidFill>
                  <a:schemeClr val="bg2"/>
                </a:solidFill>
                <a:latin typeface="+mn-ea"/>
                <a:ea typeface="+mn-ea"/>
              </a:rPr>
              <a:t>: xinluo_xin@ynu.edu.cn</a:t>
            </a:r>
          </a:p>
          <a:p>
            <a:r>
              <a:rPr lang="en-CN" sz="1800">
                <a:solidFill>
                  <a:schemeClr val="bg2"/>
                </a:solidFill>
                <a:latin typeface="+mn-ea"/>
                <a:ea typeface="+mn-ea"/>
              </a:rPr>
              <a:t>地址</a:t>
            </a:r>
            <a:r>
              <a:rPr lang="zh-CN" altLang="en-US" sz="1800">
                <a:solidFill>
                  <a:schemeClr val="bg2"/>
                </a:solidFill>
                <a:latin typeface="+mn-ea"/>
                <a:ea typeface="+mn-ea"/>
              </a:rPr>
              <a:t>：地球科学学院</a:t>
            </a:r>
            <a:r>
              <a:rPr lang="en-US" altLang="zh-CN" sz="1800">
                <a:solidFill>
                  <a:schemeClr val="bg2"/>
                </a:solidFill>
                <a:latin typeface="+mn-ea"/>
                <a:ea typeface="+mn-ea"/>
              </a:rPr>
              <a:t>1327</a:t>
            </a:r>
            <a:r>
              <a:rPr lang="zh-CN" altLang="en-US" sz="1800">
                <a:solidFill>
                  <a:schemeClr val="bg2"/>
                </a:solidFill>
                <a:latin typeface="+mn-ea"/>
                <a:ea typeface="+mn-ea"/>
              </a:rPr>
              <a:t>办公室</a:t>
            </a:r>
            <a:endParaRPr lang="en-CN" sz="180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22" y="114822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262" y="6259528"/>
            <a:ext cx="2996979" cy="62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92003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835696" cy="6858000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Calibri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4B9B8D5-4BCC-CDFF-1E13-B005060A8BDF}"/>
              </a:ext>
            </a:extLst>
          </p:cNvPr>
          <p:cNvGrpSpPr/>
          <p:nvPr/>
        </p:nvGrpSpPr>
        <p:grpSpPr>
          <a:xfrm>
            <a:off x="2068949" y="2603383"/>
            <a:ext cx="6326905" cy="707886"/>
            <a:chOff x="2121802" y="2087748"/>
            <a:chExt cx="5706401" cy="632505"/>
          </a:xfrm>
        </p:grpSpPr>
        <p:sp>
          <p:nvSpPr>
            <p:cNvPr id="10" name="椭圆 9"/>
            <p:cNvSpPr/>
            <p:nvPr/>
          </p:nvSpPr>
          <p:spPr>
            <a:xfrm>
              <a:off x="2121802" y="2115450"/>
              <a:ext cx="576000" cy="5760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40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一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2733456" y="2087748"/>
              <a:ext cx="5094747" cy="63250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40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GEE</a:t>
              </a:r>
              <a:r>
                <a:rPr lang="zh-CN" altLang="en-US" sz="40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平台介绍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2ED16A1-79B8-7DB1-1CC1-250B051BAD58}"/>
              </a:ext>
            </a:extLst>
          </p:cNvPr>
          <p:cNvGrpSpPr/>
          <p:nvPr/>
        </p:nvGrpSpPr>
        <p:grpSpPr>
          <a:xfrm>
            <a:off x="2068948" y="3877164"/>
            <a:ext cx="8054103" cy="707886"/>
            <a:chOff x="2121802" y="3478750"/>
            <a:chExt cx="7264208" cy="632505"/>
          </a:xfrm>
        </p:grpSpPr>
        <p:sp>
          <p:nvSpPr>
            <p:cNvPr id="13" name="椭圆 12"/>
            <p:cNvSpPr/>
            <p:nvPr/>
          </p:nvSpPr>
          <p:spPr>
            <a:xfrm>
              <a:off x="2121802" y="3511390"/>
              <a:ext cx="576000" cy="5760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40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二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2777899" y="3478750"/>
              <a:ext cx="6608111" cy="63250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40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基于</a:t>
              </a:r>
              <a:r>
                <a:rPr lang="en-US" altLang="zh-CN" sz="40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GEE</a:t>
              </a:r>
              <a:r>
                <a:rPr lang="zh-CN" altLang="en-US" sz="40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的遥感数据获取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9739177" y="950327"/>
            <a:ext cx="23098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5400" b="1" dirty="0">
                <a:solidFill>
                  <a:schemeClr val="accent1"/>
                </a:solidFill>
                <a:latin typeface="Arial"/>
                <a:ea typeface="微软雅黑"/>
              </a:rPr>
              <a:t>目录</a:t>
            </a:r>
            <a:endParaRPr lang="en-US" altLang="zh-CN" sz="5400" b="1" dirty="0">
              <a:solidFill>
                <a:schemeClr val="accent1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9587202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3455" y="3805558"/>
            <a:ext cx="900545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5400" b="1" dirty="0">
                <a:latin typeface="微软雅黑" pitchFamily="34" charset="-122"/>
                <a:ea typeface="微软雅黑" pitchFamily="34" charset="-122"/>
              </a:rPr>
              <a:t>一、</a:t>
            </a:r>
            <a:r>
              <a:rPr lang="en-US" altLang="zh-CN" sz="5400" b="1" dirty="0">
                <a:latin typeface="微软雅黑" pitchFamily="34" charset="-122"/>
                <a:ea typeface="微软雅黑" pitchFamily="34" charset="-122"/>
              </a:rPr>
              <a:t>GEE</a:t>
            </a:r>
            <a:r>
              <a:rPr lang="zh-CN" altLang="en-US" sz="5400" b="1" dirty="0">
                <a:latin typeface="微软雅黑" pitchFamily="34" charset="-122"/>
                <a:ea typeface="微软雅黑" pitchFamily="34" charset="-122"/>
              </a:rPr>
              <a:t>平台介绍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779219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遥感数据处理程序设计</a:t>
            </a:r>
            <a:endParaRPr lang="zh-CN" altLang="en-US" dirty="0">
              <a:latin typeface="+mn-ea"/>
              <a:ea typeface="+mn-ea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26256DC-211B-4D10-11F1-A3F59ACEABD7}"/>
              </a:ext>
            </a:extLst>
          </p:cNvPr>
          <p:cNvGrpSpPr/>
          <p:nvPr/>
        </p:nvGrpSpPr>
        <p:grpSpPr>
          <a:xfrm>
            <a:off x="571090" y="2004725"/>
            <a:ext cx="6239809" cy="4721883"/>
            <a:chOff x="585535" y="2116156"/>
            <a:chExt cx="6239809" cy="4721883"/>
          </a:xfrm>
        </p:grpSpPr>
        <p:sp>
          <p:nvSpPr>
            <p:cNvPr id="13" name="矩形 4">
              <a:extLst>
                <a:ext uri="{FF2B5EF4-FFF2-40B4-BE49-F238E27FC236}">
                  <a16:creationId xmlns:a16="http://schemas.microsoft.com/office/drawing/2014/main" id="{5E046A72-51A2-FDC4-6F86-8E2DCBF4B035}"/>
                </a:ext>
              </a:extLst>
            </p:cNvPr>
            <p:cNvSpPr/>
            <p:nvPr/>
          </p:nvSpPr>
          <p:spPr>
            <a:xfrm>
              <a:off x="585535" y="6340082"/>
              <a:ext cx="6239809" cy="4979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0253F"/>
                </a:buClr>
                <a:buSzPct val="75000"/>
                <a:defRPr/>
              </a:pPr>
              <a:r>
                <a:rPr lang="en-US" altLang="zh-CN" b="1" dirty="0">
                  <a:solidFill>
                    <a:schemeClr val="accent1"/>
                  </a:solidFill>
                  <a:latin typeface="+mn-ea"/>
                  <a:ea typeface="+mn-ea"/>
                </a:rPr>
                <a:t>GEE</a:t>
              </a:r>
              <a:r>
                <a:rPr lang="zh-CN" altLang="en-US" b="1" dirty="0">
                  <a:solidFill>
                    <a:schemeClr val="accent1"/>
                  </a:solidFill>
                  <a:latin typeface="+mn-ea"/>
                  <a:ea typeface="+mn-ea"/>
                </a:rPr>
                <a:t>平台</a:t>
              </a:r>
              <a:r>
                <a:rPr lang="en-US" altLang="zh-CN" b="1" dirty="0">
                  <a:solidFill>
                    <a:schemeClr val="accent1"/>
                  </a:solidFill>
                  <a:latin typeface="+mn-ea"/>
                  <a:ea typeface="+mn-ea"/>
                </a:rPr>
                <a:t>-Google</a:t>
              </a:r>
              <a:r>
                <a:rPr lang="zh-CN" altLang="en-US" b="1" dirty="0">
                  <a:solidFill>
                    <a:schemeClr val="accent1"/>
                  </a:solidFill>
                  <a:latin typeface="+mn-ea"/>
                  <a:ea typeface="+mn-ea"/>
                </a:rPr>
                <a:t> </a:t>
              </a:r>
              <a:r>
                <a:rPr lang="en-US" altLang="zh-CN" b="1" dirty="0">
                  <a:solidFill>
                    <a:schemeClr val="accent1"/>
                  </a:solidFill>
                  <a:latin typeface="+mn-ea"/>
                  <a:ea typeface="+mn-ea"/>
                </a:rPr>
                <a:t>Earth Engine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530A928-A6A1-2B0A-CC43-3588C0EA28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535" y="2116156"/>
              <a:ext cx="6239809" cy="4191429"/>
            </a:xfrm>
            <a:prstGeom prst="rect">
              <a:avLst/>
            </a:prstGeom>
            <a:ln>
              <a:solidFill>
                <a:schemeClr val="bg2"/>
              </a:solidFill>
            </a:ln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D3E9AB0-24E8-3D38-6406-3F0CFD318E93}"/>
              </a:ext>
            </a:extLst>
          </p:cNvPr>
          <p:cNvSpPr txBox="1"/>
          <p:nvPr/>
        </p:nvSpPr>
        <p:spPr>
          <a:xfrm>
            <a:off x="6885730" y="1635727"/>
            <a:ext cx="5079937" cy="459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CN" sz="2500" dirty="0">
                <a:solidFill>
                  <a:schemeClr val="bg2"/>
                </a:solidFill>
                <a:latin typeface="+mn-ea"/>
                <a:ea typeface="+mn-ea"/>
              </a:rPr>
              <a:t>Google Earth Engine (GEE) 是目前地球科学、遥感分析以及环境监测领域最强大的</a:t>
            </a:r>
            <a:r>
              <a:rPr lang="en-CN" sz="2500" b="1" dirty="0">
                <a:solidFill>
                  <a:schemeClr val="bg2"/>
                </a:solidFill>
                <a:latin typeface="+mn-ea"/>
                <a:ea typeface="+mn-ea"/>
              </a:rPr>
              <a:t>云计算平台</a:t>
            </a:r>
            <a:r>
              <a:rPr lang="en-CN" sz="2500" dirty="0">
                <a:solidFill>
                  <a:schemeClr val="bg2"/>
                </a:solidFill>
                <a:latin typeface="+mn-ea"/>
                <a:ea typeface="+mn-ea"/>
              </a:rPr>
              <a:t>。它彻底改变了传统的遥感工作流，</a:t>
            </a:r>
            <a:r>
              <a:rPr lang="en-CN" sz="2500" b="1" dirty="0">
                <a:solidFill>
                  <a:schemeClr val="accent3"/>
                </a:solidFill>
                <a:latin typeface="+mn-ea"/>
                <a:ea typeface="+mn-ea"/>
              </a:rPr>
              <a:t>将研究人员从繁重的数据下载、本地存储和单机算力瓶颈中解放出来</a:t>
            </a:r>
            <a:r>
              <a:rPr lang="en-CN" sz="2500" dirty="0">
                <a:solidFill>
                  <a:schemeClr val="bg2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9A62A2-6F14-F8E1-BEAE-9A7FC08EB659}"/>
              </a:ext>
            </a:extLst>
          </p:cNvPr>
          <p:cNvSpPr txBox="1"/>
          <p:nvPr/>
        </p:nvSpPr>
        <p:spPr>
          <a:xfrm>
            <a:off x="226333" y="912118"/>
            <a:ext cx="9320464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CN" sz="2600" b="1" dirty="0">
                <a:solidFill>
                  <a:schemeClr val="bg2"/>
                </a:solidFill>
                <a:latin typeface="+mn-ea"/>
                <a:ea typeface="+mn-ea"/>
              </a:rPr>
              <a:t>试讲章节</a:t>
            </a:r>
            <a:r>
              <a:rPr lang="zh-CN" altLang="en-US" sz="2600" b="1" dirty="0">
                <a:solidFill>
                  <a:schemeClr val="bg2"/>
                </a:solidFill>
                <a:latin typeface="+mn-ea"/>
                <a:ea typeface="+mn-ea"/>
              </a:rPr>
              <a:t>：第五章</a:t>
            </a:r>
            <a:r>
              <a:rPr lang="en-US" altLang="zh-CN" sz="2600" b="1" dirty="0">
                <a:solidFill>
                  <a:schemeClr val="bg2"/>
                </a:solidFill>
                <a:latin typeface="+mn-ea"/>
                <a:ea typeface="+mn-ea"/>
              </a:rPr>
              <a:t>-</a:t>
            </a:r>
            <a:r>
              <a:rPr lang="zh-CN" altLang="en-US" sz="2600" b="1" dirty="0">
                <a:solidFill>
                  <a:schemeClr val="bg2"/>
                </a:solidFill>
                <a:latin typeface="+mn-ea"/>
                <a:ea typeface="+mn-ea"/>
              </a:rPr>
              <a:t>云端遥感数据处理程序设计</a:t>
            </a:r>
            <a:endParaRPr lang="en-US" altLang="zh-CN" sz="2600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600" b="1" dirty="0">
                <a:solidFill>
                  <a:schemeClr val="bg2"/>
                </a:solidFill>
                <a:latin typeface="+mn-ea"/>
                <a:ea typeface="+mn-ea"/>
              </a:rPr>
              <a:t>内容：</a:t>
            </a:r>
            <a:r>
              <a:rPr lang="en-US" altLang="zh-CN" sz="2600" b="1" dirty="0">
                <a:solidFill>
                  <a:srgbClr val="C00000"/>
                </a:solidFill>
                <a:latin typeface="+mn-ea"/>
                <a:ea typeface="+mn-ea"/>
              </a:rPr>
              <a:t>GEE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  <a:ea typeface="+mn-ea"/>
              </a:rPr>
              <a:t>云平台介绍及数据获取程序设计</a:t>
            </a:r>
            <a:endParaRPr lang="en-CN" sz="26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0760203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57B8C-92AE-E781-1E58-5186CC344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EFA7726-FEA9-B6DE-C4B2-2F9210A35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第五章</a:t>
            </a:r>
            <a:r>
              <a:rPr lang="en-US" altLang="zh-CN" dirty="0"/>
              <a:t>-</a:t>
            </a:r>
            <a:r>
              <a:rPr lang="zh-CN" altLang="en-US" dirty="0"/>
              <a:t>云端遥感数据处理程序设计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3" name="矩形 4">
            <a:extLst>
              <a:ext uri="{FF2B5EF4-FFF2-40B4-BE49-F238E27FC236}">
                <a16:creationId xmlns:a16="http://schemas.microsoft.com/office/drawing/2014/main" id="{D8404804-5369-FC80-E709-9F4573FFDB16}"/>
              </a:ext>
            </a:extLst>
          </p:cNvPr>
          <p:cNvSpPr/>
          <p:nvPr/>
        </p:nvSpPr>
        <p:spPr>
          <a:xfrm>
            <a:off x="410817" y="888897"/>
            <a:ext cx="6842599" cy="565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0253F"/>
              </a:buClr>
              <a:buSzPct val="75000"/>
              <a:defRPr/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GEE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平台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-Google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Earth Engine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8C35ED-A9C8-6B4F-4E0C-6698E50C6C02}"/>
              </a:ext>
            </a:extLst>
          </p:cNvPr>
          <p:cNvSpPr txBox="1"/>
          <p:nvPr/>
        </p:nvSpPr>
        <p:spPr>
          <a:xfrm>
            <a:off x="242651" y="1454436"/>
            <a:ext cx="8015977" cy="5223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CN" sz="2600" b="1" dirty="0">
                <a:solidFill>
                  <a:schemeClr val="bg2"/>
                </a:solidFill>
                <a:latin typeface="+mn-ea"/>
                <a:ea typeface="+mn-ea"/>
              </a:rPr>
              <a:t>海量数据目录：</a:t>
            </a:r>
            <a:r>
              <a:rPr lang="en-CN" sz="2600" dirty="0">
                <a:solidFill>
                  <a:schemeClr val="bg2"/>
                </a:solidFill>
                <a:latin typeface="+mn-ea"/>
                <a:ea typeface="+mn-ea"/>
              </a:rPr>
              <a:t> GEE 托管了</a:t>
            </a:r>
            <a:r>
              <a:rPr lang="en-CN" sz="2600" b="1" dirty="0">
                <a:solidFill>
                  <a:schemeClr val="accent2"/>
                </a:solidFill>
                <a:latin typeface="+mn-ea"/>
                <a:ea typeface="+mn-ea"/>
              </a:rPr>
              <a:t>海量公开遥感数据集</a:t>
            </a:r>
            <a:r>
              <a:rPr lang="en-CN" sz="2600" dirty="0">
                <a:solidFill>
                  <a:schemeClr val="bg2"/>
                </a:solidFill>
                <a:latin typeface="+mn-ea"/>
                <a:ea typeface="+mn-ea"/>
              </a:rPr>
              <a:t>，且在持续更新。包括了完整的 Landsat 系列、Sentinel 系列、土地覆盖分类产品等。</a:t>
            </a:r>
          </a:p>
          <a:p>
            <a:pPr algn="just">
              <a:lnSpc>
                <a:spcPct val="150000"/>
              </a:lnSpc>
            </a:pPr>
            <a:r>
              <a:rPr lang="en-CN" sz="2600" b="1" dirty="0">
                <a:solidFill>
                  <a:schemeClr val="bg2"/>
                </a:solidFill>
                <a:latin typeface="+mn-ea"/>
                <a:ea typeface="+mn-ea"/>
              </a:rPr>
              <a:t>高性能云端算力：</a:t>
            </a:r>
            <a:r>
              <a:rPr lang="en-CN" sz="2600" dirty="0">
                <a:solidFill>
                  <a:schemeClr val="bg2"/>
                </a:solidFill>
                <a:latin typeface="+mn-ea"/>
                <a:ea typeface="+mn-ea"/>
              </a:rPr>
              <a:t> 由Google 的</a:t>
            </a:r>
            <a:r>
              <a:rPr lang="en-CN" sz="2600" b="1" dirty="0">
                <a:solidFill>
                  <a:schemeClr val="accent2"/>
                </a:solidFill>
                <a:latin typeface="+mn-ea"/>
                <a:ea typeface="+mn-ea"/>
              </a:rPr>
              <a:t>数千台服务器构成</a:t>
            </a:r>
            <a:r>
              <a:rPr lang="zh-CN" altLang="en-US" sz="2600" dirty="0">
                <a:solidFill>
                  <a:schemeClr val="bg2"/>
                </a:solidFill>
                <a:latin typeface="+mn-ea"/>
                <a:ea typeface="+mn-ea"/>
              </a:rPr>
              <a:t>，支持数据在云平台高速处理</a:t>
            </a:r>
            <a:r>
              <a:rPr lang="en-CN" sz="2600" dirty="0">
                <a:solidFill>
                  <a:schemeClr val="bg2"/>
                </a:solidFill>
                <a:latin typeface="+mn-ea"/>
                <a:ea typeface="+mn-ea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en-CN" sz="2600" b="1" dirty="0">
                <a:solidFill>
                  <a:schemeClr val="bg2"/>
                </a:solidFill>
                <a:latin typeface="+mn-ea"/>
                <a:ea typeface="+mn-ea"/>
              </a:rPr>
              <a:t>丰富的 API 接口：</a:t>
            </a:r>
            <a:r>
              <a:rPr lang="en-CN" sz="2600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en-CN" sz="2600" b="1" dirty="0">
                <a:solidFill>
                  <a:schemeClr val="accent2"/>
                </a:solidFill>
                <a:latin typeface="+mn-ea"/>
                <a:ea typeface="+mn-ea"/>
              </a:rPr>
              <a:t>提供 JavaScript</a:t>
            </a:r>
            <a:r>
              <a:rPr lang="en-US" altLang="zh-CN" sz="2600" b="1" dirty="0">
                <a:solidFill>
                  <a:schemeClr val="accent2"/>
                </a:solidFill>
                <a:latin typeface="+mn-ea"/>
                <a:ea typeface="+mn-ea"/>
              </a:rPr>
              <a:t>/Python</a:t>
            </a:r>
            <a:r>
              <a:rPr lang="en-CN" sz="2600" b="1" dirty="0">
                <a:solidFill>
                  <a:schemeClr val="accent2"/>
                </a:solidFill>
                <a:latin typeface="+mn-ea"/>
                <a:ea typeface="+mn-ea"/>
              </a:rPr>
              <a:t> API</a:t>
            </a:r>
            <a:r>
              <a:rPr lang="en-CN" sz="2600" dirty="0">
                <a:solidFill>
                  <a:schemeClr val="bg2"/>
                </a:solidFill>
                <a:latin typeface="+mn-ea"/>
                <a:ea typeface="+mn-ea"/>
              </a:rPr>
              <a:t>。结合第三方开源库（如geemap），可以在Python Jupyter 环境中实现灵活可视化分析。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0B2A5E-583F-7333-B449-3004AA40F4A5}"/>
              </a:ext>
            </a:extLst>
          </p:cNvPr>
          <p:cNvSpPr/>
          <p:nvPr/>
        </p:nvSpPr>
        <p:spPr>
          <a:xfrm>
            <a:off x="8383252" y="1052181"/>
            <a:ext cx="3640581" cy="5625288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lIns="0" rtlCol="0" anchor="ctr">
            <a:noAutofit/>
          </a:bodyPr>
          <a:lstStyle/>
          <a:p>
            <a:pPr algn="l"/>
            <a:endParaRPr lang="en-CN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092AB0F-4AF1-D74B-2443-AE69A3521B7C}"/>
              </a:ext>
            </a:extLst>
          </p:cNvPr>
          <p:cNvGrpSpPr/>
          <p:nvPr/>
        </p:nvGrpSpPr>
        <p:grpSpPr>
          <a:xfrm>
            <a:off x="8606969" y="1889857"/>
            <a:ext cx="3218285" cy="647888"/>
            <a:chOff x="8598226" y="2929094"/>
            <a:chExt cx="2824517" cy="73073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B34A8B3-3F57-4189-6B5E-911DA28E791B}"/>
                </a:ext>
              </a:extLst>
            </p:cNvPr>
            <p:cNvSpPr txBox="1"/>
            <p:nvPr/>
          </p:nvSpPr>
          <p:spPr>
            <a:xfrm>
              <a:off x="8743534" y="3063630"/>
              <a:ext cx="253389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b="1" dirty="0">
                  <a:solidFill>
                    <a:schemeClr val="bg2"/>
                  </a:solidFill>
                  <a:latin typeface="+mj-ea"/>
                  <a:ea typeface="+mj-ea"/>
                </a:rPr>
                <a:t>Landsat-5,7,8,9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44AC36A8-73E4-D59E-A62A-4BC4B33C4EDA}"/>
                </a:ext>
              </a:extLst>
            </p:cNvPr>
            <p:cNvSpPr/>
            <p:nvPr/>
          </p:nvSpPr>
          <p:spPr>
            <a:xfrm>
              <a:off x="8598226" y="2929094"/>
              <a:ext cx="2824517" cy="730738"/>
            </a:xfrm>
            <a:prstGeom prst="roundRect">
              <a:avLst/>
            </a:prstGeom>
            <a:noFill/>
            <a:ln w="28575">
              <a:solidFill>
                <a:schemeClr val="accent1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BCF4920-3672-6916-24E6-683124F1EBDD}"/>
              </a:ext>
            </a:extLst>
          </p:cNvPr>
          <p:cNvGrpSpPr/>
          <p:nvPr/>
        </p:nvGrpSpPr>
        <p:grpSpPr>
          <a:xfrm>
            <a:off x="8606969" y="2698108"/>
            <a:ext cx="3218285" cy="647888"/>
            <a:chOff x="8598226" y="2929094"/>
            <a:chExt cx="2824517" cy="73073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87022C8-AD4E-A75F-5141-6034B3D7A6F3}"/>
                </a:ext>
              </a:extLst>
            </p:cNvPr>
            <p:cNvSpPr txBox="1"/>
            <p:nvPr/>
          </p:nvSpPr>
          <p:spPr>
            <a:xfrm>
              <a:off x="9129474" y="3063630"/>
              <a:ext cx="17620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b="1" dirty="0">
                  <a:solidFill>
                    <a:schemeClr val="bg2"/>
                  </a:solidFill>
                  <a:latin typeface="+mj-ea"/>
                  <a:ea typeface="+mj-ea"/>
                </a:rPr>
                <a:t>Sentinel-2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8166C486-434D-458F-FEC1-F3EB435B1AAF}"/>
                </a:ext>
              </a:extLst>
            </p:cNvPr>
            <p:cNvSpPr/>
            <p:nvPr/>
          </p:nvSpPr>
          <p:spPr>
            <a:xfrm>
              <a:off x="8598226" y="2929094"/>
              <a:ext cx="2824517" cy="730738"/>
            </a:xfrm>
            <a:prstGeom prst="roundRect">
              <a:avLst/>
            </a:prstGeom>
            <a:noFill/>
            <a:ln w="28575">
              <a:solidFill>
                <a:schemeClr val="accent1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D7B8EDE-AB19-69DE-8AD4-CF09DDEB6A16}"/>
              </a:ext>
            </a:extLst>
          </p:cNvPr>
          <p:cNvGrpSpPr/>
          <p:nvPr/>
        </p:nvGrpSpPr>
        <p:grpSpPr>
          <a:xfrm>
            <a:off x="8606969" y="3532964"/>
            <a:ext cx="3218285" cy="647888"/>
            <a:chOff x="8598226" y="2929094"/>
            <a:chExt cx="2824517" cy="73073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05681AF-8ECA-6D5F-D80F-1A3CA9754B88}"/>
                </a:ext>
              </a:extLst>
            </p:cNvPr>
            <p:cNvSpPr txBox="1"/>
            <p:nvPr/>
          </p:nvSpPr>
          <p:spPr>
            <a:xfrm>
              <a:off x="9368321" y="3063630"/>
              <a:ext cx="1284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b="1" dirty="0">
                  <a:solidFill>
                    <a:schemeClr val="bg2"/>
                  </a:solidFill>
                  <a:latin typeface="+mj-ea"/>
                  <a:ea typeface="+mj-ea"/>
                </a:rPr>
                <a:t>MODIS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C73C2D51-BFEC-5F1C-1932-1012ECB8B57C}"/>
                </a:ext>
              </a:extLst>
            </p:cNvPr>
            <p:cNvSpPr/>
            <p:nvPr/>
          </p:nvSpPr>
          <p:spPr>
            <a:xfrm>
              <a:off x="8598226" y="2929094"/>
              <a:ext cx="2824517" cy="730738"/>
            </a:xfrm>
            <a:prstGeom prst="roundRect">
              <a:avLst/>
            </a:prstGeom>
            <a:noFill/>
            <a:ln w="28575">
              <a:solidFill>
                <a:schemeClr val="accent1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9314598-602A-CFF3-ECF2-EE7D73B26118}"/>
              </a:ext>
            </a:extLst>
          </p:cNvPr>
          <p:cNvGrpSpPr/>
          <p:nvPr/>
        </p:nvGrpSpPr>
        <p:grpSpPr>
          <a:xfrm>
            <a:off x="8606969" y="4342613"/>
            <a:ext cx="3218285" cy="647888"/>
            <a:chOff x="8598226" y="2929094"/>
            <a:chExt cx="2824517" cy="73073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B8273DE-0B07-CA53-033B-1CF8EE02BE0D}"/>
                </a:ext>
              </a:extLst>
            </p:cNvPr>
            <p:cNvSpPr txBox="1"/>
            <p:nvPr/>
          </p:nvSpPr>
          <p:spPr>
            <a:xfrm>
              <a:off x="9418015" y="3063630"/>
              <a:ext cx="11849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b="1" dirty="0">
                  <a:solidFill>
                    <a:schemeClr val="bg2"/>
                  </a:solidFill>
                  <a:latin typeface="+mj-ea"/>
                  <a:ea typeface="+mj-ea"/>
                </a:rPr>
                <a:t>ASTER</a:t>
              </a: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2357C97E-AD1E-FA11-FF11-A5C9D3B0B2AA}"/>
                </a:ext>
              </a:extLst>
            </p:cNvPr>
            <p:cNvSpPr/>
            <p:nvPr/>
          </p:nvSpPr>
          <p:spPr>
            <a:xfrm>
              <a:off x="8598226" y="2929094"/>
              <a:ext cx="2824517" cy="730738"/>
            </a:xfrm>
            <a:prstGeom prst="roundRect">
              <a:avLst/>
            </a:prstGeom>
            <a:noFill/>
            <a:ln w="28575">
              <a:solidFill>
                <a:schemeClr val="accent1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FEEDC4D-CC38-88D1-D63A-0600A9CD0CCE}"/>
              </a:ext>
            </a:extLst>
          </p:cNvPr>
          <p:cNvGrpSpPr/>
          <p:nvPr/>
        </p:nvGrpSpPr>
        <p:grpSpPr>
          <a:xfrm>
            <a:off x="8606969" y="5157931"/>
            <a:ext cx="3218285" cy="647888"/>
            <a:chOff x="8598226" y="2929094"/>
            <a:chExt cx="2824517" cy="73073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F6857B6-9ADF-6713-3067-9EE266FFA3AD}"/>
                </a:ext>
              </a:extLst>
            </p:cNvPr>
            <p:cNvSpPr txBox="1"/>
            <p:nvPr/>
          </p:nvSpPr>
          <p:spPr>
            <a:xfrm>
              <a:off x="9445267" y="3063630"/>
              <a:ext cx="11304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b="1" dirty="0">
                  <a:solidFill>
                    <a:schemeClr val="bg2"/>
                  </a:solidFill>
                  <a:latin typeface="+mj-ea"/>
                  <a:ea typeface="+mj-ea"/>
                </a:rPr>
                <a:t>ERA-5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CABDF9A8-A5AF-FA7B-3B3E-485A717B6F23}"/>
                </a:ext>
              </a:extLst>
            </p:cNvPr>
            <p:cNvSpPr/>
            <p:nvPr/>
          </p:nvSpPr>
          <p:spPr>
            <a:xfrm>
              <a:off x="8598226" y="2929094"/>
              <a:ext cx="2824517" cy="730738"/>
            </a:xfrm>
            <a:prstGeom prst="roundRect">
              <a:avLst/>
            </a:prstGeom>
            <a:noFill/>
            <a:ln w="28575">
              <a:solidFill>
                <a:schemeClr val="accent1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05C7883-D85A-3202-BAE2-02F0ED0203DA}"/>
              </a:ext>
            </a:extLst>
          </p:cNvPr>
          <p:cNvSpPr txBox="1"/>
          <p:nvPr/>
        </p:nvSpPr>
        <p:spPr>
          <a:xfrm>
            <a:off x="9715753" y="5922775"/>
            <a:ext cx="1262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2"/>
                </a:solidFill>
              </a:rPr>
              <a:t>。。。</a:t>
            </a:r>
            <a:endParaRPr lang="en-CN" b="1" dirty="0">
              <a:solidFill>
                <a:schemeClr val="bg2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4AB8A38-37B4-DC94-A3CA-9F33F6623AE4}"/>
              </a:ext>
            </a:extLst>
          </p:cNvPr>
          <p:cNvSpPr txBox="1"/>
          <p:nvPr/>
        </p:nvSpPr>
        <p:spPr>
          <a:xfrm>
            <a:off x="8405023" y="1164404"/>
            <a:ext cx="35660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00CC"/>
                </a:solidFill>
                <a:latin typeface="+mn-ea"/>
                <a:ea typeface="+mn-ea"/>
              </a:rPr>
              <a:t>数据集</a:t>
            </a:r>
          </a:p>
        </p:txBody>
      </p:sp>
    </p:spTree>
    <p:extLst>
      <p:ext uri="{BB962C8B-B14F-4D97-AF65-F5344CB8AC3E}">
        <p14:creationId xmlns:p14="http://schemas.microsoft.com/office/powerpoint/2010/main" val="184447237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ACC08-4780-9B3E-0203-69752856B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9ADAACF-FEDA-A656-33B3-8103BEDFA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第五章</a:t>
            </a:r>
            <a:r>
              <a:rPr lang="en-US" altLang="zh-CN" dirty="0"/>
              <a:t>-</a:t>
            </a:r>
            <a:r>
              <a:rPr lang="zh-CN" altLang="en-US" dirty="0"/>
              <a:t>云端遥感数据处理程序设计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3" name="矩形 4">
            <a:extLst>
              <a:ext uri="{FF2B5EF4-FFF2-40B4-BE49-F238E27FC236}">
                <a16:creationId xmlns:a16="http://schemas.microsoft.com/office/drawing/2014/main" id="{4FF26A5F-6946-F899-C923-C40C7E9B49B4}"/>
              </a:ext>
            </a:extLst>
          </p:cNvPr>
          <p:cNvSpPr/>
          <p:nvPr/>
        </p:nvSpPr>
        <p:spPr>
          <a:xfrm>
            <a:off x="410817" y="888897"/>
            <a:ext cx="6842599" cy="565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0253F"/>
              </a:buClr>
              <a:buSzPct val="75000"/>
              <a:defRPr/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GEE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平台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-Google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Earth Engine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9762FCB-64BA-5F7B-FE32-B99B4BF62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1" y="1778765"/>
            <a:ext cx="6249114" cy="430693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B139397-2B38-7860-0B53-B59740E0F395}"/>
              </a:ext>
            </a:extLst>
          </p:cNvPr>
          <p:cNvSpPr txBox="1"/>
          <p:nvPr/>
        </p:nvSpPr>
        <p:spPr>
          <a:xfrm>
            <a:off x="259818" y="1542645"/>
            <a:ext cx="5433846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CN" b="1" dirty="0">
                <a:solidFill>
                  <a:schemeClr val="accent2"/>
                </a:solidFill>
                <a:latin typeface="+mn-ea"/>
                <a:ea typeface="+mn-ea"/>
              </a:rPr>
              <a:t>GEE编程主要支持: </a:t>
            </a:r>
            <a:r>
              <a:rPr lang="en-US" b="1" dirty="0">
                <a:solidFill>
                  <a:schemeClr val="accent2"/>
                </a:solidFill>
                <a:latin typeface="+mn-ea"/>
                <a:ea typeface="+mn-ea"/>
              </a:rPr>
              <a:t>(1)</a:t>
            </a:r>
            <a:r>
              <a:rPr lang="zh-CN" altLang="en-US" b="1" dirty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lang="en-CN" b="1" dirty="0">
                <a:solidFill>
                  <a:schemeClr val="accent2"/>
                </a:solidFill>
                <a:latin typeface="+mn-ea"/>
                <a:ea typeface="+mn-ea"/>
              </a:rPr>
              <a:t>JavaScript编程语言和</a:t>
            </a:r>
            <a:r>
              <a:rPr lang="en-US" b="1" dirty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lang="en-CN" b="1" dirty="0">
                <a:solidFill>
                  <a:schemeClr val="accent2"/>
                </a:solidFill>
                <a:latin typeface="+mn-ea"/>
                <a:ea typeface="+mn-ea"/>
              </a:rPr>
              <a:t>(2)</a:t>
            </a:r>
            <a:r>
              <a:rPr lang="zh-CN" altLang="en-US" b="1" dirty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lang="en-CN" b="1" u="sng" dirty="0">
                <a:solidFill>
                  <a:schemeClr val="accent2"/>
                </a:solidFill>
                <a:latin typeface="+mn-ea"/>
                <a:ea typeface="+mn-ea"/>
              </a:rPr>
              <a:t>Python编程语言</a:t>
            </a:r>
            <a:r>
              <a:rPr lang="zh-CN" altLang="en-US" b="1" dirty="0">
                <a:solidFill>
                  <a:schemeClr val="accent2"/>
                </a:solidFill>
                <a:latin typeface="+mn-ea"/>
                <a:ea typeface="+mn-ea"/>
              </a:rPr>
              <a:t>。</a:t>
            </a:r>
            <a:endParaRPr lang="en-CN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873276-FC57-538D-E142-016576BD5BDE}"/>
              </a:ext>
            </a:extLst>
          </p:cNvPr>
          <p:cNvSpPr txBox="1"/>
          <p:nvPr/>
        </p:nvSpPr>
        <p:spPr>
          <a:xfrm>
            <a:off x="259818" y="2765908"/>
            <a:ext cx="559234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N" b="1" u="none" strike="noStrike" dirty="0">
                <a:solidFill>
                  <a:schemeClr val="bg2"/>
                </a:solidFill>
                <a:effectLst/>
                <a:latin typeface="+mn-ea"/>
                <a:ea typeface="+mn-ea"/>
              </a:rPr>
              <a:t>数据结构</a:t>
            </a:r>
          </a:p>
          <a:p>
            <a:pPr algn="l"/>
            <a:r>
              <a:rPr lang="en-CN" b="1" u="none" strike="noStrike" dirty="0">
                <a:solidFill>
                  <a:schemeClr val="bg2"/>
                </a:solidFill>
                <a:effectLst/>
                <a:latin typeface="+mn-ea"/>
                <a:ea typeface="+mn-ea"/>
              </a:rPr>
              <a:t>Image/ImageCollection</a:t>
            </a:r>
            <a:r>
              <a:rPr lang="en-CN" b="0" u="none" strike="noStrike" dirty="0">
                <a:solidFill>
                  <a:schemeClr val="bg2"/>
                </a:solidFill>
                <a:effectLst/>
                <a:latin typeface="+mn-ea"/>
                <a:ea typeface="+mn-ea"/>
              </a:rPr>
              <a:t>：</a:t>
            </a:r>
            <a:r>
              <a:rPr lang="zh-CN" altLang="en-US" b="0" u="none" strike="noStrike" dirty="0">
                <a:solidFill>
                  <a:schemeClr val="bg2"/>
                </a:solidFill>
                <a:effectLst/>
                <a:latin typeface="+mn-ea"/>
                <a:ea typeface="+mn-ea"/>
              </a:rPr>
              <a:t>栅格</a:t>
            </a:r>
            <a:r>
              <a:rPr lang="en-CN" b="0" u="none" strike="noStrike" dirty="0">
                <a:solidFill>
                  <a:schemeClr val="bg2"/>
                </a:solidFill>
                <a:effectLst/>
                <a:latin typeface="+mn-ea"/>
                <a:ea typeface="+mn-ea"/>
              </a:rPr>
              <a:t>图像与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栅格</a:t>
            </a:r>
            <a:r>
              <a:rPr lang="en-CN" b="0" u="none" strike="noStrike" dirty="0">
                <a:solidFill>
                  <a:schemeClr val="bg2"/>
                </a:solidFill>
                <a:effectLst/>
                <a:latin typeface="+mn-ea"/>
                <a:ea typeface="+mn-ea"/>
              </a:rPr>
              <a:t>图像集合（如时间序列影像）。</a:t>
            </a:r>
          </a:p>
          <a:p>
            <a:pPr algn="l"/>
            <a:r>
              <a:rPr lang="en-CN" b="1" u="none" strike="noStrike" dirty="0">
                <a:solidFill>
                  <a:schemeClr val="bg2"/>
                </a:solidFill>
                <a:effectLst/>
                <a:latin typeface="+mn-ea"/>
                <a:ea typeface="+mn-ea"/>
              </a:rPr>
              <a:t>Feature/FeatureCollection</a:t>
            </a:r>
            <a:r>
              <a:rPr lang="en-CN" b="0" u="none" strike="noStrike" dirty="0">
                <a:solidFill>
                  <a:schemeClr val="bg2"/>
                </a:solidFill>
                <a:effectLst/>
                <a:latin typeface="+mn-ea"/>
                <a:ea typeface="+mn-ea"/>
              </a:rPr>
              <a:t>：矢量要素与要素集合（点、线</a:t>
            </a:r>
            <a:r>
              <a:rPr lang="en-CN" b="1" dirty="0">
                <a:solidFill>
                  <a:schemeClr val="bg2"/>
                </a:solidFill>
                <a:latin typeface="+mn-ea"/>
                <a:ea typeface="+mn-ea"/>
              </a:rPr>
              <a:t>、面及属性）。</a:t>
            </a:r>
          </a:p>
          <a:p>
            <a:pPr algn="l"/>
            <a:r>
              <a:rPr lang="en-CN" b="1" dirty="0">
                <a:solidFill>
                  <a:schemeClr val="bg2"/>
                </a:solidFill>
                <a:latin typeface="+mn-ea"/>
                <a:ea typeface="+mn-ea"/>
              </a:rPr>
              <a:t>核心处理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US" altLang="zh-CN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en-CN" b="1" dirty="0">
                <a:solidFill>
                  <a:schemeClr val="bg2"/>
                </a:solidFill>
                <a:latin typeface="+mn-ea"/>
                <a:ea typeface="+mn-ea"/>
              </a:rPr>
              <a:t>数据筛选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</a:rPr>
              <a:t>filter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）、数据归约（</a:t>
            </a: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</a:rPr>
              <a:t>reduce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）、数据输出（</a:t>
            </a: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</a:rPr>
              <a:t>export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）等。</a:t>
            </a:r>
            <a:endParaRPr lang="en-CN" b="1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7003527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9DADC-C210-5AD3-AB35-1980DF5E0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3FA2016-6B33-22B4-7A11-B5F267B34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第五章</a:t>
            </a:r>
            <a:r>
              <a:rPr lang="en-US" altLang="zh-CN" dirty="0"/>
              <a:t>-</a:t>
            </a:r>
            <a:r>
              <a:rPr lang="zh-CN" altLang="en-US" dirty="0"/>
              <a:t>云端遥感数据处理程序设计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3" name="矩形 4">
            <a:extLst>
              <a:ext uri="{FF2B5EF4-FFF2-40B4-BE49-F238E27FC236}">
                <a16:creationId xmlns:a16="http://schemas.microsoft.com/office/drawing/2014/main" id="{525AAB5E-3AA6-1CFE-8537-E19FE8F5EDF3}"/>
              </a:ext>
            </a:extLst>
          </p:cNvPr>
          <p:cNvSpPr/>
          <p:nvPr/>
        </p:nvSpPr>
        <p:spPr>
          <a:xfrm>
            <a:off x="410817" y="946953"/>
            <a:ext cx="6628612" cy="565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0253F"/>
              </a:buClr>
              <a:buSzPct val="75000"/>
              <a:defRPr/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GEE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云端数据处理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编程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9951AB-F3FB-0B1E-165B-32F2797ED866}"/>
              </a:ext>
            </a:extLst>
          </p:cNvPr>
          <p:cNvSpPr txBox="1"/>
          <p:nvPr/>
        </p:nvSpPr>
        <p:spPr>
          <a:xfrm>
            <a:off x="495687" y="3244854"/>
            <a:ext cx="7867401" cy="3247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CN" sz="2800" b="1" dirty="0">
                <a:solidFill>
                  <a:schemeClr val="bg2"/>
                </a:solidFill>
                <a:latin typeface="+mn-ea"/>
                <a:ea typeface="+mn-ea"/>
              </a:rPr>
              <a:t>客户端 vs 服务端：</a:t>
            </a:r>
            <a:r>
              <a:rPr lang="en-CN" sz="2800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endParaRPr lang="en-US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CN" sz="2800" dirty="0">
                <a:solidFill>
                  <a:schemeClr val="bg2"/>
                </a:solidFill>
                <a:latin typeface="+mn-ea"/>
                <a:ea typeface="+mn-ea"/>
              </a:rPr>
              <a:t>客户端指本地电脑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，服务端指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Google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云服务器。 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客户端负责构建指令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，不处理数据。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服务端负责实际运算，处理海量遥感数据。 </a:t>
            </a:r>
            <a:endParaRPr lang="en-US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6DFD64-C935-4E4A-DDE0-465098F5B2FA}"/>
              </a:ext>
            </a:extLst>
          </p:cNvPr>
          <p:cNvSpPr txBox="1"/>
          <p:nvPr/>
        </p:nvSpPr>
        <p:spPr>
          <a:xfrm>
            <a:off x="495687" y="1739462"/>
            <a:ext cx="786740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chemeClr val="bg2"/>
                </a:solidFill>
                <a:latin typeface="+mn-ea"/>
                <a:ea typeface="+mn-ea"/>
              </a:rPr>
              <a:t>P</a:t>
            </a:r>
            <a:r>
              <a:rPr lang="en-CN" sz="2800" b="1" dirty="0">
                <a:solidFill>
                  <a:schemeClr val="bg2"/>
                </a:solidFill>
                <a:latin typeface="+mn-ea"/>
                <a:ea typeface="+mn-ea"/>
              </a:rPr>
              <a:t>ython编程库</a:t>
            </a: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CN" sz="2800" b="1" dirty="0">
                <a:solidFill>
                  <a:schemeClr val="bg2"/>
                </a:solidFill>
                <a:latin typeface="+mn-ea"/>
                <a:ea typeface="+mn-ea"/>
              </a:rPr>
              <a:t>ee</a:t>
            </a: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）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：云端数据处理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/>
            <a:r>
              <a:rPr lang="en-US" sz="2800" b="1" dirty="0">
                <a:solidFill>
                  <a:schemeClr val="bg2"/>
                </a:solidFill>
                <a:latin typeface="+mn-ea"/>
                <a:ea typeface="+mn-ea"/>
              </a:rPr>
              <a:t>P</a:t>
            </a:r>
            <a:r>
              <a:rPr lang="en-CN" sz="2800" b="1" dirty="0">
                <a:solidFill>
                  <a:schemeClr val="bg2"/>
                </a:solidFill>
                <a:latin typeface="+mn-ea"/>
                <a:ea typeface="+mn-ea"/>
              </a:rPr>
              <a:t>ython编程库</a:t>
            </a: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sz="2800" b="1" dirty="0">
                <a:solidFill>
                  <a:schemeClr val="bg2"/>
                </a:solidFill>
                <a:latin typeface="+mn-ea"/>
                <a:ea typeface="+mn-ea"/>
              </a:rPr>
              <a:t>g</a:t>
            </a:r>
            <a:r>
              <a:rPr lang="en-CN" sz="2800" b="1" dirty="0">
                <a:solidFill>
                  <a:schemeClr val="bg2"/>
                </a:solidFill>
                <a:latin typeface="+mn-ea"/>
                <a:ea typeface="+mn-ea"/>
              </a:rPr>
              <a:t>eemap</a:t>
            </a: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）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：云端数据可视化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2C94157-95CE-1710-5A8C-CBFAB24600CB}"/>
              </a:ext>
            </a:extLst>
          </p:cNvPr>
          <p:cNvGrpSpPr/>
          <p:nvPr/>
        </p:nvGrpSpPr>
        <p:grpSpPr>
          <a:xfrm>
            <a:off x="8694677" y="1227895"/>
            <a:ext cx="2254469" cy="2201105"/>
            <a:chOff x="8586951" y="1515108"/>
            <a:chExt cx="2254469" cy="2201105"/>
          </a:xfrm>
        </p:grpSpPr>
        <p:pic>
          <p:nvPicPr>
            <p:cNvPr id="2" name="Picture 1" descr="🛑 Live 1st-day online training: Difference Between Server and Client  Google Earth Engine || GEE">
              <a:extLst>
                <a:ext uri="{FF2B5EF4-FFF2-40B4-BE49-F238E27FC236}">
                  <a16:creationId xmlns:a16="http://schemas.microsoft.com/office/drawing/2014/main" id="{4401F6D1-8055-E42D-E2CF-19159E6E7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333" t="21612" r="71411" b="54465"/>
            <a:stretch>
              <a:fillRect/>
            </a:stretch>
          </p:blipFill>
          <p:spPr>
            <a:xfrm>
              <a:off x="8586952" y="1515108"/>
              <a:ext cx="2254468" cy="1739440"/>
            </a:xfrm>
            <a:prstGeom prst="rect">
              <a:avLst/>
            </a:prstGeom>
            <a:ln>
              <a:solidFill>
                <a:schemeClr val="bg2"/>
              </a:solidFill>
            </a:ln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A0312D7-6F36-5ABE-C698-CC5215481258}"/>
                </a:ext>
              </a:extLst>
            </p:cNvPr>
            <p:cNvSpPr txBox="1"/>
            <p:nvPr/>
          </p:nvSpPr>
          <p:spPr>
            <a:xfrm>
              <a:off x="8586951" y="3254548"/>
              <a:ext cx="2254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dirty="0">
                  <a:solidFill>
                    <a:schemeClr val="bg2"/>
                  </a:solidFill>
                  <a:latin typeface="+mn-ea"/>
                  <a:ea typeface="+mn-ea"/>
                </a:rPr>
                <a:t>服务端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E2F71F7-D249-E6F3-17B4-1CDE99BFCA68}"/>
              </a:ext>
            </a:extLst>
          </p:cNvPr>
          <p:cNvGrpSpPr/>
          <p:nvPr/>
        </p:nvGrpSpPr>
        <p:grpSpPr>
          <a:xfrm>
            <a:off x="8694674" y="3583536"/>
            <a:ext cx="2254470" cy="2846143"/>
            <a:chOff x="8586950" y="3936176"/>
            <a:chExt cx="2254470" cy="2846143"/>
          </a:xfrm>
        </p:grpSpPr>
        <p:pic>
          <p:nvPicPr>
            <p:cNvPr id="5" name="Picture 4" descr="🛑 Live 1st-day online training: Difference Between Server and Client  Google Earth Engine || GEE">
              <a:extLst>
                <a:ext uri="{FF2B5EF4-FFF2-40B4-BE49-F238E27FC236}">
                  <a16:creationId xmlns:a16="http://schemas.microsoft.com/office/drawing/2014/main" id="{F5909A29-E12A-7B6E-0AEF-A1BACA3F62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6745" t="50349" b="16956"/>
            <a:stretch>
              <a:fillRect/>
            </a:stretch>
          </p:blipFill>
          <p:spPr>
            <a:xfrm>
              <a:off x="8586952" y="3936176"/>
              <a:ext cx="2254468" cy="2377238"/>
            </a:xfrm>
            <a:prstGeom prst="rect">
              <a:avLst/>
            </a:prstGeom>
            <a:ln>
              <a:solidFill>
                <a:schemeClr val="bg2"/>
              </a:solidFill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2B36643-0651-6F3D-17CF-772E747ABE75}"/>
                </a:ext>
              </a:extLst>
            </p:cNvPr>
            <p:cNvSpPr txBox="1"/>
            <p:nvPr/>
          </p:nvSpPr>
          <p:spPr>
            <a:xfrm>
              <a:off x="8586950" y="6320654"/>
              <a:ext cx="2254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dirty="0">
                  <a:solidFill>
                    <a:schemeClr val="bg2"/>
                  </a:solidFill>
                  <a:latin typeface="+mn-ea"/>
                  <a:ea typeface="+mn-ea"/>
                </a:rPr>
                <a:t>客户端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370381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4A026-B16D-572D-06F3-3435C2DD9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2187CB0-DA87-08A4-7A50-767136D9C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第五章</a:t>
            </a:r>
            <a:r>
              <a:rPr lang="en-US" altLang="zh-CN" dirty="0"/>
              <a:t>-</a:t>
            </a:r>
            <a:r>
              <a:rPr lang="zh-CN" altLang="en-US" dirty="0"/>
              <a:t>云端遥感数据处理程序设计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3" name="矩形 4">
            <a:extLst>
              <a:ext uri="{FF2B5EF4-FFF2-40B4-BE49-F238E27FC236}">
                <a16:creationId xmlns:a16="http://schemas.microsoft.com/office/drawing/2014/main" id="{AE8C286B-A1D1-CC2F-553A-4FDF1E47AA61}"/>
              </a:ext>
            </a:extLst>
          </p:cNvPr>
          <p:cNvSpPr/>
          <p:nvPr/>
        </p:nvSpPr>
        <p:spPr>
          <a:xfrm>
            <a:off x="410817" y="946953"/>
            <a:ext cx="6628612" cy="565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0253F"/>
              </a:buClr>
              <a:buSzPct val="75000"/>
              <a:defRPr/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GEE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云端数据处理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编程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B048F3-FB36-3E3C-EC51-79D38301D38F}"/>
              </a:ext>
            </a:extLst>
          </p:cNvPr>
          <p:cNvSpPr txBox="1"/>
          <p:nvPr/>
        </p:nvSpPr>
        <p:spPr>
          <a:xfrm>
            <a:off x="519545" y="1708049"/>
            <a:ext cx="97951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chemeClr val="accent2"/>
                </a:solidFill>
                <a:latin typeface="+mn-ea"/>
                <a:ea typeface="+mn-ea"/>
              </a:rPr>
              <a:t>P</a:t>
            </a:r>
            <a:r>
              <a:rPr lang="en-CN" sz="3200" b="1" dirty="0">
                <a:solidFill>
                  <a:schemeClr val="accent2"/>
                </a:solidFill>
                <a:latin typeface="+mn-ea"/>
                <a:ea typeface="+mn-ea"/>
              </a:rPr>
              <a:t>ython编程库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（</a:t>
            </a: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g</a:t>
            </a:r>
            <a:r>
              <a:rPr lang="en-CN" sz="3200" b="1" dirty="0">
                <a:solidFill>
                  <a:schemeClr val="accent2"/>
                </a:solidFill>
                <a:latin typeface="+mn-ea"/>
                <a:ea typeface="+mn-ea"/>
              </a:rPr>
              <a:t>eemap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）：云端数据可视化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6D133D-5985-623D-D1E1-A9C9936594FA}"/>
              </a:ext>
            </a:extLst>
          </p:cNvPr>
          <p:cNvSpPr txBox="1"/>
          <p:nvPr/>
        </p:nvSpPr>
        <p:spPr>
          <a:xfrm>
            <a:off x="431058" y="2406834"/>
            <a:ext cx="8227069" cy="409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CN" sz="2200" b="1" dirty="0">
                <a:solidFill>
                  <a:schemeClr val="bg2"/>
                </a:solidFill>
                <a:latin typeface="+mn-ea"/>
                <a:ea typeface="+mn-ea"/>
              </a:rPr>
              <a:t>为解决Python环境不能进行交互式地图展示的问题</a:t>
            </a:r>
            <a:r>
              <a:rPr lang="zh-CN" altLang="en-US" sz="2200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CN" sz="2200" dirty="0">
                <a:solidFill>
                  <a:schemeClr val="bg2"/>
                </a:solidFill>
                <a:latin typeface="+mn-ea"/>
                <a:ea typeface="+mn-ea"/>
              </a:rPr>
              <a:t>华人学者吴秋生（Qiusheng Wu）教授开发了geemap开源python库</a:t>
            </a:r>
            <a:r>
              <a:rPr lang="zh-CN" altLang="en-US" sz="2200" dirty="0">
                <a:solidFill>
                  <a:schemeClr val="bg2"/>
                </a:solidFill>
                <a:latin typeface="+mn-ea"/>
                <a:ea typeface="+mn-ea"/>
              </a:rPr>
              <a:t>，其主要特点有：</a:t>
            </a:r>
            <a:endParaRPr lang="en-CN" sz="22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  <a:buNone/>
            </a:pPr>
            <a:r>
              <a:rPr lang="zh-CN" altLang="en-US" sz="2200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sz="2200" dirty="0">
                <a:solidFill>
                  <a:schemeClr val="bg2"/>
                </a:solidFill>
                <a:latin typeface="+mn-ea"/>
                <a:ea typeface="+mn-ea"/>
              </a:rPr>
              <a:t>1</a:t>
            </a:r>
            <a:r>
              <a:rPr lang="zh-CN" altLang="en-US" sz="2200" dirty="0">
                <a:solidFill>
                  <a:schemeClr val="bg2"/>
                </a:solidFill>
                <a:latin typeface="+mn-ea"/>
                <a:ea typeface="+mn-ea"/>
              </a:rPr>
              <a:t>）</a:t>
            </a:r>
            <a:r>
              <a:rPr lang="en-CN" sz="2200" dirty="0">
                <a:solidFill>
                  <a:schemeClr val="bg2"/>
                </a:solidFill>
                <a:latin typeface="+mn-ea"/>
                <a:ea typeface="+mn-ea"/>
              </a:rPr>
              <a:t>与Jupyter Notebook编程环境无缝集成。</a:t>
            </a:r>
          </a:p>
          <a:p>
            <a:pPr algn="just">
              <a:lnSpc>
                <a:spcPct val="150000"/>
              </a:lnSpc>
            </a:pPr>
            <a:r>
              <a:rPr lang="zh-CN" altLang="en-US" sz="2200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sz="2200" dirty="0">
                <a:solidFill>
                  <a:schemeClr val="bg2"/>
                </a:solidFill>
                <a:latin typeface="+mn-ea"/>
                <a:ea typeface="+mn-ea"/>
              </a:rPr>
              <a:t>2</a:t>
            </a:r>
            <a:r>
              <a:rPr lang="zh-CN" altLang="en-US" sz="2200" dirty="0">
                <a:solidFill>
                  <a:schemeClr val="bg2"/>
                </a:solidFill>
                <a:latin typeface="+mn-ea"/>
                <a:ea typeface="+mn-ea"/>
              </a:rPr>
              <a:t>）</a:t>
            </a:r>
            <a:r>
              <a:rPr lang="en-CN" sz="2200" dirty="0">
                <a:solidFill>
                  <a:schemeClr val="bg2"/>
                </a:solidFill>
                <a:latin typeface="+mn-ea"/>
                <a:ea typeface="+mn-ea"/>
              </a:rPr>
              <a:t>只需要输入 Map.addLayer(img) 可实现一键可视化。</a:t>
            </a:r>
          </a:p>
          <a:p>
            <a:pPr algn="just">
              <a:lnSpc>
                <a:spcPct val="150000"/>
              </a:lnSpc>
            </a:pPr>
            <a:r>
              <a:rPr lang="zh-CN" altLang="en-US" sz="2200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sz="2200" dirty="0">
                <a:solidFill>
                  <a:schemeClr val="bg2"/>
                </a:solidFill>
                <a:latin typeface="+mn-ea"/>
                <a:ea typeface="+mn-ea"/>
              </a:rPr>
              <a:t>3</a:t>
            </a:r>
            <a:r>
              <a:rPr lang="zh-CN" altLang="en-US" sz="2200" dirty="0">
                <a:solidFill>
                  <a:schemeClr val="bg2"/>
                </a:solidFill>
                <a:latin typeface="+mn-ea"/>
                <a:ea typeface="+mn-ea"/>
              </a:rPr>
              <a:t>）</a:t>
            </a:r>
            <a:r>
              <a:rPr lang="en-CN" sz="2200" dirty="0">
                <a:solidFill>
                  <a:schemeClr val="bg2"/>
                </a:solidFill>
                <a:latin typeface="+mn-ea"/>
                <a:ea typeface="+mn-ea"/>
              </a:rPr>
              <a:t>封装了大量实用工具，如导出影像、交互式绘制多边形、生成时间序列图表等。</a:t>
            </a:r>
          </a:p>
        </p:txBody>
      </p:sp>
      <p:pic>
        <p:nvPicPr>
          <p:cNvPr id="2" name="Picture 1" descr="geemap">
            <a:extLst>
              <a:ext uri="{FF2B5EF4-FFF2-40B4-BE49-F238E27FC236}">
                <a16:creationId xmlns:a16="http://schemas.microsoft.com/office/drawing/2014/main" id="{43FA88C6-EAB9-0248-7C50-686002144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442" y="2406834"/>
            <a:ext cx="285750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75164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89508-88CC-C661-3E7E-208AA28FF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3D60791-E9BB-8D6A-ED6E-A592CD227A81}"/>
              </a:ext>
            </a:extLst>
          </p:cNvPr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626E5B4-51BA-FA14-5CC6-10B17A5E4361}"/>
              </a:ext>
            </a:extLst>
          </p:cNvPr>
          <p:cNvSpPr/>
          <p:nvPr/>
        </p:nvSpPr>
        <p:spPr>
          <a:xfrm>
            <a:off x="623455" y="3805558"/>
            <a:ext cx="900545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5400" b="1" dirty="0">
                <a:latin typeface="微软雅黑" pitchFamily="34" charset="-122"/>
                <a:ea typeface="微软雅黑" pitchFamily="34" charset="-122"/>
              </a:rPr>
              <a:t>二、基于</a:t>
            </a:r>
            <a:r>
              <a:rPr lang="en-US" altLang="zh-CN" sz="5400" b="1" dirty="0">
                <a:latin typeface="微软雅黑" pitchFamily="34" charset="-122"/>
                <a:ea typeface="微软雅黑" pitchFamily="34" charset="-122"/>
              </a:rPr>
              <a:t>GEE</a:t>
            </a:r>
            <a:r>
              <a:rPr lang="zh-CN" altLang="en-US" sz="5400" b="1" dirty="0">
                <a:latin typeface="微软雅黑" pitchFamily="34" charset="-122"/>
                <a:ea typeface="微软雅黑" pitchFamily="34" charset="-122"/>
              </a:rPr>
              <a:t>平台数据获取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B29401-6938-E80F-3B09-6986DDCE3CD5}"/>
              </a:ext>
            </a:extLst>
          </p:cNvPr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834404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EBFD7-D4F7-2859-2965-B7B28C0E6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9">
            <a:extLst>
              <a:ext uri="{FF2B5EF4-FFF2-40B4-BE49-F238E27FC236}">
                <a16:creationId xmlns:a16="http://schemas.microsoft.com/office/drawing/2014/main" id="{4E305885-B64E-4D0F-5246-8713E008F008}"/>
              </a:ext>
            </a:extLst>
          </p:cNvPr>
          <p:cNvSpPr/>
          <p:nvPr/>
        </p:nvSpPr>
        <p:spPr>
          <a:xfrm>
            <a:off x="1993767" y="2601796"/>
            <a:ext cx="292231" cy="2745138"/>
          </a:xfrm>
          <a:prstGeom prst="downArrow">
            <a:avLst/>
          </a:prstGeom>
          <a:solidFill>
            <a:schemeClr val="bg2">
              <a:lumMod val="85000"/>
              <a:lumOff val="15000"/>
            </a:schemeClr>
          </a:solidFill>
        </p:spPr>
        <p:txBody>
          <a:bodyPr wrap="square" lIns="0" rtlCol="0" anchor="ctr">
            <a:noAutofit/>
          </a:bodyPr>
          <a:lstStyle/>
          <a:p>
            <a:pPr algn="l"/>
            <a:endParaRPr lang="en-CN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D9D6FDA-385E-01F6-9810-E882638B8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第五章</a:t>
            </a:r>
            <a:r>
              <a:rPr lang="en-US" altLang="zh-CN" dirty="0"/>
              <a:t>-</a:t>
            </a:r>
            <a:r>
              <a:rPr lang="zh-CN" altLang="en-US" dirty="0"/>
              <a:t>云端遥感数据处理程序设计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3" name="矩形 4">
            <a:extLst>
              <a:ext uri="{FF2B5EF4-FFF2-40B4-BE49-F238E27FC236}">
                <a16:creationId xmlns:a16="http://schemas.microsoft.com/office/drawing/2014/main" id="{6A398AC9-B2E3-892D-AC33-69205EFDA025}"/>
              </a:ext>
            </a:extLst>
          </p:cNvPr>
          <p:cNvSpPr/>
          <p:nvPr/>
        </p:nvSpPr>
        <p:spPr>
          <a:xfrm>
            <a:off x="410817" y="888897"/>
            <a:ext cx="11071030" cy="565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0253F"/>
              </a:buClr>
              <a:buSzPct val="75000"/>
              <a:defRPr/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GEE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云端</a:t>
            </a:r>
            <a:r>
              <a:rPr lang="zh-CN" altLang="en-CN" sz="2800" b="1" dirty="0">
                <a:solidFill>
                  <a:srgbClr val="333333"/>
                </a:solidFill>
                <a:latin typeface="+mn-ea"/>
                <a:ea typeface="+mn-ea"/>
              </a:rPr>
              <a:t>数据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获取编程实践：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获取滇池区域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sentinel-2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数据为例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06195D-7A3A-99A5-E46E-359BC82F64D0}"/>
              </a:ext>
            </a:extLst>
          </p:cNvPr>
          <p:cNvSpPr/>
          <p:nvPr/>
        </p:nvSpPr>
        <p:spPr>
          <a:xfrm>
            <a:off x="810704" y="1809945"/>
            <a:ext cx="2658359" cy="791851"/>
          </a:xfrm>
          <a:prstGeom prst="rect">
            <a:avLst/>
          </a:prstGeom>
          <a:solidFill>
            <a:schemeClr val="tx1"/>
          </a:solidFill>
          <a:ln w="28575">
            <a:solidFill>
              <a:schemeClr val="accent1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GEE账号登陆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28D58B-5CE2-9575-020F-B229E3E44AD1}"/>
              </a:ext>
            </a:extLst>
          </p:cNvPr>
          <p:cNvSpPr/>
          <p:nvPr/>
        </p:nvSpPr>
        <p:spPr>
          <a:xfrm>
            <a:off x="810705" y="3030718"/>
            <a:ext cx="2658359" cy="791851"/>
          </a:xfrm>
          <a:prstGeom prst="rect">
            <a:avLst/>
          </a:prstGeom>
          <a:solidFill>
            <a:schemeClr val="tx1"/>
          </a:solidFill>
          <a:ln w="28575">
            <a:solidFill>
              <a:schemeClr val="accent1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数据搜集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2542C1-24EE-F133-B724-DA695BAB5BD4}"/>
              </a:ext>
            </a:extLst>
          </p:cNvPr>
          <p:cNvSpPr/>
          <p:nvPr/>
        </p:nvSpPr>
        <p:spPr>
          <a:xfrm>
            <a:off x="810704" y="5346934"/>
            <a:ext cx="2658359" cy="791851"/>
          </a:xfrm>
          <a:prstGeom prst="rect">
            <a:avLst/>
          </a:prstGeom>
          <a:solidFill>
            <a:schemeClr val="tx1"/>
          </a:solidFill>
          <a:ln w="28575">
            <a:solidFill>
              <a:schemeClr val="accent1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数据下载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8EC3A2-4B33-88BC-710A-1A0E34D425FF}"/>
              </a:ext>
            </a:extLst>
          </p:cNvPr>
          <p:cNvSpPr/>
          <p:nvPr/>
        </p:nvSpPr>
        <p:spPr>
          <a:xfrm>
            <a:off x="810704" y="4155831"/>
            <a:ext cx="2658359" cy="791851"/>
          </a:xfrm>
          <a:prstGeom prst="rect">
            <a:avLst/>
          </a:prstGeom>
          <a:solidFill>
            <a:schemeClr val="tx1"/>
          </a:solidFill>
          <a:ln w="28575">
            <a:solidFill>
              <a:schemeClr val="accent1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数据选取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E3658B-8D34-F5DB-ECE4-E4B314660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852" y="2108253"/>
            <a:ext cx="7301368" cy="14267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4135A9-0B94-7DD7-A3B6-761A4DF44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852" y="3935104"/>
            <a:ext cx="7301368" cy="19035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17A69C5-906E-A4B3-64E9-906F845FCC26}"/>
              </a:ext>
            </a:extLst>
          </p:cNvPr>
          <p:cNvSpPr txBox="1"/>
          <p:nvPr/>
        </p:nvSpPr>
        <p:spPr>
          <a:xfrm>
            <a:off x="2417624" y="2627512"/>
            <a:ext cx="1664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800" b="1" dirty="0">
                <a:solidFill>
                  <a:srgbClr val="0000CC"/>
                </a:solidFill>
                <a:latin typeface="+mn-ea"/>
                <a:ea typeface="+mn-ea"/>
              </a:rPr>
              <a:t>参数设置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A8D8030-BAC2-032E-ACFB-C1A93A4FC0A0}"/>
              </a:ext>
            </a:extLst>
          </p:cNvPr>
          <p:cNvCxnSpPr>
            <a:endCxn id="11" idx="1"/>
          </p:cNvCxnSpPr>
          <p:nvPr/>
        </p:nvCxnSpPr>
        <p:spPr bwMode="auto">
          <a:xfrm>
            <a:off x="3657600" y="2922309"/>
            <a:ext cx="818252" cy="1964592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F771C9-1A9B-051E-A0F2-254FA358FC76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 bwMode="auto">
          <a:xfrm>
            <a:off x="3469063" y="2205871"/>
            <a:ext cx="1006789" cy="615734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02625CD-F79D-2C18-F95B-54F8328CC52D}"/>
              </a:ext>
            </a:extLst>
          </p:cNvPr>
          <p:cNvSpPr txBox="1"/>
          <p:nvPr/>
        </p:nvSpPr>
        <p:spPr>
          <a:xfrm>
            <a:off x="2262475" y="4975685"/>
            <a:ext cx="1664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800" b="1" dirty="0">
                <a:solidFill>
                  <a:srgbClr val="0000CC"/>
                </a:solidFill>
                <a:latin typeface="+mn-ea"/>
                <a:ea typeface="+mn-ea"/>
              </a:rPr>
              <a:t>影像查看</a:t>
            </a:r>
          </a:p>
        </p:txBody>
      </p:sp>
    </p:spTree>
    <p:extLst>
      <p:ext uri="{BB962C8B-B14F-4D97-AF65-F5344CB8AC3E}">
        <p14:creationId xmlns:p14="http://schemas.microsoft.com/office/powerpoint/2010/main" val="86650670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5CD33-8152-15DF-971D-650222799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5D0CA9B-7BB8-CF02-9CC8-CCCCDAFD4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第五章</a:t>
            </a:r>
            <a:r>
              <a:rPr lang="en-US" altLang="zh-CN" dirty="0"/>
              <a:t>-</a:t>
            </a:r>
            <a:r>
              <a:rPr lang="zh-CN" altLang="en-US" dirty="0"/>
              <a:t>云端遥感数据处理程序设计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3" name="矩形 4">
            <a:extLst>
              <a:ext uri="{FF2B5EF4-FFF2-40B4-BE49-F238E27FC236}">
                <a16:creationId xmlns:a16="http://schemas.microsoft.com/office/drawing/2014/main" id="{FCC2B992-19D6-E2CC-6047-C4D7DEFF1119}"/>
              </a:ext>
            </a:extLst>
          </p:cNvPr>
          <p:cNvSpPr/>
          <p:nvPr/>
        </p:nvSpPr>
        <p:spPr>
          <a:xfrm>
            <a:off x="410817" y="888897"/>
            <a:ext cx="11071030" cy="565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0253F"/>
              </a:buClr>
              <a:buSzPct val="75000"/>
              <a:defRPr/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GEE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云端</a:t>
            </a:r>
            <a:r>
              <a:rPr lang="zh-CN" altLang="en-CN" sz="2800" b="1" dirty="0">
                <a:solidFill>
                  <a:srgbClr val="333333"/>
                </a:solidFill>
                <a:latin typeface="+mn-ea"/>
                <a:ea typeface="+mn-ea"/>
              </a:rPr>
              <a:t>数据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获取编程实践：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获取滇池区域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sentinel-2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数据为例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1CB9C1-CFE7-4D9A-B8DE-2A5C9E49D44A}"/>
              </a:ext>
            </a:extLst>
          </p:cNvPr>
          <p:cNvSpPr txBox="1"/>
          <p:nvPr/>
        </p:nvSpPr>
        <p:spPr>
          <a:xfrm>
            <a:off x="2417624" y="2627512"/>
            <a:ext cx="1664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800" b="1" dirty="0">
                <a:solidFill>
                  <a:srgbClr val="0000CC"/>
                </a:solidFill>
                <a:latin typeface="+mn-ea"/>
                <a:ea typeface="+mn-ea"/>
              </a:rPr>
              <a:t>参数设置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1F1A7C-CB42-D603-4778-02961936F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251" y="1998481"/>
            <a:ext cx="7257851" cy="22638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AF3BC76-AC67-E31E-EAFD-D01428510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251" y="4830708"/>
            <a:ext cx="7257851" cy="1027819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B6C8DB-A2D5-D648-D405-E677B1E6A456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 bwMode="auto">
          <a:xfrm flipV="1">
            <a:off x="3469064" y="3130401"/>
            <a:ext cx="915187" cy="296243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4C43A89-EB91-588F-3FB0-16E44A2C2005}"/>
              </a:ext>
            </a:extLst>
          </p:cNvPr>
          <p:cNvCxnSpPr>
            <a:cxnSpLocks/>
            <a:stCxn id="7" idx="3"/>
            <a:endCxn id="15" idx="1"/>
          </p:cNvCxnSpPr>
          <p:nvPr/>
        </p:nvCxnSpPr>
        <p:spPr bwMode="auto">
          <a:xfrm>
            <a:off x="3469063" y="4551757"/>
            <a:ext cx="915188" cy="792861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4553A6-6025-351E-88C6-310A0267E0C8}"/>
              </a:ext>
            </a:extLst>
          </p:cNvPr>
          <p:cNvGrpSpPr/>
          <p:nvPr/>
        </p:nvGrpSpPr>
        <p:grpSpPr>
          <a:xfrm>
            <a:off x="810704" y="1809945"/>
            <a:ext cx="3115953" cy="4328840"/>
            <a:chOff x="810704" y="1809945"/>
            <a:chExt cx="3115953" cy="4328840"/>
          </a:xfrm>
        </p:grpSpPr>
        <p:sp>
          <p:nvSpPr>
            <p:cNvPr id="10" name="Down Arrow 9">
              <a:extLst>
                <a:ext uri="{FF2B5EF4-FFF2-40B4-BE49-F238E27FC236}">
                  <a16:creationId xmlns:a16="http://schemas.microsoft.com/office/drawing/2014/main" id="{E42E134F-AF42-BF09-BD86-0D4C0A8D1905}"/>
                </a:ext>
              </a:extLst>
            </p:cNvPr>
            <p:cNvSpPr/>
            <p:nvPr/>
          </p:nvSpPr>
          <p:spPr>
            <a:xfrm>
              <a:off x="1993767" y="2601796"/>
              <a:ext cx="292231" cy="2745138"/>
            </a:xfrm>
            <a:prstGeom prst="downArrow">
              <a:avLst/>
            </a:prstGeom>
            <a:solidFill>
              <a:schemeClr val="bg2">
                <a:lumMod val="85000"/>
                <a:lumOff val="15000"/>
              </a:schemeClr>
            </a:solidFill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DE0C8A4-9734-4649-7F50-A5DB0B555DD4}"/>
                </a:ext>
              </a:extLst>
            </p:cNvPr>
            <p:cNvSpPr/>
            <p:nvPr/>
          </p:nvSpPr>
          <p:spPr>
            <a:xfrm>
              <a:off x="810704" y="1809945"/>
              <a:ext cx="2658359" cy="791851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accent1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en-CN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GEE账号登陆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BF4F5E8-AB68-EB40-FA84-4208830F0CAA}"/>
                </a:ext>
              </a:extLst>
            </p:cNvPr>
            <p:cNvSpPr/>
            <p:nvPr/>
          </p:nvSpPr>
          <p:spPr>
            <a:xfrm>
              <a:off x="810705" y="3030718"/>
              <a:ext cx="2658359" cy="791851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accent1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en-CN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数据搜集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2B0F68D-BC51-E9C1-6267-2E25E9B2CB4F}"/>
                </a:ext>
              </a:extLst>
            </p:cNvPr>
            <p:cNvSpPr/>
            <p:nvPr/>
          </p:nvSpPr>
          <p:spPr>
            <a:xfrm>
              <a:off x="810704" y="5346934"/>
              <a:ext cx="2658359" cy="791851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accent1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en-CN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数据下载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53BACB9-0C29-A7D2-6F5C-216CF1FB811E}"/>
                </a:ext>
              </a:extLst>
            </p:cNvPr>
            <p:cNvSpPr/>
            <p:nvPr/>
          </p:nvSpPr>
          <p:spPr>
            <a:xfrm>
              <a:off x="810704" y="4155831"/>
              <a:ext cx="2658359" cy="791851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accent1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en-CN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数据选取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DDB94E1-1041-F57B-1D17-CEE5860602EB}"/>
                </a:ext>
              </a:extLst>
            </p:cNvPr>
            <p:cNvSpPr txBox="1"/>
            <p:nvPr/>
          </p:nvSpPr>
          <p:spPr>
            <a:xfrm>
              <a:off x="2262475" y="4975685"/>
              <a:ext cx="16641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1800" b="1" dirty="0">
                  <a:solidFill>
                    <a:srgbClr val="0000CC"/>
                  </a:solidFill>
                  <a:latin typeface="+mn-ea"/>
                  <a:ea typeface="+mn-ea"/>
                </a:rPr>
                <a:t>影像查看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09380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322E1-0F62-E197-903A-DB2E4CB7E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F96CACE-6A7F-4A14-401F-5D9A05C1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第五章</a:t>
            </a:r>
            <a:r>
              <a:rPr lang="en-US" altLang="zh-CN" dirty="0"/>
              <a:t>-</a:t>
            </a:r>
            <a:r>
              <a:rPr lang="zh-CN" altLang="en-US" dirty="0"/>
              <a:t>云端遥感数据处理程序设计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3" name="矩形 4">
            <a:extLst>
              <a:ext uri="{FF2B5EF4-FFF2-40B4-BE49-F238E27FC236}">
                <a16:creationId xmlns:a16="http://schemas.microsoft.com/office/drawing/2014/main" id="{0DB8E2B8-F393-358E-AE3F-CC176F9959B7}"/>
              </a:ext>
            </a:extLst>
          </p:cNvPr>
          <p:cNvSpPr/>
          <p:nvPr/>
        </p:nvSpPr>
        <p:spPr>
          <a:xfrm>
            <a:off x="410817" y="888897"/>
            <a:ext cx="3679269" cy="565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0253F"/>
              </a:buClr>
              <a:buSzPct val="75000"/>
              <a:defRPr/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GEE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平台</a:t>
            </a:r>
            <a:r>
              <a:rPr lang="zh-CN" altLang="en-CN" sz="2800" b="1" dirty="0">
                <a:solidFill>
                  <a:srgbClr val="333333"/>
                </a:solidFill>
                <a:latin typeface="+mn-ea"/>
                <a:ea typeface="+mn-ea"/>
              </a:rPr>
              <a:t>数据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获取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5BEC22E-2ED5-CA87-C3FC-91371156B8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21" t="12989" r="22019" b="2740"/>
          <a:stretch>
            <a:fillRect/>
          </a:stretch>
        </p:blipFill>
        <p:spPr>
          <a:xfrm>
            <a:off x="4579585" y="2601796"/>
            <a:ext cx="5882597" cy="41227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E51221B-C35E-94C3-1119-D2B730368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607" y="1123801"/>
            <a:ext cx="7469525" cy="137228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2AF1ACE-6297-FC99-40BE-7BA40F9C57E6}"/>
              </a:ext>
            </a:extLst>
          </p:cNvPr>
          <p:cNvGrpSpPr/>
          <p:nvPr/>
        </p:nvGrpSpPr>
        <p:grpSpPr>
          <a:xfrm>
            <a:off x="810704" y="1809945"/>
            <a:ext cx="3115953" cy="4328840"/>
            <a:chOff x="810704" y="1809945"/>
            <a:chExt cx="3115953" cy="4328840"/>
          </a:xfrm>
        </p:grpSpPr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0C461154-51D5-C78E-FFEC-18066A141892}"/>
                </a:ext>
              </a:extLst>
            </p:cNvPr>
            <p:cNvSpPr/>
            <p:nvPr/>
          </p:nvSpPr>
          <p:spPr>
            <a:xfrm>
              <a:off x="1993767" y="2601796"/>
              <a:ext cx="292231" cy="2745138"/>
            </a:xfrm>
            <a:prstGeom prst="downArrow">
              <a:avLst/>
            </a:prstGeom>
            <a:solidFill>
              <a:schemeClr val="bg2">
                <a:lumMod val="85000"/>
                <a:lumOff val="15000"/>
              </a:schemeClr>
            </a:solidFill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D14C3C8-1873-3DA9-3052-B2BCF3F96F31}"/>
                </a:ext>
              </a:extLst>
            </p:cNvPr>
            <p:cNvSpPr/>
            <p:nvPr/>
          </p:nvSpPr>
          <p:spPr>
            <a:xfrm>
              <a:off x="810704" y="1809945"/>
              <a:ext cx="2658359" cy="791851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accent1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en-CN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GEE账号登陆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4318F29-C92B-EE75-D75E-CE7CC1E3B8CC}"/>
                </a:ext>
              </a:extLst>
            </p:cNvPr>
            <p:cNvSpPr/>
            <p:nvPr/>
          </p:nvSpPr>
          <p:spPr>
            <a:xfrm>
              <a:off x="810705" y="3030718"/>
              <a:ext cx="2658359" cy="791851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accent1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en-CN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数据搜集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52BFF18-CD34-9EAE-7B20-E797D48122BC}"/>
                </a:ext>
              </a:extLst>
            </p:cNvPr>
            <p:cNvSpPr/>
            <p:nvPr/>
          </p:nvSpPr>
          <p:spPr>
            <a:xfrm>
              <a:off x="810704" y="5346934"/>
              <a:ext cx="2658359" cy="791851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accent1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en-CN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数据下载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09690CA-C44D-5D9F-15EE-03F8C6F3DDD5}"/>
                </a:ext>
              </a:extLst>
            </p:cNvPr>
            <p:cNvSpPr/>
            <p:nvPr/>
          </p:nvSpPr>
          <p:spPr>
            <a:xfrm>
              <a:off x="810704" y="4155831"/>
              <a:ext cx="2658359" cy="791851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accent1"/>
              </a:solidFill>
            </a:ln>
          </p:spPr>
          <p:txBody>
            <a:bodyPr wrap="square" lIns="0" rtlCol="0" anchor="ctr">
              <a:noAutofit/>
            </a:bodyPr>
            <a:lstStyle/>
            <a:p>
              <a:r>
                <a:rPr lang="en-CN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数据选取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93387F5-5B74-D141-9CC9-B3908F1B7297}"/>
                </a:ext>
              </a:extLst>
            </p:cNvPr>
            <p:cNvSpPr txBox="1"/>
            <p:nvPr/>
          </p:nvSpPr>
          <p:spPr>
            <a:xfrm>
              <a:off x="2262475" y="4975685"/>
              <a:ext cx="16641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1800" b="1" dirty="0">
                  <a:solidFill>
                    <a:srgbClr val="0000CC"/>
                  </a:solidFill>
                  <a:latin typeface="+mn-ea"/>
                  <a:ea typeface="+mn-ea"/>
                </a:rPr>
                <a:t>影像查看</a:t>
              </a: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D25AE9D-FA63-14D7-0E35-FC9B202D2194}"/>
              </a:ext>
            </a:extLst>
          </p:cNvPr>
          <p:cNvCxnSpPr>
            <a:cxnSpLocks/>
            <a:endCxn id="15" idx="1"/>
          </p:cNvCxnSpPr>
          <p:nvPr/>
        </p:nvCxnSpPr>
        <p:spPr bwMode="auto">
          <a:xfrm flipV="1">
            <a:off x="3572758" y="1809945"/>
            <a:ext cx="1002849" cy="3284740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FAD64D3-A15E-6B8C-402B-0322D497DDB9}"/>
              </a:ext>
            </a:extLst>
          </p:cNvPr>
          <p:cNvCxnSpPr>
            <a:cxnSpLocks/>
          </p:cNvCxnSpPr>
          <p:nvPr/>
        </p:nvCxnSpPr>
        <p:spPr bwMode="auto">
          <a:xfrm>
            <a:off x="3572758" y="5269584"/>
            <a:ext cx="738900" cy="1454980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81758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6FD35-F32E-10A7-22F1-CBE0C0158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9">
            <a:extLst>
              <a:ext uri="{FF2B5EF4-FFF2-40B4-BE49-F238E27FC236}">
                <a16:creationId xmlns:a16="http://schemas.microsoft.com/office/drawing/2014/main" id="{4791D8BE-A8B7-2FB0-E34E-284817C721B4}"/>
              </a:ext>
            </a:extLst>
          </p:cNvPr>
          <p:cNvSpPr/>
          <p:nvPr/>
        </p:nvSpPr>
        <p:spPr>
          <a:xfrm>
            <a:off x="1993767" y="2391342"/>
            <a:ext cx="292231" cy="2745138"/>
          </a:xfrm>
          <a:prstGeom prst="downArrow">
            <a:avLst/>
          </a:prstGeom>
          <a:solidFill>
            <a:schemeClr val="bg2">
              <a:lumMod val="85000"/>
              <a:lumOff val="15000"/>
            </a:schemeClr>
          </a:solidFill>
        </p:spPr>
        <p:txBody>
          <a:bodyPr wrap="square" lIns="0" rtlCol="0" anchor="ctr">
            <a:noAutofit/>
          </a:bodyPr>
          <a:lstStyle/>
          <a:p>
            <a:pPr algn="l"/>
            <a:endParaRPr lang="en-CN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3E7BD42-0A55-742F-BBAD-591C86866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第五章</a:t>
            </a:r>
            <a:r>
              <a:rPr lang="en-US" altLang="zh-CN" dirty="0"/>
              <a:t>-</a:t>
            </a:r>
            <a:r>
              <a:rPr lang="zh-CN" altLang="en-US" dirty="0"/>
              <a:t>云端遥感数据处理程序设计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3" name="矩形 4">
            <a:extLst>
              <a:ext uri="{FF2B5EF4-FFF2-40B4-BE49-F238E27FC236}">
                <a16:creationId xmlns:a16="http://schemas.microsoft.com/office/drawing/2014/main" id="{C09AC6DC-152F-40E9-1D46-EC803B3C7598}"/>
              </a:ext>
            </a:extLst>
          </p:cNvPr>
          <p:cNvSpPr/>
          <p:nvPr/>
        </p:nvSpPr>
        <p:spPr>
          <a:xfrm>
            <a:off x="410817" y="944700"/>
            <a:ext cx="11071030" cy="565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0253F"/>
              </a:buClr>
              <a:buSzPct val="75000"/>
              <a:defRPr/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GEE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云端</a:t>
            </a:r>
            <a:r>
              <a:rPr lang="zh-CN" altLang="en-CN" sz="2800" b="1" dirty="0">
                <a:solidFill>
                  <a:srgbClr val="333333"/>
                </a:solidFill>
                <a:latin typeface="+mn-ea"/>
                <a:ea typeface="+mn-ea"/>
              </a:rPr>
              <a:t>数据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获取编程实践：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获取滇池区域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sentinel-2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数据为例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222E68-FCA0-0A56-6AEA-57247A4CD8B0}"/>
              </a:ext>
            </a:extLst>
          </p:cNvPr>
          <p:cNvSpPr/>
          <p:nvPr/>
        </p:nvSpPr>
        <p:spPr>
          <a:xfrm>
            <a:off x="810704" y="1599491"/>
            <a:ext cx="2658359" cy="791851"/>
          </a:xfrm>
          <a:prstGeom prst="rect">
            <a:avLst/>
          </a:prstGeom>
          <a:solidFill>
            <a:schemeClr val="tx1"/>
          </a:solidFill>
          <a:ln w="28575">
            <a:solidFill>
              <a:schemeClr val="accent1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GEE账号登陆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CD90CA-8FED-ECC4-F83A-7D1A0FC1528B}"/>
              </a:ext>
            </a:extLst>
          </p:cNvPr>
          <p:cNvSpPr/>
          <p:nvPr/>
        </p:nvSpPr>
        <p:spPr>
          <a:xfrm>
            <a:off x="810705" y="2820264"/>
            <a:ext cx="2658359" cy="791851"/>
          </a:xfrm>
          <a:prstGeom prst="rect">
            <a:avLst/>
          </a:prstGeom>
          <a:solidFill>
            <a:schemeClr val="tx1"/>
          </a:solidFill>
          <a:ln w="28575">
            <a:solidFill>
              <a:schemeClr val="accent1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数据搜集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25836B-0A46-617A-C8CF-DC47066ECF38}"/>
              </a:ext>
            </a:extLst>
          </p:cNvPr>
          <p:cNvSpPr/>
          <p:nvPr/>
        </p:nvSpPr>
        <p:spPr>
          <a:xfrm>
            <a:off x="810704" y="5136480"/>
            <a:ext cx="2658359" cy="791851"/>
          </a:xfrm>
          <a:prstGeom prst="rect">
            <a:avLst/>
          </a:prstGeom>
          <a:solidFill>
            <a:schemeClr val="tx1"/>
          </a:solidFill>
          <a:ln w="28575">
            <a:solidFill>
              <a:schemeClr val="accent1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数据下载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4BFBB6-178F-8C23-0201-21D135DE2308}"/>
              </a:ext>
            </a:extLst>
          </p:cNvPr>
          <p:cNvSpPr/>
          <p:nvPr/>
        </p:nvSpPr>
        <p:spPr>
          <a:xfrm>
            <a:off x="810704" y="3945377"/>
            <a:ext cx="2658359" cy="791851"/>
          </a:xfrm>
          <a:prstGeom prst="rect">
            <a:avLst/>
          </a:prstGeom>
          <a:solidFill>
            <a:schemeClr val="tx1"/>
          </a:solidFill>
          <a:ln w="28575">
            <a:solidFill>
              <a:schemeClr val="accent1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数据选取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BDDB44-B6C4-B279-6BD9-DD1CB7650471}"/>
              </a:ext>
            </a:extLst>
          </p:cNvPr>
          <p:cNvSpPr txBox="1"/>
          <p:nvPr/>
        </p:nvSpPr>
        <p:spPr>
          <a:xfrm>
            <a:off x="2417624" y="2417058"/>
            <a:ext cx="1664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800" b="1" dirty="0">
                <a:solidFill>
                  <a:srgbClr val="0000CC"/>
                </a:solidFill>
                <a:latin typeface="+mn-ea"/>
                <a:ea typeface="+mn-ea"/>
              </a:rPr>
              <a:t>参数设置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05B888-4FE5-C531-B168-CB4050D3F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147" y="2445480"/>
            <a:ext cx="5949424" cy="2999794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EB1658E-6292-BBAE-F537-6343839B6061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 bwMode="auto">
          <a:xfrm flipV="1">
            <a:off x="3469063" y="3945377"/>
            <a:ext cx="1476084" cy="1587029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E9D98932-EC40-6B97-B159-590A4BE4F0B4}"/>
              </a:ext>
            </a:extLst>
          </p:cNvPr>
          <p:cNvSpPr txBox="1"/>
          <p:nvPr/>
        </p:nvSpPr>
        <p:spPr>
          <a:xfrm>
            <a:off x="348343" y="6149682"/>
            <a:ext cx="114953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代码链接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：https://github.com/xinluo2018/remote-sensing-data-processing</a:t>
            </a:r>
          </a:p>
        </p:txBody>
      </p:sp>
    </p:spTree>
    <p:extLst>
      <p:ext uri="{BB962C8B-B14F-4D97-AF65-F5344CB8AC3E}">
        <p14:creationId xmlns:p14="http://schemas.microsoft.com/office/powerpoint/2010/main" val="298876045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D3E93-64A0-A09F-65BA-61F2C42D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AAA7F11-4523-46A3-E0DA-278AD54E2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第五章</a:t>
            </a:r>
            <a:r>
              <a:rPr lang="en-US" altLang="zh-CN" dirty="0"/>
              <a:t>-</a:t>
            </a:r>
            <a:r>
              <a:rPr lang="zh-CN" altLang="en-US" dirty="0"/>
              <a:t>云端遥感数据处理程序设计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3" name="矩形 4">
            <a:extLst>
              <a:ext uri="{FF2B5EF4-FFF2-40B4-BE49-F238E27FC236}">
                <a16:creationId xmlns:a16="http://schemas.microsoft.com/office/drawing/2014/main" id="{33050628-0DAC-C347-A0C5-BEE774429967}"/>
              </a:ext>
            </a:extLst>
          </p:cNvPr>
          <p:cNvSpPr/>
          <p:nvPr/>
        </p:nvSpPr>
        <p:spPr>
          <a:xfrm>
            <a:off x="450273" y="944700"/>
            <a:ext cx="10861963" cy="4129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0253F"/>
              </a:buClr>
              <a:buSzPct val="75000"/>
              <a:defRPr/>
            </a:pPr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课堂练习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：高原湖泊遥感影像云端数据获取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0253F"/>
              </a:buClr>
              <a:buSzPct val="75000"/>
              <a:defRPr/>
            </a:pPr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实验要求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marL="51435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0253F"/>
              </a:buClr>
              <a:buSzPct val="75000"/>
              <a:buAutoNum type="arabicPeriod"/>
              <a:defRPr/>
            </a:pPr>
            <a:r>
              <a:rPr lang="zh-CN" altLang="en-US" sz="3200" dirty="0">
                <a:solidFill>
                  <a:srgbClr val="333333"/>
                </a:solidFill>
                <a:latin typeface="+mn-ea"/>
                <a:ea typeface="+mn-ea"/>
              </a:rPr>
              <a:t>云端检索并筛选</a:t>
            </a:r>
            <a:r>
              <a:rPr lang="en-US" altLang="zh-CN" sz="3200" dirty="0">
                <a:solidFill>
                  <a:srgbClr val="333333"/>
                </a:solidFill>
                <a:latin typeface="+mn-ea"/>
                <a:ea typeface="+mn-ea"/>
              </a:rPr>
              <a:t>Landsat/Sentinel-2</a:t>
            </a:r>
            <a:r>
              <a:rPr lang="zh-CN" altLang="en-US" sz="3200" dirty="0">
                <a:solidFill>
                  <a:srgbClr val="333333"/>
                </a:solidFill>
                <a:latin typeface="+mn-ea"/>
                <a:ea typeface="+mn-ea"/>
              </a:rPr>
              <a:t>遥感影像一幅。</a:t>
            </a:r>
            <a:endParaRPr lang="en-US" altLang="zh-CN" sz="3200" dirty="0">
              <a:solidFill>
                <a:srgbClr val="333333"/>
              </a:solidFill>
              <a:latin typeface="+mn-ea"/>
              <a:ea typeface="+mn-ea"/>
            </a:endParaRPr>
          </a:p>
          <a:p>
            <a:pPr marL="51435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0253F"/>
              </a:buClr>
              <a:buSzPct val="75000"/>
              <a:buAutoNum type="arabicPeriod"/>
              <a:defRPr/>
            </a:pPr>
            <a:r>
              <a:rPr lang="zh-CN" altLang="en-US" sz="3200" dirty="0">
                <a:solidFill>
                  <a:srgbClr val="333333"/>
                </a:solidFill>
                <a:latin typeface="+mn-ea"/>
                <a:ea typeface="+mn-ea"/>
              </a:rPr>
              <a:t>以任意云南高原湖泊为影像下载区域，并下载影像到本地。</a:t>
            </a:r>
            <a:endParaRPr lang="en-US" altLang="zh-CN" sz="32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76112774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417</TotalTime>
  <Words>861</Words>
  <Application>Microsoft Office PowerPoint</Application>
  <PresentationFormat>宽屏</PresentationFormat>
  <Paragraphs>94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黑体</vt:lpstr>
      <vt:lpstr>微软雅黑</vt:lpstr>
      <vt:lpstr>Arial</vt:lpstr>
      <vt:lpstr>Calibri</vt:lpstr>
      <vt:lpstr>Times New Roman</vt:lpstr>
      <vt:lpstr>Wingdings</vt:lpstr>
      <vt:lpstr>2_Global</vt:lpstr>
      <vt:lpstr>1_Copyright (c) 2007-2010 NordriDesign™ _light</vt:lpstr>
      <vt:lpstr>PowerPoint 演示文稿</vt:lpstr>
      <vt:lpstr>PowerPoint 演示文稿</vt:lpstr>
      <vt:lpstr>PowerPoint 演示文稿</vt:lpstr>
      <vt:lpstr>遥感数据处理程序设计</vt:lpstr>
      <vt:lpstr>第五章-云端遥感数据处理程序设计</vt:lpstr>
      <vt:lpstr>第五章-云端遥感数据处理程序设计</vt:lpstr>
      <vt:lpstr>第五章-云端遥感数据处理程序设计</vt:lpstr>
      <vt:lpstr>第五章-云端遥感数据处理程序设计</vt:lpstr>
      <vt:lpstr>PowerPoint 演示文稿</vt:lpstr>
      <vt:lpstr>第五章-云端遥感数据处理程序设计</vt:lpstr>
      <vt:lpstr>第五章-云端遥感数据处理程序设计</vt:lpstr>
      <vt:lpstr>第五章-云端遥感数据处理程序设计</vt:lpstr>
      <vt:lpstr>第五章-云端遥感数据处理程序设计</vt:lpstr>
      <vt:lpstr>第五章-云端遥感数据处理程序设计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1327 ynu</cp:lastModifiedBy>
  <cp:revision>14</cp:revision>
  <cp:lastPrinted>2023-07-05T05:52:54Z</cp:lastPrinted>
  <dcterms:created xsi:type="dcterms:W3CDTF">2004-07-09T11:40:27Z</dcterms:created>
  <dcterms:modified xsi:type="dcterms:W3CDTF">2026-10-10T09:40:25Z</dcterms:modified>
</cp:coreProperties>
</file>