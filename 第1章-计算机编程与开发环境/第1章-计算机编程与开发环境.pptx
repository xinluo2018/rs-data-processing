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9"/>
  </p:notesMasterIdLst>
  <p:handoutMasterIdLst>
    <p:handoutMasterId r:id="rId40"/>
  </p:handoutMasterIdLst>
  <p:sldIdLst>
    <p:sldId id="2763" r:id="rId3"/>
    <p:sldId id="2736" r:id="rId4"/>
    <p:sldId id="2731" r:id="rId5"/>
    <p:sldId id="2778" r:id="rId6"/>
    <p:sldId id="2707" r:id="rId7"/>
    <p:sldId id="2796" r:id="rId8"/>
    <p:sldId id="2708" r:id="rId9"/>
    <p:sldId id="2387" r:id="rId10"/>
    <p:sldId id="2447" r:id="rId11"/>
    <p:sldId id="2781" r:id="rId12"/>
    <p:sldId id="2783" r:id="rId13"/>
    <p:sldId id="2795" r:id="rId14"/>
    <p:sldId id="2788" r:id="rId15"/>
    <p:sldId id="2794" r:id="rId16"/>
    <p:sldId id="2709" r:id="rId17"/>
    <p:sldId id="2605" r:id="rId18"/>
    <p:sldId id="2724" r:id="rId19"/>
    <p:sldId id="2790" r:id="rId20"/>
    <p:sldId id="2762" r:id="rId21"/>
    <p:sldId id="2720" r:id="rId22"/>
    <p:sldId id="2721" r:id="rId23"/>
    <p:sldId id="2716" r:id="rId24"/>
    <p:sldId id="2757" r:id="rId25"/>
    <p:sldId id="2756" r:id="rId26"/>
    <p:sldId id="2740" r:id="rId27"/>
    <p:sldId id="2745" r:id="rId28"/>
    <p:sldId id="2758" r:id="rId29"/>
    <p:sldId id="2744" r:id="rId30"/>
    <p:sldId id="2746" r:id="rId31"/>
    <p:sldId id="2792" r:id="rId32"/>
    <p:sldId id="2747" r:id="rId33"/>
    <p:sldId id="2748" r:id="rId34"/>
    <p:sldId id="2750" r:id="rId35"/>
    <p:sldId id="2741" r:id="rId36"/>
    <p:sldId id="2793" r:id="rId37"/>
    <p:sldId id="2742" r:id="rId38"/>
  </p:sldIdLst>
  <p:sldSz cx="12192000" cy="6858000"/>
  <p:notesSz cx="7099300" cy="10234613"/>
  <p:custDataLst>
    <p:tags r:id="rId41"/>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333399"/>
    <a:srgbClr val="AEE8CC"/>
    <a:srgbClr val="FFBFBF"/>
    <a:srgbClr val="7A81FF"/>
    <a:srgbClr val="00B050"/>
    <a:srgbClr val="FFC000"/>
    <a:srgbClr val="C3E8CC"/>
    <a:srgbClr val="FF00DF"/>
    <a:srgbClr val="FF00FF"/>
    <a:srgbClr val="269F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AE34E0-515C-1648-BD00-62AB8B084F41}" v="7" dt="2026-08-31T10:29:31.74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48"/>
    <p:restoredTop sz="88548" autoAdjust="0"/>
  </p:normalViewPr>
  <p:slideViewPr>
    <p:cSldViewPr snapToGrid="0">
      <p:cViewPr varScale="1">
        <p:scale>
          <a:sx n="70" d="100"/>
          <a:sy n="70" d="100"/>
        </p:scale>
        <p:origin x="57" y="60"/>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notesTextViewPr>
    <p:cViewPr>
      <p:scale>
        <a:sx n="155" d="100"/>
        <a:sy n="15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47"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handoutMaster" Target="handoutMasters/handout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4B16E866-FFF1-585A-8670-68209B92BFC1}"/>
    <pc:docChg chg="modSld">
      <pc:chgData name="Xin Luo" userId="82312ee5779919a4" providerId="LiveId" clId="{4B16E866-FFF1-585A-8670-68209B92BFC1}" dt="2026-08-27T04:53:47.420" v="82" actId="1035"/>
      <pc:docMkLst>
        <pc:docMk/>
      </pc:docMkLst>
      <pc:sldChg chg="modSp mod">
        <pc:chgData name="Xin Luo" userId="82312ee5779919a4" providerId="LiveId" clId="{4B16E866-FFF1-585A-8670-68209B92BFC1}" dt="2026-08-27T04:53:47.420" v="82" actId="1035"/>
        <pc:sldMkLst>
          <pc:docMk/>
          <pc:sldMk cId="1602808061" sldId="2707"/>
        </pc:sldMkLst>
        <pc:graphicFrameChg chg="mod modGraphic">
          <ac:chgData name="Xin Luo" userId="82312ee5779919a4" providerId="LiveId" clId="{4B16E866-FFF1-585A-8670-68209B92BFC1}" dt="2026-08-27T04:53:47.420" v="82" actId="1035"/>
          <ac:graphicFrameMkLst>
            <pc:docMk/>
            <pc:sldMk cId="1602808061" sldId="2707"/>
            <ac:graphicFrameMk id="4" creationId="{CD59FCAC-1DA4-74BE-FCAF-D57ABF2F5B57}"/>
          </ac:graphicFrameMkLst>
        </pc:graphicFrameChg>
      </pc:sldChg>
      <pc:sldChg chg="modSp mod">
        <pc:chgData name="Xin Luo" userId="82312ee5779919a4" providerId="LiveId" clId="{4B16E866-FFF1-585A-8670-68209B92BFC1}" dt="2026-08-27T03:32:53.295" v="22" actId="14100"/>
        <pc:sldMkLst>
          <pc:docMk/>
          <pc:sldMk cId="3411125272" sldId="2778"/>
        </pc:sldMkLst>
        <pc:graphicFrameChg chg="mod modGraphic">
          <ac:chgData name="Xin Luo" userId="82312ee5779919a4" providerId="LiveId" clId="{4B16E866-FFF1-585A-8670-68209B92BFC1}" dt="2026-08-27T03:32:35.599" v="17" actId="14100"/>
          <ac:graphicFrameMkLst>
            <pc:docMk/>
            <pc:sldMk cId="3411125272" sldId="2778"/>
            <ac:graphicFrameMk id="2" creationId="{F9B972E6-0DD6-CD43-EA1B-D4138981CE56}"/>
          </ac:graphicFrameMkLst>
        </pc:graphicFrameChg>
        <pc:cxnChg chg="mod">
          <ac:chgData name="Xin Luo" userId="82312ee5779919a4" providerId="LiveId" clId="{4B16E866-FFF1-585A-8670-68209B92BFC1}" dt="2026-08-27T03:32:50.629" v="21" actId="14100"/>
          <ac:cxnSpMkLst>
            <pc:docMk/>
            <pc:sldMk cId="3411125272" sldId="2778"/>
            <ac:cxnSpMk id="9" creationId="{61FE32FD-85BF-3416-7A3E-1F786B0E4F08}"/>
          </ac:cxnSpMkLst>
        </pc:cxnChg>
        <pc:cxnChg chg="mod">
          <ac:chgData name="Xin Luo" userId="82312ee5779919a4" providerId="LiveId" clId="{4B16E866-FFF1-585A-8670-68209B92BFC1}" dt="2026-08-27T03:32:45.981" v="20" actId="14100"/>
          <ac:cxnSpMkLst>
            <pc:docMk/>
            <pc:sldMk cId="3411125272" sldId="2778"/>
            <ac:cxnSpMk id="12" creationId="{E7B27204-E405-C893-F50C-724423627215}"/>
          </ac:cxnSpMkLst>
        </pc:cxnChg>
      </pc:sldChg>
    </pc:docChg>
  </pc:docChgLst>
  <pc:docChgLst>
    <pc:chgData name="Xin Luo" userId="82312ee5779919a4" providerId="LiveId" clId="{D1C76DA8-6A23-54AC-AD0D-AC8E743EAA8D}"/>
    <pc:docChg chg="undo custSel addSld delSld modSld">
      <pc:chgData name="Xin Luo" userId="82312ee5779919a4" providerId="LiveId" clId="{D1C76DA8-6A23-54AC-AD0D-AC8E743EAA8D}" dt="2026-09-02T06:20:38.238" v="1052" actId="2696"/>
      <pc:docMkLst>
        <pc:docMk/>
      </pc:docMkLst>
      <pc:sldChg chg="modSp mod">
        <pc:chgData name="Xin Luo" userId="82312ee5779919a4" providerId="LiveId" clId="{D1C76DA8-6A23-54AC-AD0D-AC8E743EAA8D}" dt="2026-09-02T06:00:13.077" v="1022" actId="403"/>
        <pc:sldMkLst>
          <pc:docMk/>
          <pc:sldMk cId="4067577602" sldId="2605"/>
        </pc:sldMkLst>
        <pc:spChg chg="mod">
          <ac:chgData name="Xin Luo" userId="82312ee5779919a4" providerId="LiveId" clId="{D1C76DA8-6A23-54AC-AD0D-AC8E743EAA8D}" dt="2026-09-02T06:00:13.077" v="1022" actId="403"/>
          <ac:spMkLst>
            <pc:docMk/>
            <pc:sldMk cId="4067577602" sldId="2605"/>
            <ac:spMk id="5" creationId="{78502774-B04C-634F-1396-E5815996BC36}"/>
          </ac:spMkLst>
        </pc:spChg>
      </pc:sldChg>
      <pc:sldChg chg="addSp modSp mod">
        <pc:chgData name="Xin Luo" userId="82312ee5779919a4" providerId="LiveId" clId="{D1C76DA8-6A23-54AC-AD0D-AC8E743EAA8D}" dt="2026-08-31T10:29:51.900" v="689" actId="14100"/>
        <pc:sldMkLst>
          <pc:docMk/>
          <pc:sldMk cId="1602808061" sldId="2707"/>
        </pc:sldMkLst>
        <pc:spChg chg="add mod">
          <ac:chgData name="Xin Luo" userId="82312ee5779919a4" providerId="LiveId" clId="{D1C76DA8-6A23-54AC-AD0D-AC8E743EAA8D}" dt="2026-08-31T10:29:51.900" v="689" actId="14100"/>
          <ac:spMkLst>
            <pc:docMk/>
            <pc:sldMk cId="1602808061" sldId="2707"/>
            <ac:spMk id="2" creationId="{42628F35-993A-5511-DFF0-EC16AD2DD56F}"/>
          </ac:spMkLst>
        </pc:spChg>
        <pc:spChg chg="mod">
          <ac:chgData name="Xin Luo" userId="82312ee5779919a4" providerId="LiveId" clId="{D1C76DA8-6A23-54AC-AD0D-AC8E743EAA8D}" dt="2026-08-31T10:29:16.085" v="660" actId="1035"/>
          <ac:spMkLst>
            <pc:docMk/>
            <pc:sldMk cId="1602808061" sldId="2707"/>
            <ac:spMk id="6" creationId="{C327131E-B49C-7E40-81DE-8E289A5DC36B}"/>
          </ac:spMkLst>
        </pc:spChg>
        <pc:graphicFrameChg chg="mod modGraphic">
          <ac:chgData name="Xin Luo" userId="82312ee5779919a4" providerId="LiveId" clId="{D1C76DA8-6A23-54AC-AD0D-AC8E743EAA8D}" dt="2026-08-31T10:29:25.577" v="665" actId="14100"/>
          <ac:graphicFrameMkLst>
            <pc:docMk/>
            <pc:sldMk cId="1602808061" sldId="2707"/>
            <ac:graphicFrameMk id="4" creationId="{CD59FCAC-1DA4-74BE-FCAF-D57ABF2F5B57}"/>
          </ac:graphicFrameMkLst>
        </pc:graphicFrameChg>
      </pc:sldChg>
      <pc:sldChg chg="modSp mod">
        <pc:chgData name="Xin Luo" userId="82312ee5779919a4" providerId="LiveId" clId="{D1C76DA8-6A23-54AC-AD0D-AC8E743EAA8D}" dt="2026-08-31T10:36:58.693" v="724" actId="255"/>
        <pc:sldMkLst>
          <pc:docMk/>
          <pc:sldMk cId="3007902342" sldId="2724"/>
        </pc:sldMkLst>
        <pc:spChg chg="mod">
          <ac:chgData name="Xin Luo" userId="82312ee5779919a4" providerId="LiveId" clId="{D1C76DA8-6A23-54AC-AD0D-AC8E743EAA8D}" dt="2026-08-31T10:36:58.693" v="724" actId="255"/>
          <ac:spMkLst>
            <pc:docMk/>
            <pc:sldMk cId="3007902342" sldId="2724"/>
            <ac:spMk id="5" creationId="{78502774-B04C-634F-1396-E5815996BC36}"/>
          </ac:spMkLst>
        </pc:spChg>
      </pc:sldChg>
      <pc:sldChg chg="modSp mod">
        <pc:chgData name="Xin Luo" userId="82312ee5779919a4" providerId="LiveId" clId="{D1C76DA8-6A23-54AC-AD0D-AC8E743EAA8D}" dt="2026-08-31T10:23:58.054" v="642" actId="20577"/>
        <pc:sldMkLst>
          <pc:docMk/>
          <pc:sldMk cId="3309691984" sldId="2731"/>
        </pc:sldMkLst>
        <pc:spChg chg="mod">
          <ac:chgData name="Xin Luo" userId="82312ee5779919a4" providerId="LiveId" clId="{D1C76DA8-6A23-54AC-AD0D-AC8E743EAA8D}" dt="2026-08-31T10:23:58.054" v="642" actId="20577"/>
          <ac:spMkLst>
            <pc:docMk/>
            <pc:sldMk cId="3309691984" sldId="2731"/>
            <ac:spMk id="4" creationId="{DFE91C0B-C9F8-3FEC-3419-2DE0C6E6DCB8}"/>
          </ac:spMkLst>
        </pc:spChg>
        <pc:spChg chg="mod">
          <ac:chgData name="Xin Luo" userId="82312ee5779919a4" providerId="LiveId" clId="{D1C76DA8-6A23-54AC-AD0D-AC8E743EAA8D}" dt="2026-08-31T10:14:10.525" v="247" actId="20577"/>
          <ac:spMkLst>
            <pc:docMk/>
            <pc:sldMk cId="3309691984" sldId="2731"/>
            <ac:spMk id="34" creationId="{8FB6A072-1361-9365-BA98-28D65C319674}"/>
          </ac:spMkLst>
        </pc:spChg>
        <pc:spChg chg="mod">
          <ac:chgData name="Xin Luo" userId="82312ee5779919a4" providerId="LiveId" clId="{D1C76DA8-6A23-54AC-AD0D-AC8E743EAA8D}" dt="2026-08-31T10:13:28.724" v="194" actId="20577"/>
          <ac:spMkLst>
            <pc:docMk/>
            <pc:sldMk cId="3309691984" sldId="2731"/>
            <ac:spMk id="36" creationId="{39540756-8A6C-BDC2-5D37-C7059804CC0F}"/>
          </ac:spMkLst>
        </pc:spChg>
        <pc:spChg chg="mod">
          <ac:chgData name="Xin Luo" userId="82312ee5779919a4" providerId="LiveId" clId="{D1C76DA8-6A23-54AC-AD0D-AC8E743EAA8D}" dt="2026-08-31T10:14:52.831" v="324" actId="1035"/>
          <ac:spMkLst>
            <pc:docMk/>
            <pc:sldMk cId="3309691984" sldId="2731"/>
            <ac:spMk id="38" creationId="{A4258FF3-EAC1-3E64-A90D-5618C547999D}"/>
          </ac:spMkLst>
        </pc:spChg>
        <pc:grpChg chg="mod">
          <ac:chgData name="Xin Luo" userId="82312ee5779919a4" providerId="LiveId" clId="{D1C76DA8-6A23-54AC-AD0D-AC8E743EAA8D}" dt="2026-08-31T10:14:58.869" v="328" actId="1035"/>
          <ac:grpSpMkLst>
            <pc:docMk/>
            <pc:sldMk cId="3309691984" sldId="2731"/>
            <ac:grpSpMk id="16" creationId="{8107A09A-010F-8E0D-AD3F-71E27BBFCC6B}"/>
          </ac:grpSpMkLst>
        </pc:grpChg>
      </pc:sldChg>
      <pc:sldChg chg="addSp delSp modSp mod">
        <pc:chgData name="Xin Luo" userId="82312ee5779919a4" providerId="LiveId" clId="{D1C76DA8-6A23-54AC-AD0D-AC8E743EAA8D}" dt="2026-09-02T06:20:03.157" v="1046" actId="20577"/>
        <pc:sldMkLst>
          <pc:docMk/>
          <pc:sldMk cId="940880124" sldId="2742"/>
        </pc:sldMkLst>
        <pc:spChg chg="add mod">
          <ac:chgData name="Xin Luo" userId="82312ee5779919a4" providerId="LiveId" clId="{D1C76DA8-6A23-54AC-AD0D-AC8E743EAA8D}" dt="2026-09-02T06:19:38.758" v="1024"/>
          <ac:spMkLst>
            <pc:docMk/>
            <pc:sldMk cId="940880124" sldId="2742"/>
            <ac:spMk id="2" creationId="{9D278021-597D-3752-14C6-886F19FCF536}"/>
          </ac:spMkLst>
        </pc:spChg>
        <pc:spChg chg="add del mod">
          <ac:chgData name="Xin Luo" userId="82312ee5779919a4" providerId="LiveId" clId="{D1C76DA8-6A23-54AC-AD0D-AC8E743EAA8D}" dt="2026-09-02T06:20:03.157" v="1046" actId="20577"/>
          <ac:spMkLst>
            <pc:docMk/>
            <pc:sldMk cId="940880124" sldId="2742"/>
            <ac:spMk id="4" creationId="{F17BA0C2-A265-EE38-7F87-B0E3E08CDBEB}"/>
          </ac:spMkLst>
        </pc:spChg>
        <pc:spChg chg="mod">
          <ac:chgData name="Xin Luo" userId="82312ee5779919a4" providerId="LiveId" clId="{D1C76DA8-6A23-54AC-AD0D-AC8E743EAA8D}" dt="2026-08-31T10:36:12.904" v="716" actId="20577"/>
          <ac:spMkLst>
            <pc:docMk/>
            <pc:sldMk cId="940880124" sldId="2742"/>
            <ac:spMk id="11" creationId="{53A7E693-8098-76C4-CD5D-47166ABEB164}"/>
          </ac:spMkLst>
        </pc:spChg>
        <pc:spChg chg="mod">
          <ac:chgData name="Xin Luo" userId="82312ee5779919a4" providerId="LiveId" clId="{D1C76DA8-6A23-54AC-AD0D-AC8E743EAA8D}" dt="2026-08-31T10:36:36.156" v="721" actId="2710"/>
          <ac:spMkLst>
            <pc:docMk/>
            <pc:sldMk cId="940880124" sldId="2742"/>
            <ac:spMk id="13" creationId="{303BC878-BC57-D350-27A3-F03AE48213AC}"/>
          </ac:spMkLst>
        </pc:spChg>
      </pc:sldChg>
      <pc:sldChg chg="modSp mod">
        <pc:chgData name="Xin Luo" userId="82312ee5779919a4" providerId="LiveId" clId="{D1C76DA8-6A23-54AC-AD0D-AC8E743EAA8D}" dt="2026-08-31T10:11:39.302" v="58" actId="20577"/>
        <pc:sldMkLst>
          <pc:docMk/>
          <pc:sldMk cId="216137331" sldId="2763"/>
        </pc:sldMkLst>
        <pc:spChg chg="mod">
          <ac:chgData name="Xin Luo" userId="82312ee5779919a4" providerId="LiveId" clId="{D1C76DA8-6A23-54AC-AD0D-AC8E743EAA8D}" dt="2026-08-31T10:11:30.814" v="30" actId="20577"/>
          <ac:spMkLst>
            <pc:docMk/>
            <pc:sldMk cId="216137331" sldId="2763"/>
            <ac:spMk id="3" creationId="{E375549C-74EF-2C8F-6432-2C52B803FB1B}"/>
          </ac:spMkLst>
        </pc:spChg>
        <pc:spChg chg="mod">
          <ac:chgData name="Xin Luo" userId="82312ee5779919a4" providerId="LiveId" clId="{D1C76DA8-6A23-54AC-AD0D-AC8E743EAA8D}" dt="2026-08-31T10:11:39.302" v="58" actId="20577"/>
          <ac:spMkLst>
            <pc:docMk/>
            <pc:sldMk cId="216137331" sldId="2763"/>
            <ac:spMk id="24" creationId="{00000000-0000-0000-0000-000000000000}"/>
          </ac:spMkLst>
        </pc:spChg>
      </pc:sldChg>
      <pc:sldChg chg="addSp delSp modSp mod">
        <pc:chgData name="Xin Luo" userId="82312ee5779919a4" providerId="LiveId" clId="{D1C76DA8-6A23-54AC-AD0D-AC8E743EAA8D}" dt="2026-08-31T10:30:35.767" v="701" actId="20577"/>
        <pc:sldMkLst>
          <pc:docMk/>
          <pc:sldMk cId="3411125272" sldId="2778"/>
        </pc:sldMkLst>
        <pc:spChg chg="mod">
          <ac:chgData name="Xin Luo" userId="82312ee5779919a4" providerId="LiveId" clId="{D1C76DA8-6A23-54AC-AD0D-AC8E743EAA8D}" dt="2026-08-31T10:24:01.110" v="644" actId="20577"/>
          <ac:spMkLst>
            <pc:docMk/>
            <pc:sldMk cId="3411125272" sldId="2778"/>
            <ac:spMk id="4" creationId="{8B45E203-515D-C64E-467D-BE35DAB2DCBB}"/>
          </ac:spMkLst>
        </pc:spChg>
        <pc:spChg chg="mod">
          <ac:chgData name="Xin Luo" userId="82312ee5779919a4" providerId="LiveId" clId="{D1C76DA8-6A23-54AC-AD0D-AC8E743EAA8D}" dt="2026-08-31T10:20:16.481" v="627" actId="1076"/>
          <ac:spMkLst>
            <pc:docMk/>
            <pc:sldMk cId="3411125272" sldId="2778"/>
            <ac:spMk id="5" creationId="{BC5FF876-BAD9-831B-5D16-B8A194404EC3}"/>
          </ac:spMkLst>
        </pc:spChg>
        <pc:graphicFrameChg chg="mod modGraphic">
          <ac:chgData name="Xin Luo" userId="82312ee5779919a4" providerId="LiveId" clId="{D1C76DA8-6A23-54AC-AD0D-AC8E743EAA8D}" dt="2026-08-31T10:30:35.767" v="701" actId="20577"/>
          <ac:graphicFrameMkLst>
            <pc:docMk/>
            <pc:sldMk cId="3411125272" sldId="2778"/>
            <ac:graphicFrameMk id="2" creationId="{F9B972E6-0DD6-CD43-EA1B-D4138981CE56}"/>
          </ac:graphicFrameMkLst>
        </pc:graphicFrameChg>
        <pc:cxnChg chg="mod">
          <ac:chgData name="Xin Luo" userId="82312ee5779919a4" providerId="LiveId" clId="{D1C76DA8-6A23-54AC-AD0D-AC8E743EAA8D}" dt="2026-08-31T10:20:16.481" v="627" actId="1076"/>
          <ac:cxnSpMkLst>
            <pc:docMk/>
            <pc:sldMk cId="3411125272" sldId="2778"/>
            <ac:cxnSpMk id="8" creationId="{C30CF5BA-5B85-2701-802B-080C5479983B}"/>
          </ac:cxnSpMkLst>
        </pc:cxnChg>
        <pc:cxnChg chg="mod">
          <ac:chgData name="Xin Luo" userId="82312ee5779919a4" providerId="LiveId" clId="{D1C76DA8-6A23-54AC-AD0D-AC8E743EAA8D}" dt="2026-08-31T10:20:16.481" v="627" actId="1076"/>
          <ac:cxnSpMkLst>
            <pc:docMk/>
            <pc:sldMk cId="3411125272" sldId="2778"/>
            <ac:cxnSpMk id="9" creationId="{61FE32FD-85BF-3416-7A3E-1F786B0E4F08}"/>
          </ac:cxnSpMkLst>
        </pc:cxnChg>
        <pc:cxnChg chg="mod">
          <ac:chgData name="Xin Luo" userId="82312ee5779919a4" providerId="LiveId" clId="{D1C76DA8-6A23-54AC-AD0D-AC8E743EAA8D}" dt="2026-08-31T10:20:16.481" v="627" actId="1076"/>
          <ac:cxnSpMkLst>
            <pc:docMk/>
            <pc:sldMk cId="3411125272" sldId="2778"/>
            <ac:cxnSpMk id="12" creationId="{E7B27204-E405-C893-F50C-724423627215}"/>
          </ac:cxnSpMkLst>
        </pc:cxnChg>
      </pc:sldChg>
      <pc:sldChg chg="modSp mod">
        <pc:chgData name="Xin Luo" userId="82312ee5779919a4" providerId="LiveId" clId="{D1C76DA8-6A23-54AC-AD0D-AC8E743EAA8D}" dt="2026-09-02T05:57:57.234" v="1014" actId="1036"/>
        <pc:sldMkLst>
          <pc:docMk/>
          <pc:sldMk cId="3058806288" sldId="2781"/>
        </pc:sldMkLst>
        <pc:spChg chg="mod">
          <ac:chgData name="Xin Luo" userId="82312ee5779919a4" providerId="LiveId" clId="{D1C76DA8-6A23-54AC-AD0D-AC8E743EAA8D}" dt="2026-09-02T05:57:21.890" v="995" actId="14100"/>
          <ac:spMkLst>
            <pc:docMk/>
            <pc:sldMk cId="3058806288" sldId="2781"/>
            <ac:spMk id="2" creationId="{71639ACD-DB86-70B8-79B8-0619E0D2588B}"/>
          </ac:spMkLst>
        </pc:spChg>
        <pc:spChg chg="mod">
          <ac:chgData name="Xin Luo" userId="82312ee5779919a4" providerId="LiveId" clId="{D1C76DA8-6A23-54AC-AD0D-AC8E743EAA8D}" dt="2026-09-02T05:57:57.234" v="1014" actId="1036"/>
          <ac:spMkLst>
            <pc:docMk/>
            <pc:sldMk cId="3058806288" sldId="2781"/>
            <ac:spMk id="5" creationId="{7AC6B5E3-0388-9AA6-FF0C-4997994FECC5}"/>
          </ac:spMkLst>
        </pc:spChg>
        <pc:spChg chg="mod">
          <ac:chgData name="Xin Luo" userId="82312ee5779919a4" providerId="LiveId" clId="{D1C76DA8-6A23-54AC-AD0D-AC8E743EAA8D}" dt="2026-09-02T05:57:52.623" v="1006" actId="108"/>
          <ac:spMkLst>
            <pc:docMk/>
            <pc:sldMk cId="3058806288" sldId="2781"/>
            <ac:spMk id="6" creationId="{7CFDB476-000D-1357-72EF-2B78C59AC79D}"/>
          </ac:spMkLst>
        </pc:spChg>
        <pc:picChg chg="mod">
          <ac:chgData name="Xin Luo" userId="82312ee5779919a4" providerId="LiveId" clId="{D1C76DA8-6A23-54AC-AD0D-AC8E743EAA8D}" dt="2026-09-02T05:57:33.151" v="998" actId="1076"/>
          <ac:picMkLst>
            <pc:docMk/>
            <pc:sldMk cId="3058806288" sldId="2781"/>
            <ac:picMk id="9" creationId="{D994883C-DAA1-878F-1EEC-D7703207ECA1}"/>
          </ac:picMkLst>
        </pc:picChg>
      </pc:sldChg>
      <pc:sldChg chg="modSp mod">
        <pc:chgData name="Xin Luo" userId="82312ee5779919a4" providerId="LiveId" clId="{D1C76DA8-6A23-54AC-AD0D-AC8E743EAA8D}" dt="2026-09-02T05:59:00.487" v="1016" actId="403"/>
        <pc:sldMkLst>
          <pc:docMk/>
          <pc:sldMk cId="1887558904" sldId="2783"/>
        </pc:sldMkLst>
        <pc:spChg chg="mod">
          <ac:chgData name="Xin Luo" userId="82312ee5779919a4" providerId="LiveId" clId="{D1C76DA8-6A23-54AC-AD0D-AC8E743EAA8D}" dt="2026-09-02T05:59:00.487" v="1016" actId="403"/>
          <ac:spMkLst>
            <pc:docMk/>
            <pc:sldMk cId="1887558904" sldId="2783"/>
            <ac:spMk id="6" creationId="{F2C29379-9842-F50A-9123-297292711161}"/>
          </ac:spMkLst>
        </pc:spChg>
      </pc:sldChg>
      <pc:sldChg chg="modSp del mod">
        <pc:chgData name="Xin Luo" userId="82312ee5779919a4" providerId="LiveId" clId="{D1C76DA8-6A23-54AC-AD0D-AC8E743EAA8D}" dt="2026-09-02T06:20:38.238" v="1052" actId="2696"/>
        <pc:sldMkLst>
          <pc:docMk/>
          <pc:sldMk cId="4018671404" sldId="2784"/>
        </pc:sldMkLst>
        <pc:spChg chg="mod">
          <ac:chgData name="Xin Luo" userId="82312ee5779919a4" providerId="LiveId" clId="{D1C76DA8-6A23-54AC-AD0D-AC8E743EAA8D}" dt="2026-09-02T05:59:32.063" v="1021" actId="403"/>
          <ac:spMkLst>
            <pc:docMk/>
            <pc:sldMk cId="4018671404" sldId="2784"/>
            <ac:spMk id="6" creationId="{7F4B6D9C-295C-FF17-34D3-16F995CEDEB5}"/>
          </ac:spMkLst>
        </pc:spChg>
      </pc:sldChg>
      <pc:sldChg chg="del">
        <pc:chgData name="Xin Luo" userId="82312ee5779919a4" providerId="LiveId" clId="{D1C76DA8-6A23-54AC-AD0D-AC8E743EAA8D}" dt="2026-09-02T06:20:29.599" v="1050" actId="2696"/>
        <pc:sldMkLst>
          <pc:docMk/>
          <pc:sldMk cId="1170866454" sldId="2786"/>
        </pc:sldMkLst>
      </pc:sldChg>
      <pc:sldChg chg="add del">
        <pc:chgData name="Xin Luo" userId="82312ee5779919a4" providerId="LiveId" clId="{D1C76DA8-6A23-54AC-AD0D-AC8E743EAA8D}" dt="2026-09-02T06:20:25.679" v="1048"/>
        <pc:sldMkLst>
          <pc:docMk/>
          <pc:sldMk cId="1177324726" sldId="2794"/>
        </pc:sldMkLst>
      </pc:sldChg>
      <pc:sldChg chg="add">
        <pc:chgData name="Xin Luo" userId="82312ee5779919a4" providerId="LiveId" clId="{D1C76DA8-6A23-54AC-AD0D-AC8E743EAA8D}" dt="2026-09-02T06:20:27.105" v="1049"/>
        <pc:sldMkLst>
          <pc:docMk/>
          <pc:sldMk cId="3148404715" sldId="2794"/>
        </pc:sldMkLst>
      </pc:sldChg>
      <pc:sldChg chg="add">
        <pc:chgData name="Xin Luo" userId="82312ee5779919a4" providerId="LiveId" clId="{D1C76DA8-6A23-54AC-AD0D-AC8E743EAA8D}" dt="2026-09-02T06:20:36.027" v="1051"/>
        <pc:sldMkLst>
          <pc:docMk/>
          <pc:sldMk cId="3885208294" sldId="279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420041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C0B5-F015-5288-F0CA-A862F9F929D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9D3C658-43CC-843E-853F-7EE0B6614D26}"/>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F29C7225-CBC2-5DEA-3AAD-CF16D69C6B6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810258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期末考试前进行考前测试，熟悉试题。</a:t>
            </a:r>
          </a:p>
        </p:txBody>
      </p:sp>
    </p:spTree>
    <p:extLst>
      <p:ext uri="{BB962C8B-B14F-4D97-AF65-F5344CB8AC3E}">
        <p14:creationId xmlns:p14="http://schemas.microsoft.com/office/powerpoint/2010/main" val="2247650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078B0-23BC-1FED-8F36-F8A04A26BB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F14E2FD-184B-7C01-40AD-587583C601AE}"/>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590D5518-3BEC-8E17-B40B-AA3D22F62F8F}"/>
              </a:ext>
            </a:extLst>
          </p:cNvPr>
          <p:cNvSpPr>
            <a:spLocks noGrp="1"/>
          </p:cNvSpPr>
          <p:nvPr>
            <p:ph type="body" idx="1"/>
          </p:nvPr>
        </p:nvSpPr>
        <p:spPr/>
        <p:txBody>
          <a:bodyPr/>
          <a:lstStyle/>
          <a:p>
            <a:r>
              <a:rPr lang="zh-CN" altLang="en-US" dirty="0"/>
              <a:t>期末考试前进行考前测试，熟悉试题。</a:t>
            </a:r>
          </a:p>
        </p:txBody>
      </p:sp>
    </p:spTree>
    <p:extLst>
      <p:ext uri="{BB962C8B-B14F-4D97-AF65-F5344CB8AC3E}">
        <p14:creationId xmlns:p14="http://schemas.microsoft.com/office/powerpoint/2010/main" val="12222848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8</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65CF-9525-F48B-7663-08A96690664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3AAC67B-6FA3-0CCB-AAB1-BDA97E2301AD}"/>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94A2576-06A2-4AA2-EA21-8FB5DA72F761}"/>
              </a:ext>
            </a:extLst>
          </p:cNvPr>
          <p:cNvSpPr>
            <a:spLocks noGrp="1"/>
          </p:cNvSpPr>
          <p:nvPr>
            <p:ph type="body" idx="1"/>
          </p:nvPr>
        </p:nvSpPr>
        <p:spPr/>
        <p:txBody>
          <a:bodyPr/>
          <a:lstStyle/>
          <a:p>
            <a:r>
              <a:rPr lang="en-US" altLang="zh-CN" dirty="0"/>
              <a:t>1.</a:t>
            </a:r>
            <a:r>
              <a:rPr lang="zh-CN" altLang="en-US" dirty="0"/>
              <a:t> </a:t>
            </a:r>
            <a:r>
              <a:rPr lang="en-US" altLang="zh-CN" dirty="0"/>
              <a:t>CPU</a:t>
            </a:r>
            <a:r>
              <a:rPr lang="zh-CN" altLang="en-US" dirty="0"/>
              <a:t>、内存、硬盘计算机三大核心硬件。内存与硬盘的区分</a:t>
            </a:r>
            <a:endParaRPr lang="en-US" altLang="zh-CN" dirty="0"/>
          </a:p>
          <a:p>
            <a:r>
              <a:rPr lang="en-US" altLang="zh-CN" dirty="0"/>
              <a:t>2.</a:t>
            </a:r>
            <a:r>
              <a:rPr lang="zh-CN" altLang="en-US" dirty="0"/>
              <a:t> 键盘、鼠标用于接收信息，相当于</a:t>
            </a:r>
            <a:r>
              <a:rPr lang="zh-CN" altLang="en-US" baseline="0" dirty="0"/>
              <a:t>人的眼睛、耳朵；</a:t>
            </a:r>
            <a:r>
              <a:rPr lang="zh-CN" altLang="en-US" dirty="0"/>
              <a:t>显示器用于输出信息，相当于人的嘴巴。</a:t>
            </a:r>
            <a:endParaRPr lang="en-US" altLang="zh-CN" dirty="0"/>
          </a:p>
          <a:p>
            <a:endParaRPr lang="zh-CN" altLang="en-US" dirty="0"/>
          </a:p>
        </p:txBody>
      </p:sp>
    </p:spTree>
    <p:extLst>
      <p:ext uri="{BB962C8B-B14F-4D97-AF65-F5344CB8AC3E}">
        <p14:creationId xmlns:p14="http://schemas.microsoft.com/office/powerpoint/2010/main" val="3531991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CB183-F9DA-F0BF-E176-D5C00B4C67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7AE76D-C200-A689-70F5-B5725C4F54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4BE4A792-53D2-5551-E37F-989F7F5F547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202851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EA41F-E8F1-0EDC-6789-361F1229B34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105F570-B4A3-15F9-6A9C-D0A175E46B9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8152A9B-2149-B179-0B8A-E8926FFA10E1}"/>
              </a:ext>
            </a:extLst>
          </p:cNvPr>
          <p:cNvSpPr>
            <a:spLocks noGrp="1"/>
          </p:cNvSpPr>
          <p:nvPr>
            <p:ph type="body" idx="1"/>
          </p:nvPr>
        </p:nvSpPr>
        <p:spPr/>
        <p:txBody>
          <a:bodyPr/>
          <a:lstStyle/>
          <a:p>
            <a:r>
              <a:rPr lang="en-US" altLang="zh-CN" dirty="0"/>
              <a:t>1.</a:t>
            </a:r>
            <a:r>
              <a:rPr lang="zh-CN" altLang="en-US" dirty="0"/>
              <a:t> </a:t>
            </a:r>
          </a:p>
        </p:txBody>
      </p:sp>
    </p:spTree>
    <p:extLst>
      <p:ext uri="{BB962C8B-B14F-4D97-AF65-F5344CB8AC3E}">
        <p14:creationId xmlns:p14="http://schemas.microsoft.com/office/powerpoint/2010/main" val="28695274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F52D4-3DC3-99D3-ABDB-660EA992B0D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5DFC12A-7B85-D647-55D5-99F9C3C899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B177BC3D-BBC2-49A9-7821-D144D3718B3D}"/>
              </a:ext>
            </a:extLst>
          </p:cNvPr>
          <p:cNvSpPr>
            <a:spLocks noGrp="1"/>
          </p:cNvSpPr>
          <p:nvPr>
            <p:ph type="body" idx="1"/>
          </p:nvPr>
        </p:nvSpPr>
        <p:spPr/>
        <p:txBody>
          <a:bodyPr/>
          <a:lstStyle/>
          <a:p>
            <a:r>
              <a:rPr lang="en-US" altLang="zh-CN" dirty="0"/>
              <a:t>1. </a:t>
            </a:r>
            <a:r>
              <a:rPr lang="zh-CN" altLang="en-US" dirty="0"/>
              <a:t>全班同学按年龄排序</a:t>
            </a:r>
          </a:p>
        </p:txBody>
      </p:sp>
    </p:spTree>
    <p:extLst>
      <p:ext uri="{BB962C8B-B14F-4D97-AF65-F5344CB8AC3E}">
        <p14:creationId xmlns:p14="http://schemas.microsoft.com/office/powerpoint/2010/main" val="36736173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41AC9-7DC1-75BC-1AC1-9A763709EA1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48890C-DC5F-D11F-0C61-B6CDAD3A3D0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8184B4ED-FBB3-B948-E1F0-2F418A2275E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7555463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855554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r>
              <a:rPr lang="zh-CN" altLang="en-US" dirty="0"/>
              <a:t>解释型：对应编译型</a:t>
            </a:r>
            <a:r>
              <a:rPr lang="en-US" altLang="zh-CN" dirty="0"/>
              <a:t>(</a:t>
            </a:r>
            <a:r>
              <a:rPr lang="zh-CN" altLang="en-US" dirty="0"/>
              <a:t>需先将代码编译为机器码再运行</a:t>
            </a:r>
            <a:r>
              <a:rPr lang="en-US" altLang="zh-CN" dirty="0"/>
              <a:t>)</a:t>
            </a:r>
            <a:r>
              <a:rPr lang="zh-CN" altLang="en-US" dirty="0"/>
              <a:t>。通过解释器解释，直接执行代码（编译和运行是连续步骤）。</a:t>
            </a:r>
            <a:endParaRPr lang="en-US" altLang="zh-CN" dirty="0"/>
          </a:p>
          <a:p>
            <a:pPr marL="228600" indent="-228600">
              <a:buAutoNum type="arabicPeriod"/>
            </a:pPr>
            <a:r>
              <a:rPr lang="zh-CN" altLang="en-US" dirty="0"/>
              <a:t>高级编程语言：高度封装的编程语言。以人类日常语言为基础，对人类具有较高可读性的编程语言。</a:t>
            </a:r>
            <a:endParaRPr lang="en-US" altLang="zh-CN" dirty="0"/>
          </a:p>
          <a:p>
            <a:pPr marL="228600" indent="-228600">
              <a:buAutoNum type="arabicPeriod"/>
            </a:pPr>
            <a:r>
              <a:rPr lang="zh-CN" altLang="en-US" dirty="0"/>
              <a:t>通用：能够用于不同领域的编程语言。反例，</a:t>
            </a:r>
            <a:r>
              <a:rPr lang="en-US" altLang="zh-CN" dirty="0"/>
              <a:t>ENVI-IDL</a:t>
            </a:r>
            <a:r>
              <a:rPr lang="zh-CN" altLang="en-US" dirty="0"/>
              <a:t>编程语言</a:t>
            </a:r>
            <a:endParaRPr lang="en-US" altLang="zh-CN" dirty="0"/>
          </a:p>
          <a:p>
            <a:pPr marL="228600" indent="-228600">
              <a:buAutoNum type="arabicPeriod"/>
            </a:pPr>
            <a:r>
              <a:rPr lang="zh-CN" altLang="en-US" dirty="0"/>
              <a:t>范罗苏姆头发茂盛。</a:t>
            </a:r>
            <a:endParaRPr lang="en-US" altLang="zh-CN" dirty="0"/>
          </a:p>
        </p:txBody>
      </p:sp>
    </p:spTree>
    <p:extLst>
      <p:ext uri="{BB962C8B-B14F-4D97-AF65-F5344CB8AC3E}">
        <p14:creationId xmlns:p14="http://schemas.microsoft.com/office/powerpoint/2010/main" val="28004269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15770109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24549102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1330258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415706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601600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131166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878990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78733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9676881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62419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667283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146237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923132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B58C3-1BBF-B7DA-86E5-DE251F1C0F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8618FF-964A-CC9D-BD8A-FADA992ADEE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D3BE027-06F1-EB06-A0B8-17B970C3FEA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050880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47722960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80236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579435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3633262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016052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8"/>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3"/>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8"/>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8"/>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7"/>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8"/>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7"/>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9" y="1087440"/>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40"/>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6"/>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6"/>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639346"/>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6"/>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2"/>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40"/>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7"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9" y="115891"/>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5" y="115891"/>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90"/>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2" y="3"/>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91"/>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9"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8"/>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hyperlink" Target="https://zh.wikipedia.org/wiki/Help:%E8%8B%B1%E8%AA%9E%E5%9C%8B%E9%9A%9B%E9%9F%B3%E6%A8%99" TargetMode="External"/><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image" Target="../media/image9.jpe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18.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8.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6000" b="1" dirty="0">
                <a:solidFill>
                  <a:srgbClr val="FF0000"/>
                </a:solidFill>
                <a:latin typeface="微软雅黑"/>
                <a:ea typeface="微软雅黑"/>
              </a:rPr>
              <a:t>计算机编程与开发环境</a:t>
            </a:r>
            <a:endParaRPr lang="zh-CN" altLang="zh-CN" sz="60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dirty="0" err="1">
                <a:solidFill>
                  <a:prstClr val="black"/>
                </a:solidFill>
                <a:latin typeface="微软雅黑"/>
                <a:ea typeface="微软雅黑"/>
              </a:rPr>
              <a:t>邮箱</a:t>
            </a:r>
            <a:r>
              <a:rPr lang="en-CN" sz="2000" dirty="0">
                <a:solidFill>
                  <a:prstClr val="black"/>
                </a:solidFill>
                <a:latin typeface="微软雅黑"/>
                <a:ea typeface="微软雅黑"/>
              </a:rPr>
              <a:t>: xinluo_xin@ynu.edu.cn</a:t>
            </a:r>
          </a:p>
          <a:p>
            <a:pPr>
              <a:defRPr/>
            </a:pPr>
            <a:r>
              <a:rPr lang="en-CN" sz="2000" dirty="0">
                <a:solidFill>
                  <a:prstClr val="black"/>
                </a:solidFill>
                <a:latin typeface="微软雅黑"/>
                <a:ea typeface="微软雅黑"/>
              </a:rPr>
              <a:t>地址</a:t>
            </a:r>
            <a:r>
              <a:rPr lang="zh-CN" altLang="en-US" sz="2000" dirty="0">
                <a:solidFill>
                  <a:prstClr val="black"/>
                </a:solidFill>
                <a:latin typeface="微软雅黑"/>
                <a:ea typeface="微软雅黑"/>
              </a:rPr>
              <a:t>：地球科学学院</a:t>
            </a:r>
            <a:r>
              <a:rPr lang="en-US" altLang="zh-CN" sz="2000" dirty="0">
                <a:solidFill>
                  <a:prstClr val="black"/>
                </a:solidFill>
                <a:latin typeface="微软雅黑"/>
                <a:ea typeface="微软雅黑"/>
              </a:rPr>
              <a:t>1327</a:t>
            </a:r>
            <a:r>
              <a:rPr lang="zh-CN" altLang="en-US" sz="2000" dirty="0">
                <a:solidFill>
                  <a:prstClr val="black"/>
                </a:solidFill>
                <a:latin typeface="微软雅黑"/>
                <a:ea typeface="微软雅黑"/>
              </a:rPr>
              <a:t>办公室</a:t>
            </a:r>
            <a:endParaRPr lang="en-CN" sz="20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360578" y="243144"/>
            <a:ext cx="4482317" cy="369332"/>
          </a:xfrm>
          <a:prstGeom prst="rect">
            <a:avLst/>
          </a:prstGeom>
          <a:noFill/>
        </p:spPr>
        <p:txBody>
          <a:bodyPr wrap="none" rtlCol="0">
            <a:spAutoFit/>
          </a:bodyPr>
          <a:lstStyle/>
          <a:p>
            <a:pPr>
              <a:defRPr/>
            </a:pPr>
            <a:r>
              <a:rPr lang="en-CN" sz="1800" b="1" dirty="0">
                <a:solidFill>
                  <a:prstClr val="black"/>
                </a:solidFill>
                <a:latin typeface="微软雅黑"/>
                <a:ea typeface="微软雅黑"/>
              </a:rPr>
              <a:t>云南大学</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 </a:t>
            </a:r>
            <a:r>
              <a:rPr lang="zh-CN" altLang="en-US" sz="1800" b="1" dirty="0">
                <a:solidFill>
                  <a:prstClr val="black"/>
                </a:solidFill>
                <a:latin typeface="微软雅黑"/>
                <a:ea typeface="微软雅黑"/>
              </a:rPr>
              <a:t>遥感数据处理</a:t>
            </a:r>
            <a:r>
              <a:rPr lang="en-CN" sz="1800" b="1" dirty="0">
                <a:solidFill>
                  <a:prstClr val="black"/>
                </a:solidFill>
                <a:latin typeface="微软雅黑"/>
                <a:ea typeface="微软雅黑"/>
              </a:rPr>
              <a:t>程序设计</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课程</a:t>
            </a:r>
          </a:p>
        </p:txBody>
      </p:sp>
    </p:spTree>
    <p:extLst>
      <p:ext uri="{BB962C8B-B14F-4D97-AF65-F5344CB8AC3E}">
        <p14:creationId xmlns:p14="http://schemas.microsoft.com/office/powerpoint/2010/main" val="21613733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220" y="3429000"/>
            <a:ext cx="12185780" cy="1543050"/>
          </a:xfrm>
          <a:prstGeom prst="rect">
            <a:avLst/>
          </a:prstGeom>
          <a:solidFill>
            <a:schemeClr val="accent1"/>
          </a:solidFill>
          <a:ln>
            <a:noFill/>
          </a:ln>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397166" y="3790407"/>
            <a:ext cx="9409414" cy="830997"/>
          </a:xfrm>
          <a:prstGeom prst="rect">
            <a:avLst/>
          </a:prstGeom>
        </p:spPr>
        <p:txBody>
          <a:bodyPr wrap="square">
            <a:spAutoFit/>
          </a:bodyPr>
          <a:lstStyle/>
          <a:p>
            <a:pPr algn="l" fontAlgn="auto">
              <a:spcBef>
                <a:spcPts val="0"/>
              </a:spcBef>
              <a:spcAft>
                <a:spcPts val="0"/>
              </a:spcAft>
              <a:defRPr/>
            </a:pPr>
            <a:r>
              <a:rPr lang="zh-CN" altLang="en-US" sz="4800" b="1" dirty="0">
                <a:solidFill>
                  <a:prstClr val="white"/>
                </a:solidFill>
                <a:latin typeface="微软雅黑" pitchFamily="34" charset="-122"/>
                <a:ea typeface="微软雅黑" pitchFamily="34" charset="-122"/>
              </a:rPr>
              <a:t>课程简介及考核</a:t>
            </a:r>
          </a:p>
        </p:txBody>
      </p:sp>
      <p:sp>
        <p:nvSpPr>
          <p:cNvPr id="8" name="矩形 7"/>
          <p:cNvSpPr/>
          <p:nvPr/>
        </p:nvSpPr>
        <p:spPr>
          <a:xfrm>
            <a:off x="6220" y="4972049"/>
            <a:ext cx="12185780" cy="72000"/>
          </a:xfrm>
          <a:prstGeom prst="rect">
            <a:avLst/>
          </a:prstGeom>
          <a:solidFill>
            <a:schemeClr val="tx1">
              <a:lumMod val="75000"/>
            </a:schemeClr>
          </a:solidFill>
          <a:effectLst/>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56779219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11967" y="8526"/>
            <a:ext cx="10425407"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864637" y="941973"/>
            <a:ext cx="9527738"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1.</a:t>
            </a:r>
            <a:r>
              <a:rPr lang="zh-CN" altLang="en-US" sz="2800" b="1" dirty="0">
                <a:solidFill>
                  <a:srgbClr val="333333"/>
                </a:solidFill>
                <a:latin typeface="微软雅黑"/>
                <a:ea typeface="微软雅黑"/>
              </a:rPr>
              <a:t> 课程简介</a:t>
            </a:r>
            <a:endParaRPr lang="en-US" altLang="zh-CN" sz="2800" b="1" dirty="0">
              <a:solidFill>
                <a:srgbClr val="333333"/>
              </a:solidFill>
              <a:latin typeface="微软雅黑"/>
              <a:ea typeface="微软雅黑"/>
            </a:endParaRPr>
          </a:p>
        </p:txBody>
      </p:sp>
      <p:grpSp>
        <p:nvGrpSpPr>
          <p:cNvPr id="19" name="Group 18">
            <a:extLst>
              <a:ext uri="{FF2B5EF4-FFF2-40B4-BE49-F238E27FC236}">
                <a16:creationId xmlns:a16="http://schemas.microsoft.com/office/drawing/2014/main" id="{71AD3056-DAFE-2FA5-1727-57448A5D33D3}"/>
              </a:ext>
            </a:extLst>
          </p:cNvPr>
          <p:cNvGrpSpPr/>
          <p:nvPr/>
        </p:nvGrpSpPr>
        <p:grpSpPr>
          <a:xfrm>
            <a:off x="6145763" y="1815928"/>
            <a:ext cx="5013650" cy="2342244"/>
            <a:chOff x="4872212" y="1813805"/>
            <a:chExt cx="3847718" cy="2342244"/>
          </a:xfrm>
        </p:grpSpPr>
        <p:sp>
          <p:nvSpPr>
            <p:cNvPr id="14" name="Rectangle 13">
              <a:extLst>
                <a:ext uri="{FF2B5EF4-FFF2-40B4-BE49-F238E27FC236}">
                  <a16:creationId xmlns:a16="http://schemas.microsoft.com/office/drawing/2014/main" id="{3BBAA703-51E4-257D-C399-D15E0830CE5A}"/>
                </a:ext>
              </a:extLst>
            </p:cNvPr>
            <p:cNvSpPr/>
            <p:nvPr/>
          </p:nvSpPr>
          <p:spPr>
            <a:xfrm>
              <a:off x="4872212" y="2275470"/>
              <a:ext cx="3847718"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0" name="TextBox 29">
              <a:extLst>
                <a:ext uri="{FF2B5EF4-FFF2-40B4-BE49-F238E27FC236}">
                  <a16:creationId xmlns:a16="http://schemas.microsoft.com/office/drawing/2014/main" id="{5EFF62F7-44D4-EF31-89C6-DC582FE71078}"/>
                </a:ext>
              </a:extLst>
            </p:cNvPr>
            <p:cNvSpPr txBox="1"/>
            <p:nvPr/>
          </p:nvSpPr>
          <p:spPr>
            <a:xfrm>
              <a:off x="4872212" y="1813805"/>
              <a:ext cx="3847718"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能力目标</a:t>
              </a:r>
              <a:endParaRPr lang="en-CN" sz="2800" dirty="0">
                <a:solidFill>
                  <a:prstClr val="white"/>
                </a:solidFill>
                <a:latin typeface="+mn-ea"/>
                <a:ea typeface="+mn-ea"/>
              </a:endParaRPr>
            </a:p>
          </p:txBody>
        </p:sp>
        <p:sp>
          <p:nvSpPr>
            <p:cNvPr id="34" name="TextBox 33">
              <a:extLst>
                <a:ext uri="{FF2B5EF4-FFF2-40B4-BE49-F238E27FC236}">
                  <a16:creationId xmlns:a16="http://schemas.microsoft.com/office/drawing/2014/main" id="{8FB6A072-1361-9365-BA98-28D65C319674}"/>
                </a:ext>
              </a:extLst>
            </p:cNvPr>
            <p:cNvSpPr txBox="1"/>
            <p:nvPr/>
          </p:nvSpPr>
          <p:spPr>
            <a:xfrm>
              <a:off x="4872212" y="2343898"/>
              <a:ext cx="3847718"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通过遥感数据处理程序设计学习与实践，培养学生遥感应用中独立分析问题、解决问题的能力。</a:t>
              </a:r>
              <a:r>
                <a:rPr lang="en-CN" kern="100" dirty="0">
                  <a:solidFill>
                    <a:prstClr val="black"/>
                  </a:solidFill>
                  <a:latin typeface="+mn-ea"/>
                  <a:ea typeface="+mn-ea"/>
                  <a:cs typeface="Times New Roman" panose="02020603050405020304" pitchFamily="18" charset="0"/>
                </a:rPr>
                <a:t> </a:t>
              </a:r>
            </a:p>
          </p:txBody>
        </p:sp>
      </p:grpSp>
      <p:grpSp>
        <p:nvGrpSpPr>
          <p:cNvPr id="18" name="Group 17">
            <a:extLst>
              <a:ext uri="{FF2B5EF4-FFF2-40B4-BE49-F238E27FC236}">
                <a16:creationId xmlns:a16="http://schemas.microsoft.com/office/drawing/2014/main" id="{27864012-C4CF-A34C-709C-92F65DF55D08}"/>
              </a:ext>
            </a:extLst>
          </p:cNvPr>
          <p:cNvGrpSpPr/>
          <p:nvPr/>
        </p:nvGrpSpPr>
        <p:grpSpPr>
          <a:xfrm>
            <a:off x="721567" y="1815928"/>
            <a:ext cx="4944404" cy="2342244"/>
            <a:chOff x="934277" y="1813805"/>
            <a:chExt cx="3479357" cy="2342244"/>
          </a:xfrm>
        </p:grpSpPr>
        <p:sp>
          <p:nvSpPr>
            <p:cNvPr id="7" name="Rectangle 6">
              <a:extLst>
                <a:ext uri="{FF2B5EF4-FFF2-40B4-BE49-F238E27FC236}">
                  <a16:creationId xmlns:a16="http://schemas.microsoft.com/office/drawing/2014/main" id="{CEAD88D9-3190-96B8-F01F-EBA4FDE6CAC4}"/>
                </a:ext>
              </a:extLst>
            </p:cNvPr>
            <p:cNvSpPr/>
            <p:nvPr/>
          </p:nvSpPr>
          <p:spPr>
            <a:xfrm>
              <a:off x="934277" y="2275470"/>
              <a:ext cx="3479357"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28" name="TextBox 27">
              <a:extLst>
                <a:ext uri="{FF2B5EF4-FFF2-40B4-BE49-F238E27FC236}">
                  <a16:creationId xmlns:a16="http://schemas.microsoft.com/office/drawing/2014/main" id="{75276C4D-4616-1D5E-F402-7202C64C25EA}"/>
                </a:ext>
              </a:extLst>
            </p:cNvPr>
            <p:cNvSpPr txBox="1"/>
            <p:nvPr/>
          </p:nvSpPr>
          <p:spPr>
            <a:xfrm>
              <a:off x="934277" y="1813805"/>
              <a:ext cx="3479357" cy="523220"/>
            </a:xfrm>
            <a:prstGeom prst="rect">
              <a:avLst/>
            </a:prstGeom>
            <a:solidFill>
              <a:schemeClr val="tx2"/>
            </a:solidFill>
            <a:ln>
              <a:solidFill>
                <a:schemeClr val="bg2"/>
              </a:solidFill>
            </a:ln>
          </p:spPr>
          <p:txBody>
            <a:bodyPr wrap="square">
              <a:spAutoFit/>
            </a:bodyPr>
            <a:lstStyle/>
            <a:p>
              <a:pPr>
                <a:defRPr/>
              </a:pPr>
              <a:r>
                <a:rPr lang="zh-CN" altLang="en-CN" sz="2800" b="1" dirty="0">
                  <a:solidFill>
                    <a:srgbClr val="333333"/>
                  </a:solidFill>
                  <a:latin typeface="+mn-ea"/>
                  <a:ea typeface="+mn-ea"/>
                </a:rPr>
                <a:t>课程</a:t>
              </a:r>
              <a:r>
                <a:rPr lang="zh-CN" altLang="en-US" sz="2800" b="1" dirty="0">
                  <a:solidFill>
                    <a:srgbClr val="333333"/>
                  </a:solidFill>
                  <a:latin typeface="+mn-ea"/>
                  <a:ea typeface="+mn-ea"/>
                </a:rPr>
                <a:t>知识目标</a:t>
              </a:r>
              <a:endParaRPr lang="en-CN" sz="2800" dirty="0">
                <a:solidFill>
                  <a:prstClr val="white"/>
                </a:solidFill>
                <a:latin typeface="+mn-ea"/>
                <a:ea typeface="+mn-ea"/>
              </a:endParaRPr>
            </a:p>
          </p:txBody>
        </p:sp>
        <p:sp>
          <p:nvSpPr>
            <p:cNvPr id="36" name="TextBox 35">
              <a:extLst>
                <a:ext uri="{FF2B5EF4-FFF2-40B4-BE49-F238E27FC236}">
                  <a16:creationId xmlns:a16="http://schemas.microsoft.com/office/drawing/2014/main" id="{39540756-8A6C-BDC2-5D37-C7059804CC0F}"/>
                </a:ext>
              </a:extLst>
            </p:cNvPr>
            <p:cNvSpPr txBox="1"/>
            <p:nvPr/>
          </p:nvSpPr>
          <p:spPr>
            <a:xfrm>
              <a:off x="1005199" y="2275470"/>
              <a:ext cx="3337511"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掌握</a:t>
              </a:r>
              <a:r>
                <a:rPr lang="en-US" kern="100" dirty="0">
                  <a:solidFill>
                    <a:prstClr val="black"/>
                  </a:solidFill>
                  <a:latin typeface="+mn-ea"/>
                  <a:ea typeface="+mn-ea"/>
                </a:rPr>
                <a:t>Python</a:t>
              </a:r>
              <a:r>
                <a:rPr lang="zh-CN" altLang="en-US" kern="100" dirty="0">
                  <a:solidFill>
                    <a:prstClr val="black"/>
                  </a:solidFill>
                  <a:latin typeface="+mn-ea"/>
                  <a:ea typeface="+mn-ea"/>
                  <a:cs typeface="Times New Roman" panose="02020603050405020304" pitchFamily="18" charset="0"/>
                </a:rPr>
                <a:t>基础编程语法、遥感影像数据处理程序设计，以及不同模态遥感数据读写及处理。</a:t>
              </a:r>
              <a:endParaRPr lang="en-US" altLang="zh-CN" kern="100" dirty="0">
                <a:solidFill>
                  <a:prstClr val="black"/>
                </a:solidFill>
                <a:latin typeface="+mn-ea"/>
                <a:ea typeface="+mn-ea"/>
                <a:cs typeface="Times New Roman" panose="02020603050405020304" pitchFamily="18" charset="0"/>
              </a:endParaRPr>
            </a:p>
          </p:txBody>
        </p:sp>
      </p:grpSp>
      <p:grpSp>
        <p:nvGrpSpPr>
          <p:cNvPr id="16" name="Group 15">
            <a:extLst>
              <a:ext uri="{FF2B5EF4-FFF2-40B4-BE49-F238E27FC236}">
                <a16:creationId xmlns:a16="http://schemas.microsoft.com/office/drawing/2014/main" id="{8107A09A-010F-8E0D-AD3F-71E27BBFCC6B}"/>
              </a:ext>
            </a:extLst>
          </p:cNvPr>
          <p:cNvGrpSpPr/>
          <p:nvPr/>
        </p:nvGrpSpPr>
        <p:grpSpPr>
          <a:xfrm>
            <a:off x="2148840" y="4516249"/>
            <a:ext cx="8001000" cy="1880579"/>
            <a:chOff x="2750906" y="4476512"/>
            <a:chExt cx="3642187" cy="1880579"/>
          </a:xfrm>
        </p:grpSpPr>
        <p:sp>
          <p:nvSpPr>
            <p:cNvPr id="15" name="Rectangle 14">
              <a:extLst>
                <a:ext uri="{FF2B5EF4-FFF2-40B4-BE49-F238E27FC236}">
                  <a16:creationId xmlns:a16="http://schemas.microsoft.com/office/drawing/2014/main" id="{BECFF6F1-63BD-D70B-713F-66E8387809FA}"/>
                </a:ext>
              </a:extLst>
            </p:cNvPr>
            <p:cNvSpPr/>
            <p:nvPr/>
          </p:nvSpPr>
          <p:spPr>
            <a:xfrm>
              <a:off x="2750906" y="4938177"/>
              <a:ext cx="3642187" cy="1418914"/>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2" name="TextBox 31">
              <a:extLst>
                <a:ext uri="{FF2B5EF4-FFF2-40B4-BE49-F238E27FC236}">
                  <a16:creationId xmlns:a16="http://schemas.microsoft.com/office/drawing/2014/main" id="{C2653A42-08C7-57F2-BA63-62A6EAA24390}"/>
                </a:ext>
              </a:extLst>
            </p:cNvPr>
            <p:cNvSpPr txBox="1"/>
            <p:nvPr/>
          </p:nvSpPr>
          <p:spPr>
            <a:xfrm>
              <a:off x="2750907" y="4476512"/>
              <a:ext cx="3642186"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素质目标</a:t>
              </a:r>
              <a:endParaRPr lang="en-CN" sz="2800" dirty="0">
                <a:solidFill>
                  <a:prstClr val="white"/>
                </a:solidFill>
                <a:latin typeface="+mn-ea"/>
                <a:ea typeface="+mn-ea"/>
              </a:endParaRPr>
            </a:p>
          </p:txBody>
        </p:sp>
        <p:sp>
          <p:nvSpPr>
            <p:cNvPr id="38" name="TextBox 37">
              <a:extLst>
                <a:ext uri="{FF2B5EF4-FFF2-40B4-BE49-F238E27FC236}">
                  <a16:creationId xmlns:a16="http://schemas.microsoft.com/office/drawing/2014/main" id="{A4258FF3-EAC1-3E64-A90D-5618C547999D}"/>
                </a:ext>
              </a:extLst>
            </p:cNvPr>
            <p:cNvSpPr txBox="1"/>
            <p:nvPr/>
          </p:nvSpPr>
          <p:spPr>
            <a:xfrm>
              <a:off x="2750906" y="5101065"/>
              <a:ext cx="3642187" cy="1135054"/>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结合专业实践，入国土资源监测、生态环境评估等激发学生对所学专业的自信心和培养科技报国的情怀。</a:t>
              </a:r>
              <a:r>
                <a:rPr lang="en-CN" kern="100" dirty="0">
                  <a:solidFill>
                    <a:prstClr val="black"/>
                  </a:solidFill>
                  <a:latin typeface="+mn-ea"/>
                  <a:ea typeface="+mn-ea"/>
                  <a:cs typeface="Times New Roman" panose="02020603050405020304" pitchFamily="18" charset="0"/>
                </a:rPr>
                <a:t> </a:t>
              </a:r>
            </a:p>
          </p:txBody>
        </p:sp>
      </p:grpSp>
    </p:spTree>
    <p:extLst>
      <p:ext uri="{BB962C8B-B14F-4D97-AF65-F5344CB8AC3E}">
        <p14:creationId xmlns:p14="http://schemas.microsoft.com/office/powerpoint/2010/main" val="3309691984"/>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598BC-7102-480B-03A5-E85391F3195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D6782B-D6FD-CEB4-B1FD-4D31162579DA}"/>
              </a:ext>
            </a:extLst>
          </p:cNvPr>
          <p:cNvSpPr>
            <a:spLocks noGrp="1"/>
          </p:cNvSpPr>
          <p:nvPr>
            <p:ph type="title"/>
          </p:nvPr>
        </p:nvSpPr>
        <p:spPr>
          <a:xfrm>
            <a:off x="1" y="8526"/>
            <a:ext cx="10537374"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8B45E203-515D-C64E-467D-BE35DAB2DCBB}"/>
              </a:ext>
            </a:extLst>
          </p:cNvPr>
          <p:cNvSpPr txBox="1"/>
          <p:nvPr/>
        </p:nvSpPr>
        <p:spPr>
          <a:xfrm>
            <a:off x="522514" y="941973"/>
            <a:ext cx="9869861"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2.</a:t>
            </a:r>
            <a:r>
              <a:rPr lang="zh-CN" altLang="en-US" sz="2800" b="1" dirty="0">
                <a:solidFill>
                  <a:srgbClr val="333333"/>
                </a:solidFill>
                <a:latin typeface="微软雅黑"/>
                <a:ea typeface="微软雅黑"/>
              </a:rPr>
              <a:t> </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遥感数据处理程序设计</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课程教学重难点及进度安排</a:t>
            </a:r>
            <a:endParaRPr lang="en-US" altLang="zh-CN" sz="2800" b="1" dirty="0">
              <a:solidFill>
                <a:srgbClr val="333333"/>
              </a:solidFill>
              <a:latin typeface="微软雅黑"/>
              <a:ea typeface="微软雅黑"/>
            </a:endParaRPr>
          </a:p>
        </p:txBody>
      </p:sp>
      <p:graphicFrame>
        <p:nvGraphicFramePr>
          <p:cNvPr id="2" name="Table 1">
            <a:extLst>
              <a:ext uri="{FF2B5EF4-FFF2-40B4-BE49-F238E27FC236}">
                <a16:creationId xmlns:a16="http://schemas.microsoft.com/office/drawing/2014/main" id="{F9B972E6-0DD6-CD43-EA1B-D4138981CE56}"/>
              </a:ext>
            </a:extLst>
          </p:cNvPr>
          <p:cNvGraphicFramePr>
            <a:graphicFrameLocks noGrp="1"/>
          </p:cNvGraphicFramePr>
          <p:nvPr>
            <p:extLst>
              <p:ext uri="{D42A27DB-BD31-4B8C-83A1-F6EECF244321}">
                <p14:modId xmlns:p14="http://schemas.microsoft.com/office/powerpoint/2010/main" val="2529379039"/>
              </p:ext>
            </p:extLst>
          </p:nvPr>
        </p:nvGraphicFramePr>
        <p:xfrm>
          <a:off x="1809111" y="1621333"/>
          <a:ext cx="9806569" cy="5156657"/>
        </p:xfrm>
        <a:graphic>
          <a:graphicData uri="http://schemas.openxmlformats.org/drawingml/2006/table">
            <a:tbl>
              <a:tblPr firstRow="1" firstCol="1" bandRow="1">
                <a:tableStyleId>{BDBED569-4797-4DF1-A0F4-6AAB3CD982D8}</a:tableStyleId>
              </a:tblPr>
              <a:tblGrid>
                <a:gridCol w="2705739">
                  <a:extLst>
                    <a:ext uri="{9D8B030D-6E8A-4147-A177-3AD203B41FA5}">
                      <a16:colId xmlns:a16="http://schemas.microsoft.com/office/drawing/2014/main" val="541523726"/>
                    </a:ext>
                  </a:extLst>
                </a:gridCol>
                <a:gridCol w="765810">
                  <a:extLst>
                    <a:ext uri="{9D8B030D-6E8A-4147-A177-3AD203B41FA5}">
                      <a16:colId xmlns:a16="http://schemas.microsoft.com/office/drawing/2014/main" val="686157870"/>
                    </a:ext>
                  </a:extLst>
                </a:gridCol>
                <a:gridCol w="6335020">
                  <a:extLst>
                    <a:ext uri="{9D8B030D-6E8A-4147-A177-3AD203B41FA5}">
                      <a16:colId xmlns:a16="http://schemas.microsoft.com/office/drawing/2014/main" val="335792030"/>
                    </a:ext>
                  </a:extLst>
                </a:gridCol>
              </a:tblGrid>
              <a:tr h="568749">
                <a:tc>
                  <a:txBody>
                    <a:bodyPr/>
                    <a:lstStyle/>
                    <a:p>
                      <a:pPr algn="ctr">
                        <a:lnSpc>
                          <a:spcPct val="100000"/>
                        </a:lnSpc>
                      </a:pPr>
                      <a:r>
                        <a:rPr lang="zh-CN" sz="1800" b="1" kern="100" dirty="0">
                          <a:solidFill>
                            <a:schemeClr val="bg2"/>
                          </a:solidFill>
                          <a:effectLst/>
                        </a:rPr>
                        <a:t>课程章节</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课时</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主要学习内容</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extLst>
                  <a:ext uri="{0D108BD9-81ED-4DB2-BD59-A6C34878D82A}">
                    <a16:rowId xmlns:a16="http://schemas.microsoft.com/office/drawing/2014/main" val="1326853316"/>
                  </a:ext>
                </a:extLst>
              </a:tr>
              <a:tr h="564548">
                <a:tc>
                  <a:txBody>
                    <a:bodyPr/>
                    <a:lstStyle/>
                    <a:p>
                      <a:pPr algn="l">
                        <a:lnSpc>
                          <a:spcPct val="100000"/>
                        </a:lnSpc>
                      </a:pPr>
                      <a:r>
                        <a:rPr lang="en-US" sz="1800" b="1" kern="100" dirty="0">
                          <a:solidFill>
                            <a:schemeClr val="bg2"/>
                          </a:solidFill>
                          <a:effectLst/>
                          <a:latin typeface="+mn-lt"/>
                          <a:ea typeface="+mn-ea"/>
                          <a:cs typeface="+mn-cs"/>
                        </a:rPr>
                        <a:t>1. </a:t>
                      </a:r>
                      <a:r>
                        <a:rPr lang="zh-CN" altLang="en-US" sz="1800" b="1" kern="100" dirty="0">
                          <a:solidFill>
                            <a:schemeClr val="bg2"/>
                          </a:solidFill>
                          <a:effectLst/>
                          <a:latin typeface="+mn-lt"/>
                          <a:ea typeface="+mn-ea"/>
                          <a:cs typeface="+mn-cs"/>
                        </a:rPr>
                        <a:t>计算机编程与开发环境</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6</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1.</a:t>
                      </a:r>
                      <a:r>
                        <a:rPr lang="zh-CN" altLang="en-US" sz="1800" b="1" kern="100" dirty="0">
                          <a:solidFill>
                            <a:schemeClr val="bg2"/>
                          </a:solidFill>
                          <a:effectLst/>
                          <a:latin typeface="+mn-lt"/>
                          <a:ea typeface="+mn-ea"/>
                          <a:cs typeface="+mn-cs"/>
                        </a:rPr>
                        <a:t> 计算机原理与程序设计概述；</a:t>
                      </a:r>
                      <a:r>
                        <a:rPr lang="en-US" altLang="zh-CN" sz="1800" b="1" kern="100" dirty="0">
                          <a:solidFill>
                            <a:schemeClr val="bg2"/>
                          </a:solidFill>
                          <a:effectLst/>
                          <a:latin typeface="+mn-lt"/>
                          <a:ea typeface="+mn-ea"/>
                          <a:cs typeface="+mn-cs"/>
                        </a:rPr>
                        <a:t>2. </a:t>
                      </a:r>
                      <a:r>
                        <a:rPr lang="en-US" sz="1800" b="1" kern="100" dirty="0">
                          <a:solidFill>
                            <a:schemeClr val="bg2"/>
                          </a:solidFill>
                          <a:effectLst/>
                          <a:latin typeface="+mn-lt"/>
                          <a:ea typeface="+mn-ea"/>
                          <a:cs typeface="+mn-cs"/>
                        </a:rPr>
                        <a:t>python</a:t>
                      </a:r>
                      <a:r>
                        <a:rPr lang="zh-CN" altLang="en-US" sz="1800" b="1" kern="100" dirty="0">
                          <a:solidFill>
                            <a:schemeClr val="bg2"/>
                          </a:solidFill>
                          <a:effectLst/>
                          <a:latin typeface="+mn-lt"/>
                          <a:ea typeface="+mn-ea"/>
                          <a:cs typeface="+mn-cs"/>
                        </a:rPr>
                        <a:t>简介</a:t>
                      </a:r>
                      <a:r>
                        <a:rPr lang="zh-CN" altLang="en-CN" sz="1800" b="1" kern="100" dirty="0">
                          <a:solidFill>
                            <a:schemeClr val="bg2"/>
                          </a:solidFill>
                          <a:effectLst/>
                          <a:latin typeface="+mn-lt"/>
                          <a:ea typeface="+mn-ea"/>
                          <a:cs typeface="+mn-cs"/>
                        </a:rPr>
                        <a:t>及</a:t>
                      </a:r>
                      <a:r>
                        <a:rPr lang="zh-CN" altLang="en-US" sz="1800" b="1" kern="100" dirty="0">
                          <a:solidFill>
                            <a:schemeClr val="bg2"/>
                          </a:solidFill>
                          <a:effectLst/>
                          <a:latin typeface="+mn-lt"/>
                          <a:ea typeface="+mn-ea"/>
                          <a:cs typeface="+mn-cs"/>
                        </a:rPr>
                        <a:t>开发环境配置</a:t>
                      </a:r>
                      <a:endParaRPr lang="en-CN" sz="18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2201168347"/>
                  </a:ext>
                </a:extLst>
              </a:tr>
              <a:tr h="5755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00" dirty="0">
                          <a:solidFill>
                            <a:schemeClr val="bg2"/>
                          </a:solidFill>
                          <a:effectLst/>
                          <a:latin typeface="+mn-lt"/>
                          <a:ea typeface="+mn-ea"/>
                          <a:cs typeface="+mn-cs"/>
                        </a:rPr>
                        <a:t>2. </a:t>
                      </a:r>
                      <a:r>
                        <a:rPr lang="zh-CN" altLang="en-US" sz="1800" b="1" kern="100" dirty="0">
                          <a:solidFill>
                            <a:schemeClr val="bg2"/>
                          </a:solidFill>
                          <a:effectLst/>
                          <a:latin typeface="+mn-lt"/>
                          <a:ea typeface="+mn-ea"/>
                          <a:cs typeface="+mn-cs"/>
                        </a:rPr>
                        <a:t>函数与模块化编程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1. </a:t>
                      </a:r>
                      <a:r>
                        <a:rPr lang="zh-CN" altLang="en-US" sz="1800" b="1" kern="100" dirty="0">
                          <a:solidFill>
                            <a:schemeClr val="bg2"/>
                          </a:solidFill>
                          <a:effectLst/>
                          <a:latin typeface="+mn-lt"/>
                          <a:ea typeface="+mn-ea"/>
                          <a:cs typeface="+mn-cs"/>
                        </a:rPr>
                        <a:t>函数、模块与包概念；</a:t>
                      </a:r>
                      <a:r>
                        <a:rPr lang="en-US" altLang="zh-CN" sz="1800" b="1" kern="100" dirty="0">
                          <a:solidFill>
                            <a:schemeClr val="bg2"/>
                          </a:solidFill>
                          <a:effectLst/>
                          <a:latin typeface="+mn-lt"/>
                          <a:ea typeface="+mn-ea"/>
                          <a:cs typeface="+mn-cs"/>
                        </a:rPr>
                        <a:t>2. python</a:t>
                      </a:r>
                      <a:r>
                        <a:rPr lang="zh-CN" altLang="en-US" sz="1800" b="1" kern="100" dirty="0">
                          <a:solidFill>
                            <a:schemeClr val="bg2"/>
                          </a:solidFill>
                          <a:effectLst/>
                          <a:latin typeface="+mn-lt"/>
                          <a:ea typeface="+mn-ea"/>
                          <a:cs typeface="+mn-cs"/>
                        </a:rPr>
                        <a:t>内置函数与标准库；</a:t>
                      </a:r>
                      <a:r>
                        <a:rPr lang="en-US" altLang="zh-CN" sz="1800" b="1" kern="100" dirty="0">
                          <a:solidFill>
                            <a:schemeClr val="bg2"/>
                          </a:solidFill>
                          <a:effectLst/>
                          <a:latin typeface="+mn-lt"/>
                          <a:ea typeface="+mn-ea"/>
                          <a:cs typeface="+mn-cs"/>
                        </a:rPr>
                        <a:t>3. python</a:t>
                      </a:r>
                      <a:r>
                        <a:rPr lang="zh-CN" altLang="en-US" sz="1800" b="1" kern="100" dirty="0">
                          <a:solidFill>
                            <a:schemeClr val="bg2"/>
                          </a:solidFill>
                          <a:effectLst/>
                          <a:latin typeface="+mn-lt"/>
                          <a:ea typeface="+mn-ea"/>
                          <a:cs typeface="+mn-cs"/>
                        </a:rPr>
                        <a:t>第三方库</a:t>
                      </a:r>
                      <a:r>
                        <a:rPr lang="en-CN" altLang="zh-CN" sz="1800" b="1" kern="100" dirty="0">
                          <a:solidFill>
                            <a:schemeClr val="bg2"/>
                          </a:solidFill>
                          <a:effectLst/>
                          <a:latin typeface="+mn-lt"/>
                          <a:ea typeface="+mn-ea"/>
                          <a:cs typeface="+mn-cs"/>
                        </a:rPr>
                        <a:t> </a:t>
                      </a:r>
                    </a:p>
                  </a:txBody>
                  <a:tcPr marL="61879" marR="61879" marT="0" marB="0" anchor="ctr"/>
                </a:tc>
                <a:extLst>
                  <a:ext uri="{0D108BD9-81ED-4DB2-BD59-A6C34878D82A}">
                    <a16:rowId xmlns:a16="http://schemas.microsoft.com/office/drawing/2014/main" val="1935547647"/>
                  </a:ext>
                </a:extLst>
              </a:tr>
              <a:tr h="510704">
                <a:tc>
                  <a:txBody>
                    <a:bodyPr/>
                    <a:lstStyle/>
                    <a:p>
                      <a:pPr algn="l">
                        <a:lnSpc>
                          <a:spcPct val="100000"/>
                        </a:lnSpc>
                      </a:pPr>
                      <a:r>
                        <a:rPr lang="en-US"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面向对象编程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面向对象编程概念；</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类与对象；</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类继承</a:t>
                      </a:r>
                      <a:endParaRPr lang="en-CN" altLang="zh-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559224750"/>
                  </a:ext>
                </a:extLst>
              </a:tr>
              <a:tr h="742558">
                <a:tc>
                  <a:txBody>
                    <a:bodyPr/>
                    <a:lstStyle/>
                    <a:p>
                      <a:pPr algn="l">
                        <a:lnSpc>
                          <a:spcPct val="100000"/>
                        </a:lnSpc>
                      </a:pPr>
                      <a:r>
                        <a:rPr lang="en-US" altLang="zh-CN" sz="1800" b="1" kern="100" dirty="0">
                          <a:solidFill>
                            <a:schemeClr val="bg2"/>
                          </a:solidFill>
                          <a:effectLst/>
                          <a:latin typeface="+mn-lt"/>
                          <a:ea typeface="+mn-ea"/>
                          <a:cs typeface="+mn-cs"/>
                        </a:rPr>
                        <a:t>4.</a:t>
                      </a:r>
                      <a:r>
                        <a:rPr lang="zh-CN" altLang="en-US" sz="1800" b="1" kern="100" dirty="0">
                          <a:solidFill>
                            <a:schemeClr val="bg2"/>
                          </a:solidFill>
                          <a:effectLst/>
                          <a:latin typeface="+mn-lt"/>
                          <a:ea typeface="+mn-ea"/>
                          <a:cs typeface="+mn-cs"/>
                        </a:rPr>
                        <a:t> 云端遥感数据获取与处理</a:t>
                      </a:r>
                      <a:endParaRPr lang="en-CN" sz="18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sz="1800" b="1" kern="100" dirty="0">
                          <a:solidFill>
                            <a:schemeClr val="bg2"/>
                          </a:solidFill>
                          <a:effectLst/>
                          <a:latin typeface="+mn-lt"/>
                          <a:ea typeface="+mn-ea"/>
                          <a:cs typeface="+mn-cs"/>
                        </a:rPr>
                        <a:t>1. </a:t>
                      </a:r>
                      <a:r>
                        <a:rPr lang="en-US" altLang="zh-CN" sz="1800" b="1" kern="100" dirty="0">
                          <a:solidFill>
                            <a:schemeClr val="bg2"/>
                          </a:solidFill>
                          <a:effectLst/>
                          <a:latin typeface="+mn-lt"/>
                          <a:ea typeface="+mn-ea"/>
                          <a:cs typeface="+mn-cs"/>
                        </a:rPr>
                        <a:t>GEE</a:t>
                      </a:r>
                      <a:r>
                        <a:rPr lang="zh-CN" altLang="en-US" sz="1800" b="1" kern="100" dirty="0">
                          <a:solidFill>
                            <a:schemeClr val="bg2"/>
                          </a:solidFill>
                          <a:effectLst/>
                          <a:latin typeface="+mn-lt"/>
                          <a:ea typeface="+mn-ea"/>
                          <a:cs typeface="+mn-cs"/>
                        </a:rPr>
                        <a:t>介绍；</a:t>
                      </a:r>
                      <a:r>
                        <a:rPr lang="en-US" altLang="zh-CN" sz="1800" b="1" kern="100" dirty="0">
                          <a:solidFill>
                            <a:schemeClr val="bg2"/>
                          </a:solidFill>
                          <a:effectLst/>
                          <a:latin typeface="+mn-lt"/>
                          <a:ea typeface="+mn-ea"/>
                          <a:cs typeface="+mn-cs"/>
                        </a:rPr>
                        <a:t>2. </a:t>
                      </a:r>
                      <a:r>
                        <a:rPr lang="zh-CN" altLang="en-US" sz="1800" b="1" kern="100" dirty="0">
                          <a:solidFill>
                            <a:schemeClr val="bg2"/>
                          </a:solidFill>
                          <a:effectLst/>
                          <a:latin typeface="+mn-lt"/>
                          <a:ea typeface="+mn-ea"/>
                          <a:cs typeface="+mn-cs"/>
                        </a:rPr>
                        <a:t>遥感影像检索；</a:t>
                      </a:r>
                      <a:r>
                        <a:rPr lang="en-US" altLang="zh-CN"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遥感影像获取</a:t>
                      </a:r>
                      <a:endParaRPr lang="en-CN" sz="18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3936300217"/>
                  </a:ext>
                </a:extLst>
              </a:tr>
              <a:tr h="730688">
                <a:tc>
                  <a:txBody>
                    <a:bodyPr/>
                    <a:lstStyle/>
                    <a:p>
                      <a:pPr algn="l">
                        <a:lnSpc>
                          <a:spcPct val="100000"/>
                        </a:lnSpc>
                      </a:pPr>
                      <a:r>
                        <a:rPr lang="en-US" sz="1800" b="1" kern="100" dirty="0">
                          <a:solidFill>
                            <a:schemeClr val="accent2"/>
                          </a:solidFill>
                          <a:effectLst/>
                          <a:latin typeface="+mn-lt"/>
                          <a:ea typeface="+mn-ea"/>
                          <a:cs typeface="+mn-cs"/>
                        </a:rPr>
                        <a:t>5. </a:t>
                      </a:r>
                      <a:r>
                        <a:rPr lang="zh-CN" altLang="en-US" sz="1800" b="1" kern="100" dirty="0">
                          <a:solidFill>
                            <a:schemeClr val="accent2"/>
                          </a:solidFill>
                          <a:effectLst/>
                          <a:latin typeface="+mn-lt"/>
                          <a:ea typeface="+mn-ea"/>
                          <a:cs typeface="+mn-cs"/>
                        </a:rPr>
                        <a:t>遥感影像数据处理程序设计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遥感影像数据读写；</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遥感影像与矢量数据转换；</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遥感影像基本处理与信息提取</a:t>
                      </a:r>
                      <a:endParaRPr lang="en-US" altLang="zh-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4199274661"/>
                  </a:ext>
                </a:extLst>
              </a:tr>
              <a:tr h="743782">
                <a:tc>
                  <a:txBody>
                    <a:bodyPr/>
                    <a:lstStyle/>
                    <a:p>
                      <a:pPr algn="l">
                        <a:lnSpc>
                          <a:spcPct val="100000"/>
                        </a:lnSpc>
                      </a:pPr>
                      <a:r>
                        <a:rPr lang="en-US" sz="1800" b="1" kern="100" dirty="0">
                          <a:solidFill>
                            <a:schemeClr val="accent2"/>
                          </a:solidFill>
                          <a:effectLst/>
                          <a:latin typeface="+mn-lt"/>
                          <a:ea typeface="+mn-ea"/>
                          <a:cs typeface="+mn-cs"/>
                        </a:rPr>
                        <a:t>6. </a:t>
                      </a:r>
                      <a:r>
                        <a:rPr lang="zh-CN" altLang="en-US" sz="1800" b="1" kern="100" dirty="0">
                          <a:solidFill>
                            <a:schemeClr val="accent2"/>
                          </a:solidFill>
                          <a:effectLst/>
                          <a:latin typeface="+mn-lt"/>
                          <a:ea typeface="+mn-ea"/>
                          <a:cs typeface="+mn-cs"/>
                        </a:rPr>
                        <a:t>雷达卫星测高数据处理程序设计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雷达测高数据介绍；</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雷达卫星测高数据获取；</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雷达测高数据基本处理</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269408731"/>
                  </a:ext>
                </a:extLst>
              </a:tr>
              <a:tr h="720090">
                <a:tc>
                  <a:txBody>
                    <a:bodyPr/>
                    <a:lstStyle/>
                    <a:p>
                      <a:pPr algn="l">
                        <a:lnSpc>
                          <a:spcPct val="100000"/>
                        </a:lnSpc>
                      </a:pPr>
                      <a:r>
                        <a:rPr lang="en-US" sz="1800" b="1" kern="100" dirty="0">
                          <a:solidFill>
                            <a:schemeClr val="accent2"/>
                          </a:solidFill>
                          <a:effectLst/>
                          <a:latin typeface="+mn-lt"/>
                          <a:ea typeface="+mn-ea"/>
                          <a:cs typeface="+mn-cs"/>
                        </a:rPr>
                        <a:t>7. </a:t>
                      </a:r>
                      <a:r>
                        <a:rPr lang="zh-CN" altLang="en-US" sz="1800" b="1" kern="100" dirty="0">
                          <a:solidFill>
                            <a:schemeClr val="accent2"/>
                          </a:solidFill>
                          <a:effectLst/>
                          <a:latin typeface="+mn-lt"/>
                          <a:ea typeface="+mn-ea"/>
                          <a:cs typeface="+mn-cs"/>
                        </a:rPr>
                        <a:t>激光卫星测高数据处理程序设计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a:t>
                      </a:r>
                      <a:r>
                        <a:rPr lang="zh-CN" altLang="en-US" sz="1800" b="1" kern="100" dirty="0">
                          <a:solidFill>
                            <a:schemeClr val="accent2"/>
                          </a:solidFill>
                          <a:effectLst/>
                          <a:latin typeface="+mn-lt"/>
                          <a:ea typeface="+mn-ea"/>
                          <a:cs typeface="+mn-cs"/>
                        </a:rPr>
                        <a:t> 激光测高数据介绍；</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激光测高数据获取及基本处理</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353450156"/>
                  </a:ext>
                </a:extLst>
              </a:tr>
            </a:tbl>
          </a:graphicData>
        </a:graphic>
      </p:graphicFrame>
      <p:sp>
        <p:nvSpPr>
          <p:cNvPr id="5" name="TextBox 4">
            <a:extLst>
              <a:ext uri="{FF2B5EF4-FFF2-40B4-BE49-F238E27FC236}">
                <a16:creationId xmlns:a16="http://schemas.microsoft.com/office/drawing/2014/main" id="{BC5FF876-BAD9-831B-5D16-B8A194404EC3}"/>
              </a:ext>
            </a:extLst>
          </p:cNvPr>
          <p:cNvSpPr txBox="1"/>
          <p:nvPr/>
        </p:nvSpPr>
        <p:spPr>
          <a:xfrm>
            <a:off x="258408" y="4775002"/>
            <a:ext cx="860368" cy="461665"/>
          </a:xfrm>
          <a:prstGeom prst="rect">
            <a:avLst/>
          </a:prstGeom>
          <a:solidFill>
            <a:schemeClr val="tx1">
              <a:lumMod val="95000"/>
            </a:schemeClr>
          </a:solidFill>
          <a:ln w="28575">
            <a:solidFill>
              <a:schemeClr val="accent5"/>
            </a:solidFill>
          </a:ln>
        </p:spPr>
        <p:txBody>
          <a:bodyPr wrap="square" rtlCol="0">
            <a:spAutoFit/>
          </a:bodyPr>
          <a:lstStyle/>
          <a:p>
            <a:pPr>
              <a:defRPr/>
            </a:pPr>
            <a:r>
              <a:rPr lang="en-CN" b="1" dirty="0">
                <a:solidFill>
                  <a:srgbClr val="C00000"/>
                </a:solidFill>
                <a:latin typeface="微软雅黑"/>
                <a:ea typeface="微软雅黑"/>
              </a:rPr>
              <a:t>重点</a:t>
            </a:r>
          </a:p>
        </p:txBody>
      </p:sp>
      <p:cxnSp>
        <p:nvCxnSpPr>
          <p:cNvPr id="8" name="Straight Arrow Connector 7">
            <a:extLst>
              <a:ext uri="{FF2B5EF4-FFF2-40B4-BE49-F238E27FC236}">
                <a16:creationId xmlns:a16="http://schemas.microsoft.com/office/drawing/2014/main" id="{C30CF5BA-5B85-2701-802B-080C5479983B}"/>
              </a:ext>
            </a:extLst>
          </p:cNvPr>
          <p:cNvCxnSpPr>
            <a:cxnSpLocks/>
            <a:stCxn id="5" idx="3"/>
          </p:cNvCxnSpPr>
          <p:nvPr/>
        </p:nvCxnSpPr>
        <p:spPr bwMode="auto">
          <a:xfrm flipV="1">
            <a:off x="1118779" y="4905194"/>
            <a:ext cx="668855" cy="100638"/>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61FE32FD-85BF-3416-7A3E-1F786B0E4F08}"/>
              </a:ext>
            </a:extLst>
          </p:cNvPr>
          <p:cNvCxnSpPr>
            <a:cxnSpLocks/>
            <a:stCxn id="5" idx="3"/>
          </p:cNvCxnSpPr>
          <p:nvPr/>
        </p:nvCxnSpPr>
        <p:spPr bwMode="auto">
          <a:xfrm>
            <a:off x="1118776" y="5005835"/>
            <a:ext cx="690335" cy="559950"/>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E7B27204-E405-C893-F50C-724423627215}"/>
              </a:ext>
            </a:extLst>
          </p:cNvPr>
          <p:cNvCxnSpPr>
            <a:cxnSpLocks/>
            <a:stCxn id="5" idx="3"/>
          </p:cNvCxnSpPr>
          <p:nvPr/>
        </p:nvCxnSpPr>
        <p:spPr bwMode="auto">
          <a:xfrm>
            <a:off x="1118776" y="5005835"/>
            <a:ext cx="661699" cy="1772466"/>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1112527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7087" y="8526"/>
            <a:ext cx="10450288" cy="792162"/>
          </a:xfrm>
        </p:spPr>
        <p:txBody>
          <a:bodyPr/>
          <a:lstStyle/>
          <a:p>
            <a:r>
              <a:rPr lang="zh-CN" altLang="en-US" dirty="0">
                <a:latin typeface="+mn-ea"/>
              </a:rPr>
              <a:t>课程简介及考核</a:t>
            </a:r>
            <a:endParaRPr lang="zh-CN" altLang="en-US" dirty="0"/>
          </a:p>
        </p:txBody>
      </p:sp>
      <p:sp>
        <p:nvSpPr>
          <p:cNvPr id="6" name="TextBox 5">
            <a:extLst>
              <a:ext uri="{FF2B5EF4-FFF2-40B4-BE49-F238E27FC236}">
                <a16:creationId xmlns:a16="http://schemas.microsoft.com/office/drawing/2014/main" id="{C327131E-B49C-7E40-81DE-8E289A5DC36B}"/>
              </a:ext>
            </a:extLst>
          </p:cNvPr>
          <p:cNvSpPr txBox="1"/>
          <p:nvPr/>
        </p:nvSpPr>
        <p:spPr>
          <a:xfrm>
            <a:off x="502556" y="918293"/>
            <a:ext cx="11334749" cy="1323439"/>
          </a:xfrm>
          <a:prstGeom prst="rect">
            <a:avLst/>
          </a:prstGeom>
          <a:noFill/>
        </p:spPr>
        <p:txBody>
          <a:bodyPr wrap="square" rtlCol="0">
            <a:spAutoFit/>
          </a:bodyPr>
          <a:lstStyle/>
          <a:p>
            <a:pPr algn="just">
              <a:defRPr/>
            </a:pPr>
            <a:r>
              <a:rPr lang="en-US" altLang="zh-CN" sz="3200" b="1" dirty="0">
                <a:solidFill>
                  <a:srgbClr val="333333"/>
                </a:solidFill>
                <a:latin typeface="微软雅黑"/>
                <a:ea typeface="微软雅黑"/>
              </a:rPr>
              <a:t>4.</a:t>
            </a:r>
            <a:r>
              <a:rPr lang="zh-CN" altLang="en-US" sz="3200" b="1" dirty="0">
                <a:solidFill>
                  <a:srgbClr val="333333"/>
                </a:solidFill>
                <a:latin typeface="微软雅黑"/>
                <a:ea typeface="微软雅黑"/>
              </a:rPr>
              <a:t> 教学方式</a:t>
            </a:r>
            <a:endParaRPr lang="en-US" altLang="zh-CN" sz="3200" b="1" dirty="0">
              <a:solidFill>
                <a:srgbClr val="333333"/>
              </a:solidFill>
              <a:latin typeface="微软雅黑"/>
              <a:ea typeface="微软雅黑"/>
            </a:endParaRPr>
          </a:p>
          <a:p>
            <a:pPr marL="0" marR="0" lvl="0" indent="0" algn="l" defTabSz="914400" rtl="0" eaLnBrk="1" fontAlgn="base" latinLnBrk="0" hangingPunct="1">
              <a:spcBef>
                <a:spcPct val="50000"/>
              </a:spcBef>
              <a:spcAft>
                <a:spcPct val="0"/>
              </a:spcAft>
              <a:buClrTx/>
              <a:buSzTx/>
              <a:buFontTx/>
              <a:buNone/>
              <a:tabLst/>
              <a:defRPr/>
            </a:pPr>
            <a:r>
              <a:rPr kumimoji="0" lang="zh-CN" altLang="en-US" sz="3200" b="1" i="0" u="none" strike="noStrike" kern="1200" cap="none" spc="0" normalizeH="0" baseline="0" noProof="0" dirty="0">
                <a:ln>
                  <a:noFill/>
                </a:ln>
                <a:solidFill>
                  <a:srgbClr val="C00000"/>
                </a:solidFill>
                <a:effectLst/>
                <a:uLnTx/>
                <a:uFillTx/>
                <a:latin typeface="微软雅黑"/>
                <a:ea typeface="微软雅黑"/>
              </a:rPr>
              <a:t>理论课</a:t>
            </a:r>
            <a:r>
              <a:rPr kumimoji="0" lang="zh-CN" altLang="en-US" sz="3200" b="0" i="0" u="none" strike="noStrike" kern="1200" cap="none" spc="0" normalizeH="0" baseline="0" noProof="0" dirty="0">
                <a:ln>
                  <a:noFill/>
                </a:ln>
                <a:solidFill>
                  <a:srgbClr val="333333"/>
                </a:solidFill>
                <a:effectLst/>
                <a:uLnTx/>
                <a:uFillTx/>
                <a:latin typeface="微软雅黑"/>
                <a:ea typeface="微软雅黑"/>
              </a:rPr>
              <a:t>（</a:t>
            </a:r>
            <a:r>
              <a:rPr kumimoji="0" lang="en-US" altLang="zh-CN" sz="3200" b="0" i="0" u="none" strike="noStrike" kern="1200" cap="none" spc="0" normalizeH="0" baseline="0" noProof="0" dirty="0">
                <a:ln>
                  <a:noFill/>
                </a:ln>
                <a:solidFill>
                  <a:srgbClr val="333333"/>
                </a:solidFill>
                <a:effectLst/>
                <a:uLnTx/>
                <a:uFillTx/>
                <a:latin typeface="微软雅黑"/>
                <a:ea typeface="微软雅黑"/>
              </a:rPr>
              <a:t>36</a:t>
            </a:r>
            <a:r>
              <a:rPr kumimoji="0" lang="zh-CN" altLang="en-US" sz="3200" b="0" i="0" u="none" strike="noStrike" kern="1200" cap="none" spc="0" normalizeH="0" baseline="0" noProof="0" dirty="0">
                <a:ln>
                  <a:noFill/>
                </a:ln>
                <a:solidFill>
                  <a:srgbClr val="333333"/>
                </a:solidFill>
                <a:effectLst/>
                <a:uLnTx/>
                <a:uFillTx/>
                <a:latin typeface="微软雅黑"/>
                <a:ea typeface="微软雅黑"/>
              </a:rPr>
              <a:t>学时），</a:t>
            </a:r>
            <a:r>
              <a:rPr kumimoji="0" lang="zh-CN" altLang="en-US" sz="3200" b="0" i="0" u="sng" strike="noStrike" kern="1200" cap="none" spc="0" normalizeH="0" baseline="0" noProof="0" dirty="0">
                <a:ln>
                  <a:noFill/>
                </a:ln>
                <a:solidFill>
                  <a:srgbClr val="333333"/>
                </a:solidFill>
                <a:effectLst/>
                <a:uLnTx/>
                <a:uFillTx/>
                <a:latin typeface="微软雅黑"/>
                <a:ea typeface="微软雅黑"/>
              </a:rPr>
              <a:t>课堂学习需携带电脑</a:t>
            </a:r>
            <a:endParaRPr kumimoji="0" lang="en-US" altLang="zh-CN" sz="3200" b="0" i="0" u="sng" strike="noStrike" kern="1200" cap="none" spc="0" normalizeH="0" baseline="0" noProof="0" dirty="0">
              <a:ln>
                <a:noFill/>
              </a:ln>
              <a:solidFill>
                <a:srgbClr val="333333"/>
              </a:solidFill>
              <a:effectLst/>
              <a:uLnTx/>
              <a:uFillTx/>
              <a:latin typeface="微软雅黑"/>
              <a:ea typeface="微软雅黑"/>
            </a:endParaRPr>
          </a:p>
        </p:txBody>
      </p:sp>
      <p:pic>
        <p:nvPicPr>
          <p:cNvPr id="7" name="图片 6">
            <a:extLst>
              <a:ext uri="{FF2B5EF4-FFF2-40B4-BE49-F238E27FC236}">
                <a16:creationId xmlns:a16="http://schemas.microsoft.com/office/drawing/2014/main" id="{EF385B78-0BB0-6502-43EC-3EF078061B89}"/>
              </a:ext>
            </a:extLst>
          </p:cNvPr>
          <p:cNvPicPr>
            <a:picLocks noChangeAspect="1"/>
          </p:cNvPicPr>
          <p:nvPr/>
        </p:nvPicPr>
        <p:blipFill>
          <a:blip r:embed="rId3"/>
          <a:stretch>
            <a:fillRect/>
          </a:stretch>
        </p:blipFill>
        <p:spPr>
          <a:xfrm>
            <a:off x="2027860" y="2345517"/>
            <a:ext cx="7542099" cy="3905424"/>
          </a:xfrm>
          <a:prstGeom prst="rect">
            <a:avLst/>
          </a:prstGeom>
        </p:spPr>
      </p:pic>
      <p:sp>
        <p:nvSpPr>
          <p:cNvPr id="8" name="文本框 7">
            <a:extLst>
              <a:ext uri="{FF2B5EF4-FFF2-40B4-BE49-F238E27FC236}">
                <a16:creationId xmlns:a16="http://schemas.microsoft.com/office/drawing/2014/main" id="{ED095123-832A-2B7E-22BD-07C1E7B40336}"/>
              </a:ext>
            </a:extLst>
          </p:cNvPr>
          <p:cNvSpPr txBox="1"/>
          <p:nvPr/>
        </p:nvSpPr>
        <p:spPr>
          <a:xfrm>
            <a:off x="334736" y="6318441"/>
            <a:ext cx="11334749" cy="461665"/>
          </a:xfrm>
          <a:prstGeom prst="rect">
            <a:avLst/>
          </a:prstGeom>
          <a:noFill/>
        </p:spPr>
        <p:txBody>
          <a:bodyPr wrap="square" rtlCol="0">
            <a:spAutoFit/>
          </a:bodyPr>
          <a:lstStyle/>
          <a:p>
            <a:r>
              <a:rPr lang="zh-CN" altLang="en-US" b="1" dirty="0">
                <a:solidFill>
                  <a:schemeClr val="bg2"/>
                </a:solidFill>
                <a:latin typeface="+mn-ea"/>
                <a:ea typeface="+mn-ea"/>
              </a:rPr>
              <a:t>课程资料：</a:t>
            </a:r>
            <a:r>
              <a:rPr lang="en-US" altLang="zh-CN" b="1" dirty="0">
                <a:solidFill>
                  <a:schemeClr val="bg2"/>
                </a:solidFill>
                <a:latin typeface="+mn-ea"/>
                <a:ea typeface="+mn-ea"/>
              </a:rPr>
              <a:t> https://github.com/xinluo2018/rs-data-processing</a:t>
            </a:r>
            <a:endParaRPr lang="zh-CN" altLang="en-US" b="1" dirty="0">
              <a:solidFill>
                <a:schemeClr val="bg2"/>
              </a:solidFill>
              <a:latin typeface="+mn-ea"/>
              <a:ea typeface="+mn-ea"/>
            </a:endParaRPr>
          </a:p>
        </p:txBody>
      </p:sp>
    </p:spTree>
    <p:extLst>
      <p:ext uri="{BB962C8B-B14F-4D97-AF65-F5344CB8AC3E}">
        <p14:creationId xmlns:p14="http://schemas.microsoft.com/office/powerpoint/2010/main" val="160280806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96948-34C1-5972-890C-2D36CFC1AB9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DC6895B-2205-D643-762B-923CF3C2E1BC}"/>
              </a:ext>
            </a:extLst>
          </p:cNvPr>
          <p:cNvSpPr>
            <a:spLocks noGrp="1"/>
          </p:cNvSpPr>
          <p:nvPr>
            <p:ph type="title"/>
          </p:nvPr>
        </p:nvSpPr>
        <p:spPr>
          <a:xfrm>
            <a:off x="87087" y="8526"/>
            <a:ext cx="10450288" cy="792162"/>
          </a:xfrm>
        </p:spPr>
        <p:txBody>
          <a:bodyPr/>
          <a:lstStyle/>
          <a:p>
            <a:r>
              <a:rPr lang="zh-CN" altLang="en-US" dirty="0">
                <a:latin typeface="+mn-ea"/>
              </a:rPr>
              <a:t>课程简介及考核</a:t>
            </a:r>
            <a:endParaRPr lang="zh-CN" altLang="en-US" dirty="0"/>
          </a:p>
        </p:txBody>
      </p:sp>
      <p:graphicFrame>
        <p:nvGraphicFramePr>
          <p:cNvPr id="4" name="Table 3">
            <a:extLst>
              <a:ext uri="{FF2B5EF4-FFF2-40B4-BE49-F238E27FC236}">
                <a16:creationId xmlns:a16="http://schemas.microsoft.com/office/drawing/2014/main" id="{24F19010-4504-BBA2-53D4-783264F8FF5D}"/>
              </a:ext>
            </a:extLst>
          </p:cNvPr>
          <p:cNvGraphicFramePr>
            <a:graphicFrameLocks noGrp="1"/>
          </p:cNvGraphicFramePr>
          <p:nvPr>
            <p:extLst>
              <p:ext uri="{D42A27DB-BD31-4B8C-83A1-F6EECF244321}">
                <p14:modId xmlns:p14="http://schemas.microsoft.com/office/powerpoint/2010/main" val="2597336993"/>
              </p:ext>
            </p:extLst>
          </p:nvPr>
        </p:nvGraphicFramePr>
        <p:xfrm>
          <a:off x="495301" y="1513832"/>
          <a:ext cx="11334747" cy="5129856"/>
        </p:xfrm>
        <a:graphic>
          <a:graphicData uri="http://schemas.openxmlformats.org/drawingml/2006/table">
            <a:tbl>
              <a:tblPr firstRow="1" firstCol="1" bandRow="1">
                <a:tableStyleId>{BDBED569-4797-4DF1-A0F4-6AAB3CD982D8}</a:tableStyleId>
              </a:tblPr>
              <a:tblGrid>
                <a:gridCol w="1385392">
                  <a:extLst>
                    <a:ext uri="{9D8B030D-6E8A-4147-A177-3AD203B41FA5}">
                      <a16:colId xmlns:a16="http://schemas.microsoft.com/office/drawing/2014/main" val="4047353125"/>
                    </a:ext>
                  </a:extLst>
                </a:gridCol>
                <a:gridCol w="1813977">
                  <a:extLst>
                    <a:ext uri="{9D8B030D-6E8A-4147-A177-3AD203B41FA5}">
                      <a16:colId xmlns:a16="http://schemas.microsoft.com/office/drawing/2014/main" val="4286512279"/>
                    </a:ext>
                  </a:extLst>
                </a:gridCol>
                <a:gridCol w="1035532">
                  <a:extLst>
                    <a:ext uri="{9D8B030D-6E8A-4147-A177-3AD203B41FA5}">
                      <a16:colId xmlns:a16="http://schemas.microsoft.com/office/drawing/2014/main" val="2269971301"/>
                    </a:ext>
                  </a:extLst>
                </a:gridCol>
                <a:gridCol w="7099846">
                  <a:extLst>
                    <a:ext uri="{9D8B030D-6E8A-4147-A177-3AD203B41FA5}">
                      <a16:colId xmlns:a16="http://schemas.microsoft.com/office/drawing/2014/main" val="307882658"/>
                    </a:ext>
                  </a:extLst>
                </a:gridCol>
              </a:tblGrid>
              <a:tr h="534987">
                <a:tc gridSpan="2">
                  <a:txBody>
                    <a:bodyPr/>
                    <a:lstStyle/>
                    <a:p>
                      <a:pPr algn="ctr">
                        <a:lnSpc>
                          <a:spcPct val="150000"/>
                        </a:lnSpc>
                      </a:pPr>
                      <a:r>
                        <a:rPr lang="zh-CN" sz="2400" kern="100" dirty="0">
                          <a:solidFill>
                            <a:schemeClr val="bg2"/>
                          </a:solidFill>
                          <a:effectLst/>
                        </a:rPr>
                        <a:t>组成</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pPr algn="ctr">
                        <a:lnSpc>
                          <a:spcPct val="150000"/>
                        </a:lnSpc>
                      </a:pPr>
                      <a:endParaRPr lang="en-CN" sz="20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400" kern="100" dirty="0">
                          <a:solidFill>
                            <a:schemeClr val="bg2"/>
                          </a:solidFill>
                          <a:effectLst/>
                        </a:rPr>
                        <a:t>占比</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a:txBody>
                    <a:bodyPr/>
                    <a:lstStyle/>
                    <a:p>
                      <a:pPr algn="ctr">
                        <a:lnSpc>
                          <a:spcPct val="150000"/>
                        </a:lnSpc>
                      </a:pPr>
                      <a:r>
                        <a:rPr lang="zh-CN" sz="2400" kern="100" dirty="0">
                          <a:solidFill>
                            <a:schemeClr val="bg2"/>
                          </a:solidFill>
                          <a:effectLst/>
                        </a:rPr>
                        <a:t>说明</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3371803423"/>
                  </a:ext>
                </a:extLst>
              </a:tr>
              <a:tr h="1141665">
                <a:tc rowSpan="3">
                  <a:txBody>
                    <a:bodyPr/>
                    <a:lstStyle/>
                    <a:p>
                      <a:pPr algn="ctr">
                        <a:lnSpc>
                          <a:spcPct val="100000"/>
                        </a:lnSpc>
                      </a:pPr>
                      <a:r>
                        <a:rPr lang="zh-CN" altLang="en-US" sz="2400" b="1" kern="100" dirty="0">
                          <a:solidFill>
                            <a:schemeClr val="bg2"/>
                          </a:solidFill>
                          <a:effectLst/>
                        </a:rPr>
                        <a:t>平时成绩</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00000"/>
                        </a:lnSpc>
                      </a:pPr>
                      <a:r>
                        <a:rPr lang="zh-CN" altLang="zh-CN" sz="2400" b="0" kern="100" dirty="0">
                          <a:solidFill>
                            <a:schemeClr val="bg2"/>
                          </a:solidFill>
                          <a:effectLst/>
                        </a:rPr>
                        <a:t>课堂表现</a:t>
                      </a:r>
                      <a:endParaRPr lang="en-CN" altLang="zh-CN" sz="2400" b="0" kern="100" dirty="0">
                        <a:solidFill>
                          <a:schemeClr val="bg2"/>
                        </a:solidFill>
                        <a:effectLst/>
                      </a:endParaRPr>
                    </a:p>
                    <a:p>
                      <a:pPr algn="ctr">
                        <a:lnSpc>
                          <a:spcPct val="100000"/>
                        </a:lnSpc>
                      </a:pPr>
                      <a:r>
                        <a:rPr lang="zh-CN" altLang="zh-CN" sz="2400" b="0" kern="100" dirty="0">
                          <a:solidFill>
                            <a:schemeClr val="bg2"/>
                          </a:solidFill>
                          <a:effectLst/>
                        </a:rPr>
                        <a:t>（个人）</a:t>
                      </a:r>
                      <a:endParaRPr lang="en-CN" altLang="zh-CN" sz="2400" b="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sz="2400" kern="100" dirty="0">
                          <a:solidFill>
                            <a:schemeClr val="bg2"/>
                          </a:solidFill>
                          <a:effectLst/>
                        </a:rPr>
                        <a:t>根据课程学习情况进行综合评分</a:t>
                      </a:r>
                      <a:r>
                        <a:rPr lang="zh-CN" altLang="en-US" sz="2400" kern="100" dirty="0">
                          <a:solidFill>
                            <a:schemeClr val="bg2"/>
                          </a:solidFill>
                          <a:effectLst/>
                        </a:rPr>
                        <a:t>（课堂出勤与课堂表现）</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8591504"/>
                  </a:ext>
                </a:extLst>
              </a:tr>
              <a:tr h="896449">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平时作业</a:t>
                      </a:r>
                      <a:endParaRPr lang="en-US" altLang="zh-CN" sz="2400" b="0" kern="100" dirty="0">
                        <a:solidFill>
                          <a:schemeClr val="bg2"/>
                        </a:solidFill>
                        <a:effectLst/>
                      </a:endParaRPr>
                    </a:p>
                    <a:p>
                      <a:pPr marL="0" algn="ctr" defTabSz="914400" rtl="0" eaLnBrk="1" latinLnBrk="0" hangingPunct="1">
                        <a:lnSpc>
                          <a:spcPct val="100000"/>
                        </a:lnSpc>
                      </a:pPr>
                      <a:r>
                        <a:rPr lang="zh-CN" altLang="en-US" sz="2400" b="0" kern="100" dirty="0">
                          <a:solidFill>
                            <a:schemeClr val="bg2"/>
                          </a:solidFill>
                          <a:effectLst/>
                        </a:rPr>
                        <a:t>（至少</a:t>
                      </a:r>
                      <a:r>
                        <a:rPr lang="en-US" altLang="zh-CN" sz="2400" b="0" kern="100" dirty="0">
                          <a:solidFill>
                            <a:schemeClr val="bg2"/>
                          </a:solidFill>
                          <a:effectLst/>
                        </a:rPr>
                        <a:t>2</a:t>
                      </a:r>
                      <a:r>
                        <a:rPr lang="zh-CN" altLang="en-US" sz="2400" b="0" kern="100" dirty="0">
                          <a:solidFill>
                            <a:schemeClr val="bg2"/>
                          </a:solidFill>
                          <a:effectLst/>
                        </a:rPr>
                        <a:t>次）</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altLang="zh-CN" sz="2400" b="1" kern="100" dirty="0">
                          <a:solidFill>
                            <a:srgbClr val="FF0000"/>
                          </a:solidFill>
                          <a:effectLst/>
                        </a:rPr>
                        <a:t>20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00000"/>
                        </a:lnSpc>
                      </a:pPr>
                      <a:r>
                        <a:rPr lang="zh-CN" altLang="en-US" sz="2400" kern="100" dirty="0">
                          <a:solidFill>
                            <a:schemeClr val="bg2"/>
                          </a:solidFill>
                          <a:effectLst/>
                        </a:rPr>
                        <a:t>三</a:t>
                      </a:r>
                      <a:r>
                        <a:rPr lang="zh-CN" sz="2400" kern="100" dirty="0">
                          <a:solidFill>
                            <a:schemeClr val="bg2"/>
                          </a:solidFill>
                          <a:effectLst/>
                        </a:rPr>
                        <a:t>次作业中选做</a:t>
                      </a:r>
                      <a:r>
                        <a:rPr lang="zh-CN" altLang="en-US" sz="2400" kern="100" dirty="0">
                          <a:solidFill>
                            <a:schemeClr val="bg2"/>
                          </a:solidFill>
                          <a:effectLst/>
                        </a:rPr>
                        <a:t>两</a:t>
                      </a:r>
                      <a:r>
                        <a:rPr lang="zh-CN" sz="2400" kern="100" dirty="0">
                          <a:solidFill>
                            <a:schemeClr val="bg2"/>
                          </a:solidFill>
                          <a:effectLst/>
                        </a:rPr>
                        <a:t>次完成，以技术报告形式提交。</a:t>
                      </a:r>
                      <a:r>
                        <a:rPr lang="zh-CN" altLang="en-US" sz="2400" kern="100" dirty="0">
                          <a:solidFill>
                            <a:schemeClr val="bg2"/>
                          </a:solidFill>
                          <a:effectLst/>
                        </a:rPr>
                        <a:t>每次作业</a:t>
                      </a:r>
                      <a:r>
                        <a:rPr lang="zh-CN" sz="2400" kern="100" dirty="0">
                          <a:solidFill>
                            <a:schemeClr val="bg2"/>
                          </a:solidFill>
                          <a:effectLst/>
                        </a:rPr>
                        <a:t>为</a:t>
                      </a:r>
                      <a:r>
                        <a:rPr lang="en-US" sz="2400" kern="100" dirty="0">
                          <a:solidFill>
                            <a:schemeClr val="bg2"/>
                          </a:solidFill>
                          <a:effectLst/>
                        </a:rPr>
                        <a:t>10</a:t>
                      </a:r>
                      <a:r>
                        <a:rPr lang="zh-CN" sz="2400" kern="100" dirty="0">
                          <a:solidFill>
                            <a:schemeClr val="bg2"/>
                          </a:solidFill>
                          <a:effectLst/>
                        </a:rPr>
                        <a:t>分。</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4283464346"/>
                  </a:ext>
                </a:extLst>
              </a:tr>
              <a:tr h="1747851">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实验报告</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altLang="en-US" sz="2400" kern="100" dirty="0">
                          <a:solidFill>
                            <a:schemeClr val="bg2"/>
                          </a:solidFill>
                          <a:effectLst/>
                          <a:latin typeface="+mn-lt"/>
                          <a:ea typeface="+mn-ea"/>
                          <a:cs typeface="+mn-cs"/>
                        </a:rPr>
                        <a:t>任选</a:t>
                      </a:r>
                      <a:r>
                        <a:rPr lang="en-US" sz="2400" kern="100" dirty="0">
                          <a:solidFill>
                            <a:schemeClr val="bg2"/>
                          </a:solidFill>
                          <a:effectLst/>
                          <a:latin typeface="+mn-lt"/>
                          <a:ea typeface="+mn-ea"/>
                          <a:cs typeface="+mn-cs"/>
                        </a:rPr>
                        <a:t>4</a:t>
                      </a:r>
                      <a:r>
                        <a:rPr lang="zh-CN" altLang="en-US" sz="2400" kern="100" dirty="0">
                          <a:solidFill>
                            <a:schemeClr val="bg2"/>
                          </a:solidFill>
                          <a:effectLst/>
                          <a:latin typeface="+mn-lt"/>
                          <a:ea typeface="+mn-ea"/>
                          <a:cs typeface="+mn-cs"/>
                        </a:rPr>
                        <a:t>次实验进行实验报告总结并汇总。每次实验课总结占</a:t>
                      </a:r>
                      <a:r>
                        <a:rPr lang="en-US" altLang="zh-CN" sz="2400" kern="100" dirty="0">
                          <a:solidFill>
                            <a:schemeClr val="bg2"/>
                          </a:solidFill>
                          <a:effectLst/>
                          <a:latin typeface="+mn-lt"/>
                          <a:ea typeface="+mn-ea"/>
                          <a:cs typeface="+mn-cs"/>
                        </a:rPr>
                        <a:t>5</a:t>
                      </a:r>
                      <a:r>
                        <a:rPr lang="zh-CN" altLang="en-US" sz="2400" kern="100" dirty="0">
                          <a:solidFill>
                            <a:schemeClr val="bg2"/>
                          </a:solidFill>
                          <a:effectLst/>
                          <a:latin typeface="+mn-lt"/>
                          <a:ea typeface="+mn-ea"/>
                          <a:cs typeface="+mn-cs"/>
                        </a:rPr>
                        <a:t>分，实验报告以</a:t>
                      </a:r>
                      <a:r>
                        <a:rPr lang="en-US" sz="2400" kern="100" dirty="0">
                          <a:solidFill>
                            <a:schemeClr val="bg2"/>
                          </a:solidFill>
                          <a:effectLst/>
                          <a:latin typeface="+mn-lt"/>
                          <a:ea typeface="+mn-ea"/>
                          <a:cs typeface="+mn-cs"/>
                        </a:rPr>
                        <a:t>word</a:t>
                      </a:r>
                      <a:r>
                        <a:rPr lang="zh-CN" altLang="en-US" sz="2400" kern="100" dirty="0">
                          <a:solidFill>
                            <a:schemeClr val="bg2"/>
                          </a:solidFill>
                          <a:effectLst/>
                          <a:latin typeface="+mn-lt"/>
                          <a:ea typeface="+mn-ea"/>
                          <a:cs typeface="+mn-cs"/>
                        </a:rPr>
                        <a:t>格式提交，要求格式规范、内容准确且实验流程细节充分。</a:t>
                      </a:r>
                      <a:r>
                        <a:rPr lang="en-CN" sz="2400" kern="100" dirty="0">
                          <a:solidFill>
                            <a:schemeClr val="bg2"/>
                          </a:solidFill>
                          <a:effectLst/>
                          <a:latin typeface="+mn-lt"/>
                          <a:ea typeface="+mn-ea"/>
                          <a:cs typeface="+mn-cs"/>
                        </a:rPr>
                        <a:t> </a:t>
                      </a: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69647440"/>
                  </a:ext>
                </a:extLst>
              </a:tr>
              <a:tr h="808904">
                <a:tc>
                  <a:txBody>
                    <a:bodyPr/>
                    <a:lstStyle/>
                    <a:p>
                      <a:pPr marL="0" algn="ctr" defTabSz="914400" rtl="0" eaLnBrk="1" latinLnBrk="0" hangingPunct="1">
                        <a:lnSpc>
                          <a:spcPct val="100000"/>
                        </a:lnSpc>
                      </a:pPr>
                      <a:r>
                        <a:rPr lang="zh-CN" altLang="en-US" sz="2400" b="1" kern="100" dirty="0">
                          <a:solidFill>
                            <a:schemeClr val="bg2"/>
                          </a:solidFill>
                          <a:effectLst/>
                        </a:rPr>
                        <a:t>期末开发实践</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gridSpan="2">
                  <a:txBody>
                    <a:bodyPr/>
                    <a:lstStyle/>
                    <a:p>
                      <a:pPr algn="ctr">
                        <a:lnSpc>
                          <a:spcPct val="150000"/>
                        </a:lnSpc>
                      </a:pPr>
                      <a:r>
                        <a:rPr lang="en-US" altLang="zh-CN" sz="2400" b="1" kern="100" dirty="0">
                          <a:solidFill>
                            <a:srgbClr val="FF0000"/>
                          </a:solidFill>
                          <a:effectLst/>
                        </a:rPr>
                        <a:t>40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endParaRPr dirty="0"/>
                    </a:p>
                  </a:txBody>
                  <a:tcPr marL="68580" marR="68580" marT="0" marB="0" anchor="ctr"/>
                </a:tc>
                <a:tc>
                  <a:txBody>
                    <a:bodyPr/>
                    <a:lstStyle/>
                    <a:p>
                      <a:pPr algn="just">
                        <a:lnSpc>
                          <a:spcPct val="150000"/>
                        </a:lnSpc>
                      </a:pPr>
                      <a:r>
                        <a:rPr lang="zh-CN" altLang="en-US" sz="2400" kern="100" dirty="0">
                          <a:solidFill>
                            <a:schemeClr val="bg2"/>
                          </a:solidFill>
                          <a:effectLst/>
                          <a:latin typeface="+mn-lt"/>
                          <a:ea typeface="+mn-ea"/>
                          <a:cs typeface="+mn-cs"/>
                        </a:rPr>
                        <a:t>期末考试，参考近三年计算机二级考试题库</a:t>
                      </a:r>
                      <a:endParaRPr lang="en-CN" sz="240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2481735153"/>
                  </a:ext>
                </a:extLst>
              </a:tr>
            </a:tbl>
          </a:graphicData>
        </a:graphic>
      </p:graphicFrame>
      <p:sp>
        <p:nvSpPr>
          <p:cNvPr id="6" name="TextBox 5">
            <a:extLst>
              <a:ext uri="{FF2B5EF4-FFF2-40B4-BE49-F238E27FC236}">
                <a16:creationId xmlns:a16="http://schemas.microsoft.com/office/drawing/2014/main" id="{3B21EC2E-2FC7-09C0-BB71-F60E63C18709}"/>
              </a:ext>
            </a:extLst>
          </p:cNvPr>
          <p:cNvSpPr txBox="1"/>
          <p:nvPr/>
        </p:nvSpPr>
        <p:spPr>
          <a:xfrm>
            <a:off x="495299" y="876922"/>
            <a:ext cx="11334749" cy="584775"/>
          </a:xfrm>
          <a:prstGeom prst="rect">
            <a:avLst/>
          </a:prstGeom>
          <a:noFill/>
        </p:spPr>
        <p:txBody>
          <a:bodyPr wrap="square" rtlCol="0">
            <a:spAutoFit/>
          </a:bodyPr>
          <a:lstStyle/>
          <a:p>
            <a:pPr algn="just">
              <a:defRPr/>
            </a:pPr>
            <a:r>
              <a:rPr lang="en-US" altLang="zh-CN" sz="3200" b="1" dirty="0">
                <a:solidFill>
                  <a:srgbClr val="333333"/>
                </a:solidFill>
                <a:latin typeface="微软雅黑"/>
                <a:ea typeface="微软雅黑"/>
              </a:rPr>
              <a:t>5.</a:t>
            </a:r>
            <a:r>
              <a:rPr lang="zh-CN" altLang="en-US" sz="3200" b="1" dirty="0">
                <a:solidFill>
                  <a:srgbClr val="333333"/>
                </a:solidFill>
                <a:latin typeface="微软雅黑"/>
                <a:ea typeface="微软雅黑"/>
              </a:rPr>
              <a:t> 考核及成绩</a:t>
            </a:r>
            <a:endParaRPr lang="en-US" altLang="zh-CN" sz="3200" b="1" dirty="0">
              <a:solidFill>
                <a:srgbClr val="333333"/>
              </a:solidFill>
              <a:latin typeface="微软雅黑"/>
              <a:ea typeface="微软雅黑"/>
            </a:endParaRPr>
          </a:p>
        </p:txBody>
      </p:sp>
    </p:spTree>
    <p:extLst>
      <p:ext uri="{BB962C8B-B14F-4D97-AF65-F5344CB8AC3E}">
        <p14:creationId xmlns:p14="http://schemas.microsoft.com/office/powerpoint/2010/main" val="116655812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4800" b="1" dirty="0">
                <a:solidFill>
                  <a:srgbClr val="FF0000"/>
                </a:solidFill>
                <a:latin typeface="微软雅黑"/>
                <a:ea typeface="微软雅黑"/>
              </a:rPr>
              <a:t>第一章 计算机编程与开发环境</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a:solidFill>
                  <a:prstClr val="black"/>
                </a:solidFill>
                <a:latin typeface="微软雅黑"/>
                <a:ea typeface="微软雅黑"/>
              </a:rPr>
              <a:t>邮箱</a:t>
            </a:r>
            <a:r>
              <a:rPr lang="en-CN" sz="2000">
                <a:solidFill>
                  <a:prstClr val="black"/>
                </a:solidFill>
                <a:latin typeface="微软雅黑"/>
                <a:ea typeface="微软雅黑"/>
              </a:rPr>
              <a:t>: xinluo_xin@ynu.edu.cn</a:t>
            </a:r>
          </a:p>
          <a:p>
            <a:pPr>
              <a:defRPr/>
            </a:pPr>
            <a:r>
              <a:rPr lang="en-CN" sz="2000">
                <a:solidFill>
                  <a:prstClr val="black"/>
                </a:solidFill>
                <a:latin typeface="微软雅黑"/>
                <a:ea typeface="微软雅黑"/>
              </a:rPr>
              <a:t>地址</a:t>
            </a:r>
            <a:r>
              <a:rPr lang="zh-CN" altLang="en-US" sz="2000">
                <a:solidFill>
                  <a:prstClr val="black"/>
                </a:solidFill>
                <a:latin typeface="微软雅黑"/>
                <a:ea typeface="微软雅黑"/>
              </a:rPr>
              <a:t>：地球科学学院</a:t>
            </a:r>
            <a:r>
              <a:rPr lang="en-US" altLang="zh-CN" sz="2000">
                <a:solidFill>
                  <a:prstClr val="black"/>
                </a:solidFill>
                <a:latin typeface="微软雅黑"/>
                <a:ea typeface="微软雅黑"/>
              </a:rPr>
              <a:t>1327</a:t>
            </a:r>
            <a:r>
              <a:rPr lang="zh-CN" altLang="en-US" sz="2000">
                <a:solidFill>
                  <a:prstClr val="black"/>
                </a:solidFill>
                <a:latin typeface="微软雅黑"/>
                <a:ea typeface="微软雅黑"/>
              </a:rPr>
              <a:t>办公室</a:t>
            </a:r>
            <a:endParaRPr lang="en-CN" sz="200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743692" y="243144"/>
            <a:ext cx="3716082"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编程基础</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zh-CN" altLang="en-US" sz="1800" b="1" dirty="0">
                <a:solidFill>
                  <a:schemeClr val="bg2"/>
                </a:solidFill>
                <a:latin typeface="+mn-ea"/>
                <a:ea typeface="+mn-ea"/>
              </a:rPr>
              <a:t>一</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3111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2161790" y="4583174"/>
            <a:ext cx="6916338" cy="772176"/>
            <a:chOff x="2121802" y="2115450"/>
            <a:chExt cx="5430801" cy="576000"/>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12" name="矩形 11"/>
            <p:cNvSpPr/>
            <p:nvPr/>
          </p:nvSpPr>
          <p:spPr>
            <a:xfrm>
              <a:off x="2697802" y="2173517"/>
              <a:ext cx="4854801" cy="436209"/>
            </a:xfrm>
            <a:prstGeom prst="rect">
              <a:avLst/>
            </a:prstGeom>
          </p:spPr>
          <p:txBody>
            <a:bodyPr wrap="square" anchor="ctr">
              <a:spAutoFit/>
            </a:bodyPr>
            <a:lstStyle/>
            <a:p>
              <a:pPr algn="l" fontAlgn="auto">
                <a:spcBef>
                  <a:spcPts val="0"/>
                </a:spcBef>
                <a:spcAft>
                  <a:spcPts val="0"/>
                </a:spcAft>
              </a:pPr>
              <a:r>
                <a:rPr lang="en-CN" altLang="zh-CN" sz="3200" b="1" dirty="0">
                  <a:solidFill>
                    <a:schemeClr val="accent1"/>
                  </a:solidFill>
                  <a:highlight>
                    <a:srgbClr val="FFFFFF"/>
                  </a:highlight>
                  <a:latin typeface="Arial"/>
                  <a:ea typeface="微软雅黑"/>
                </a:rPr>
                <a:t>Python</a:t>
              </a:r>
              <a:r>
                <a:rPr lang="zh-CN" altLang="en-CN" sz="3200" b="1" dirty="0">
                  <a:solidFill>
                    <a:schemeClr val="accent1"/>
                  </a:solidFill>
                  <a:highlight>
                    <a:srgbClr val="FFFFFF"/>
                  </a:highlight>
                  <a:latin typeface="Arial"/>
                  <a:ea typeface="微软雅黑"/>
                </a:rPr>
                <a:t>编程</a:t>
              </a:r>
              <a:r>
                <a:rPr lang="zh-CN" altLang="en-US" sz="3200" b="1" dirty="0">
                  <a:solidFill>
                    <a:schemeClr val="accent1"/>
                  </a:solidFill>
                  <a:highlight>
                    <a:srgbClr val="FFFFFF"/>
                  </a:highlight>
                  <a:latin typeface="Arial"/>
                  <a:ea typeface="微软雅黑"/>
                </a:rPr>
                <a:t>环境配置</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2161793" y="3327050"/>
            <a:ext cx="6403721" cy="717997"/>
            <a:chOff x="2121801" y="3511390"/>
            <a:chExt cx="5718901"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14" name="矩形 13"/>
            <p:cNvSpPr/>
            <p:nvPr/>
          </p:nvSpPr>
          <p:spPr>
            <a:xfrm>
              <a:off x="2777899" y="3560440"/>
              <a:ext cx="5062803" cy="469125"/>
            </a:xfrm>
            <a:prstGeom prst="rect">
              <a:avLst/>
            </a:prstGeom>
          </p:spPr>
          <p:txBody>
            <a:bodyPr wrap="square" anchor="ctr">
              <a:spAutoFit/>
            </a:bodyPr>
            <a:lstStyle/>
            <a:p>
              <a:pPr algn="l" fontAlgn="auto">
                <a:spcBef>
                  <a:spcPts val="0"/>
                </a:spcBef>
                <a:spcAft>
                  <a:spcPts val="0"/>
                </a:spcAft>
              </a:pPr>
              <a:r>
                <a:rPr lang="en-US" altLang="zh-CN" sz="3200" b="1" dirty="0">
                  <a:solidFill>
                    <a:schemeClr val="accent1"/>
                  </a:solidFill>
                  <a:highlight>
                    <a:srgbClr val="FFFFFF"/>
                  </a:highlight>
                  <a:latin typeface="Arial"/>
                  <a:ea typeface="微软雅黑"/>
                </a:rPr>
                <a:t>Python</a:t>
              </a:r>
              <a:r>
                <a:rPr lang="zh-CN" altLang="en-US" sz="3200" b="1" dirty="0">
                  <a:solidFill>
                    <a:schemeClr val="accent1"/>
                  </a:solidFill>
                  <a:highlight>
                    <a:srgbClr val="FFFFFF"/>
                  </a:highlight>
                  <a:latin typeface="Arial"/>
                  <a:ea typeface="微软雅黑"/>
                </a:rPr>
                <a:t>程序设计简介</a:t>
              </a:r>
              <a:endParaRPr lang="en-US" altLang="zh-CN" sz="3200" b="1" dirty="0">
                <a:solidFill>
                  <a:schemeClr val="accent1"/>
                </a:solidFill>
                <a:highlight>
                  <a:srgbClr val="FFFFFF"/>
                </a:highlight>
                <a:latin typeface="Arial"/>
                <a:ea typeface="微软雅黑"/>
              </a:endParaRPr>
            </a:p>
          </p:txBody>
        </p:sp>
      </p:grpSp>
      <p:sp>
        <p:nvSpPr>
          <p:cNvPr id="19" name="TextBox 18"/>
          <p:cNvSpPr txBox="1"/>
          <p:nvPr/>
        </p:nvSpPr>
        <p:spPr>
          <a:xfrm>
            <a:off x="8696373" y="260648"/>
            <a:ext cx="1608134" cy="923330"/>
          </a:xfrm>
          <a:prstGeom prst="rect">
            <a:avLst/>
          </a:prstGeom>
          <a:noFill/>
        </p:spPr>
        <p:txBody>
          <a:bodyPr wrap="none" rtlCol="0">
            <a:spAutoFit/>
          </a:bodyPr>
          <a:lstStyle/>
          <a:p>
            <a:pPr algn="r" fontAlgn="auto">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2161793" y="2040781"/>
            <a:ext cx="6649827" cy="772176"/>
            <a:chOff x="2121802" y="2115450"/>
            <a:chExt cx="5221533" cy="576000"/>
          </a:xfrm>
        </p:grpSpPr>
        <p:sp>
          <p:nvSpPr>
            <p:cNvPr id="4" name="椭圆 9">
              <a:extLst>
                <a:ext uri="{FF2B5EF4-FFF2-40B4-BE49-F238E27FC236}">
                  <a16:creationId xmlns:a16="http://schemas.microsoft.com/office/drawing/2014/main" id="{E22E439B-4B3F-A527-61D0-3ED55D24E856}"/>
                </a:ext>
              </a:extLst>
            </p:cNvPr>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697802" y="2173516"/>
              <a:ext cx="464553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计算机原理与程序设计概述</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663" y="3353675"/>
            <a:ext cx="12154674"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07730" y="3750704"/>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一、计算机原理与程序设计概述</a:t>
            </a:r>
          </a:p>
        </p:txBody>
      </p:sp>
      <p:sp>
        <p:nvSpPr>
          <p:cNvPr id="8" name="矩形 7"/>
          <p:cNvSpPr/>
          <p:nvPr/>
        </p:nvSpPr>
        <p:spPr>
          <a:xfrm>
            <a:off x="18662" y="4896724"/>
            <a:ext cx="12154673" cy="73382"/>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F129A-FF63-24A6-A57D-00161683056E}"/>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D994883C-DAA1-878F-1EEC-D7703207ECA1}"/>
              </a:ext>
            </a:extLst>
          </p:cNvPr>
          <p:cNvPicPr>
            <a:picLocks noChangeAspect="1"/>
          </p:cNvPicPr>
          <p:nvPr/>
        </p:nvPicPr>
        <p:blipFill>
          <a:blip r:embed="rId3"/>
          <a:stretch>
            <a:fillRect/>
          </a:stretch>
        </p:blipFill>
        <p:spPr>
          <a:xfrm>
            <a:off x="6096000" y="1636800"/>
            <a:ext cx="5861538" cy="3782483"/>
          </a:xfrm>
          <a:prstGeom prst="rect">
            <a:avLst/>
          </a:prstGeom>
        </p:spPr>
      </p:pic>
      <p:sp>
        <p:nvSpPr>
          <p:cNvPr id="3" name="标题 2">
            <a:extLst>
              <a:ext uri="{FF2B5EF4-FFF2-40B4-BE49-F238E27FC236}">
                <a16:creationId xmlns:a16="http://schemas.microsoft.com/office/drawing/2014/main" id="{99B66C00-EDCE-04F7-7400-295D59EC35A0}"/>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71639ACD-DB86-70B8-79B8-0619E0D2588B}"/>
              </a:ext>
            </a:extLst>
          </p:cNvPr>
          <p:cNvSpPr txBox="1"/>
          <p:nvPr/>
        </p:nvSpPr>
        <p:spPr>
          <a:xfrm>
            <a:off x="4966636" y="846751"/>
            <a:ext cx="5383699"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计算机核心组成</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CFDB476-000D-1357-72EF-2B78C59AC79D}"/>
              </a:ext>
            </a:extLst>
          </p:cNvPr>
          <p:cNvSpPr txBox="1"/>
          <p:nvPr/>
        </p:nvSpPr>
        <p:spPr>
          <a:xfrm>
            <a:off x="234462" y="1021247"/>
            <a:ext cx="7127344" cy="4401205"/>
          </a:xfrm>
          <a:prstGeom prst="rect">
            <a:avLst/>
          </a:prstGeom>
          <a:noFill/>
        </p:spPr>
        <p:txBody>
          <a:bodyPr wrap="square">
            <a:spAutoFit/>
          </a:bodyPr>
          <a:lstStyle/>
          <a:p>
            <a:pPr algn="just"/>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硬件层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：运算器、控制器、寄存器</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内存（</a:t>
            </a:r>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RAM</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：临时存储程序与数据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硬盘</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：永久存储数据。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电源</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：为主板、</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、硬盘等供电。</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主板</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：连接并协调</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、内存等设备；</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显卡</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：处理图形图像并输出显示内容；</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I/O</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设备 </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：键盘、鼠标、网络接口、显示器。</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
        <p:nvSpPr>
          <p:cNvPr id="5" name="TextBox 4">
            <a:extLst>
              <a:ext uri="{FF2B5EF4-FFF2-40B4-BE49-F238E27FC236}">
                <a16:creationId xmlns:a16="http://schemas.microsoft.com/office/drawing/2014/main" id="{7AC6B5E3-0388-9AA6-FF0C-4997994FECC5}"/>
              </a:ext>
            </a:extLst>
          </p:cNvPr>
          <p:cNvSpPr txBox="1"/>
          <p:nvPr/>
        </p:nvSpPr>
        <p:spPr>
          <a:xfrm>
            <a:off x="234462" y="5578515"/>
            <a:ext cx="10807928" cy="1077218"/>
          </a:xfrm>
          <a:prstGeom prst="rect">
            <a:avLst/>
          </a:prstGeom>
          <a:noFill/>
        </p:spPr>
        <p:txBody>
          <a:bodyPr wrap="square">
            <a:spAutoFit/>
          </a:bodyPr>
          <a:lstStyle/>
          <a:p>
            <a:pPr algn="just"/>
            <a:r>
              <a:rPr lang="en-US" sz="2800" b="1" dirty="0" err="1">
                <a:solidFill>
                  <a:schemeClr val="bg2"/>
                </a:solidFill>
                <a:highlight>
                  <a:srgbClr val="FFFFFF"/>
                </a:highlight>
                <a:latin typeface="Microsoft YaHei" panose="020B0503020204020204" pitchFamily="34" charset="-122"/>
                <a:ea typeface="Microsoft YaHei" panose="020B0503020204020204" pitchFamily="34" charset="-122"/>
              </a:rPr>
              <a:t>软件层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b="1" dirty="0" err="1">
                <a:solidFill>
                  <a:schemeClr val="accent2"/>
                </a:solidFill>
                <a:highlight>
                  <a:srgbClr val="FFFFFF"/>
                </a:highlight>
                <a:latin typeface="Microsoft YaHei" panose="020B0503020204020204" pitchFamily="34" charset="-122"/>
                <a:ea typeface="Microsoft YaHei" panose="020B0503020204020204" pitchFamily="34" charset="-122"/>
              </a:rPr>
              <a:t>操作系统</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：资源管理、进程调度。</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应用程序</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：如微信、</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office</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办公软件等。</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305880628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D71C0-BA42-82F4-F42A-EECC3E8458F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B5E75D2-E9A1-0DC6-EBC4-057A4E8943A3}"/>
              </a:ext>
            </a:extLst>
          </p:cNvPr>
          <p:cNvSpPr>
            <a:spLocks noGrp="1"/>
          </p:cNvSpPr>
          <p:nvPr>
            <p:ph type="title"/>
          </p:nvPr>
        </p:nvSpPr>
        <p:spPr>
          <a:xfrm>
            <a:off x="62205" y="8526"/>
            <a:ext cx="10475170"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E881F7CF-01FF-912E-A84B-89E9F0C358AE}"/>
              </a:ext>
            </a:extLst>
          </p:cNvPr>
          <p:cNvSpPr txBox="1"/>
          <p:nvPr/>
        </p:nvSpPr>
        <p:spPr>
          <a:xfrm>
            <a:off x="572278" y="846751"/>
            <a:ext cx="9778057"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计算机数据基础</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F2C29379-9842-F50A-9123-297292711161}"/>
              </a:ext>
            </a:extLst>
          </p:cNvPr>
          <p:cNvSpPr txBox="1"/>
          <p:nvPr/>
        </p:nvSpPr>
        <p:spPr>
          <a:xfrm>
            <a:off x="416768" y="1682124"/>
            <a:ext cx="5850851" cy="4930645"/>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二进制数据：</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二进制数据是计算机中数据的基本形式。</a:t>
            </a:r>
            <a:endParaRPr lang="en-US" altLang="zh-CN" sz="2600" b="1"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二进制定义：</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是在数学和数字电路中以</a:t>
            </a:r>
            <a:r>
              <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rPr>
              <a:t>2</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为基数的记数系统。</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rgbClr val="C00000"/>
                </a:solidFill>
                <a:highlight>
                  <a:srgbClr val="FFFFFF"/>
                </a:highlight>
                <a:latin typeface="Microsoft YaHei" panose="020B0503020204020204" pitchFamily="34" charset="-122"/>
                <a:ea typeface="Microsoft YaHei" panose="020B0503020204020204" pitchFamily="34" charset="-122"/>
              </a:rPr>
              <a:t>数据编码</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：将原始数据转换为计算机可读取和处理的二进制格式的过程。解码为相反过程。</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9B17E118-7228-5B85-5913-92F35BE4DAFC}"/>
              </a:ext>
            </a:extLst>
          </p:cNvPr>
          <p:cNvPicPr>
            <a:picLocks noChangeAspect="1"/>
          </p:cNvPicPr>
          <p:nvPr/>
        </p:nvPicPr>
        <p:blipFill>
          <a:blip r:embed="rId3"/>
          <a:srcRect l="23442" t="14008" r="15229" b="20972"/>
          <a:stretch>
            <a:fillRect/>
          </a:stretch>
        </p:blipFill>
        <p:spPr>
          <a:xfrm>
            <a:off x="6350787" y="2357509"/>
            <a:ext cx="5764776" cy="3437809"/>
          </a:xfrm>
          <a:prstGeom prst="rect">
            <a:avLst/>
          </a:prstGeom>
        </p:spPr>
      </p:pic>
    </p:spTree>
    <p:extLst>
      <p:ext uri="{BB962C8B-B14F-4D97-AF65-F5344CB8AC3E}">
        <p14:creationId xmlns:p14="http://schemas.microsoft.com/office/powerpoint/2010/main" val="1887558904"/>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B3644-7B40-BE4D-A8C1-7EB14245808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537B010-5073-A5CA-8B9F-F90C32DBB39F}"/>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20C05DFD-20B3-3517-7CDA-8B2336C35C6D}"/>
              </a:ext>
            </a:extLst>
          </p:cNvPr>
          <p:cNvSpPr txBox="1"/>
          <p:nvPr/>
        </p:nvSpPr>
        <p:spPr>
          <a:xfrm>
            <a:off x="460766" y="846751"/>
            <a:ext cx="542996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计算机运行</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F4B6D9C-295C-FF17-34D3-16F995CEDEB5}"/>
              </a:ext>
            </a:extLst>
          </p:cNvPr>
          <p:cNvSpPr txBox="1"/>
          <p:nvPr/>
        </p:nvSpPr>
        <p:spPr>
          <a:xfrm>
            <a:off x="434263" y="1557288"/>
            <a:ext cx="8239700" cy="5025671"/>
          </a:xfrm>
          <a:prstGeom prst="rect">
            <a:avLst/>
          </a:prstGeom>
          <a:noFill/>
        </p:spPr>
        <p:txBody>
          <a:bodyPr wrap="square">
            <a:spAutoFit/>
          </a:bodyPr>
          <a:lstStyle/>
          <a:p>
            <a:pPr algn="just">
              <a:lnSpc>
                <a:spcPct val="150000"/>
              </a:lnSpc>
            </a:pPr>
            <a:r>
              <a:rPr lang="en-US" altLang="zh-CN" sz="2500"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sz="2500" b="1" dirty="0">
                <a:solidFill>
                  <a:schemeClr val="accent2"/>
                </a:solidFill>
                <a:highlight>
                  <a:srgbClr val="FFFFFF"/>
                </a:highlight>
                <a:latin typeface="Microsoft YaHei" panose="020B0503020204020204" pitchFamily="34" charset="-122"/>
                <a:ea typeface="Microsoft YaHei" panose="020B0503020204020204" pitchFamily="34" charset="-122"/>
              </a:rPr>
              <a:t>如何执行指令：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取指：从内存读取指令；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解码：解析指令的操作类型、操作数和寻址方式；</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执行：由运算器完成算术、逻辑或</a:t>
            </a:r>
            <a:r>
              <a:rPr lang="zh-CN" altLang="en-CN" sz="2500" dirty="0">
                <a:solidFill>
                  <a:schemeClr val="bg2"/>
                </a:solidFill>
                <a:highlight>
                  <a:srgbClr val="FFFFFF"/>
                </a:highlight>
                <a:latin typeface="Microsoft YaHei" panose="020B0503020204020204" pitchFamily="34" charset="-122"/>
                <a:ea typeface="Microsoft YaHei" panose="020B0503020204020204" pitchFamily="34" charset="-122"/>
              </a:rPr>
              <a:t>仿</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存等操作；</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写回：将结果写入寄存器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内存。</a:t>
            </a:r>
          </a:p>
          <a:p>
            <a:pPr algn="just">
              <a:lnSpc>
                <a:spcPct val="150000"/>
              </a:lnSpc>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指令示例：</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ADD</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 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（将寄存器中</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和</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的值相加，结果写入寄存器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31" name="组合 30">
            <a:extLst>
              <a:ext uri="{FF2B5EF4-FFF2-40B4-BE49-F238E27FC236}">
                <a16:creationId xmlns:a16="http://schemas.microsoft.com/office/drawing/2014/main" id="{9444C41E-74E8-7EEA-737B-07CC3000857C}"/>
              </a:ext>
            </a:extLst>
          </p:cNvPr>
          <p:cNvGrpSpPr/>
          <p:nvPr/>
        </p:nvGrpSpPr>
        <p:grpSpPr>
          <a:xfrm>
            <a:off x="9055413" y="1059621"/>
            <a:ext cx="2564083" cy="5246824"/>
            <a:chOff x="8796516" y="926879"/>
            <a:chExt cx="2564083" cy="5246824"/>
          </a:xfrm>
        </p:grpSpPr>
        <p:sp>
          <p:nvSpPr>
            <p:cNvPr id="8" name="矩形: 圆角 7">
              <a:extLst>
                <a:ext uri="{FF2B5EF4-FFF2-40B4-BE49-F238E27FC236}">
                  <a16:creationId xmlns:a16="http://schemas.microsoft.com/office/drawing/2014/main" id="{9B794DD0-4C88-0ED1-2F40-5D566DC09EFA}"/>
                </a:ext>
              </a:extLst>
            </p:cNvPr>
            <p:cNvSpPr/>
            <p:nvPr/>
          </p:nvSpPr>
          <p:spPr>
            <a:xfrm>
              <a:off x="8802866" y="1648738"/>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取指令</a:t>
              </a:r>
            </a:p>
          </p:txBody>
        </p:sp>
        <p:sp>
          <p:nvSpPr>
            <p:cNvPr id="9" name="矩形: 圆角 8">
              <a:extLst>
                <a:ext uri="{FF2B5EF4-FFF2-40B4-BE49-F238E27FC236}">
                  <a16:creationId xmlns:a16="http://schemas.microsoft.com/office/drawing/2014/main" id="{2EA4A450-FF18-48FA-E8A5-674AE89CC546}"/>
                </a:ext>
              </a:extLst>
            </p:cNvPr>
            <p:cNvSpPr/>
            <p:nvPr/>
          </p:nvSpPr>
          <p:spPr>
            <a:xfrm>
              <a:off x="8802866" y="2890889"/>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解码</a:t>
              </a:r>
            </a:p>
          </p:txBody>
        </p:sp>
        <p:sp>
          <p:nvSpPr>
            <p:cNvPr id="10" name="矩形: 圆角 9">
              <a:extLst>
                <a:ext uri="{FF2B5EF4-FFF2-40B4-BE49-F238E27FC236}">
                  <a16:creationId xmlns:a16="http://schemas.microsoft.com/office/drawing/2014/main" id="{B770B02E-9749-88D3-3CCA-AD497BDD021E}"/>
                </a:ext>
              </a:extLst>
            </p:cNvPr>
            <p:cNvSpPr/>
            <p:nvPr/>
          </p:nvSpPr>
          <p:spPr>
            <a:xfrm>
              <a:off x="8802866" y="4133040"/>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执行</a:t>
              </a:r>
            </a:p>
          </p:txBody>
        </p:sp>
        <p:cxnSp>
          <p:nvCxnSpPr>
            <p:cNvPr id="12" name="连接符: 肘形 11">
              <a:extLst>
                <a:ext uri="{FF2B5EF4-FFF2-40B4-BE49-F238E27FC236}">
                  <a16:creationId xmlns:a16="http://schemas.microsoft.com/office/drawing/2014/main" id="{B2FB2615-54E9-DC7C-61F3-A9B159B4C386}"/>
                </a:ext>
              </a:extLst>
            </p:cNvPr>
            <p:cNvCxnSpPr>
              <a:cxnSpLocks/>
              <a:stCxn id="24" idx="2"/>
              <a:endCxn id="8" idx="0"/>
            </p:cNvCxnSpPr>
            <p:nvPr/>
          </p:nvCxnSpPr>
          <p:spPr bwMode="auto">
            <a:xfrm rot="5400000" flipH="1" flipV="1">
              <a:off x="7336551" y="3908046"/>
              <a:ext cx="4524965" cy="6350"/>
            </a:xfrm>
            <a:prstGeom prst="bentConnector5">
              <a:avLst>
                <a:gd name="adj1" fmla="val -5052"/>
                <a:gd name="adj2" fmla="val 25633780"/>
                <a:gd name="adj3" fmla="val 105052"/>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7" name="直接箭头连接符 16">
              <a:extLst>
                <a:ext uri="{FF2B5EF4-FFF2-40B4-BE49-F238E27FC236}">
                  <a16:creationId xmlns:a16="http://schemas.microsoft.com/office/drawing/2014/main" id="{01F219CF-EF2E-9795-824A-725BC1105727}"/>
                </a:ext>
              </a:extLst>
            </p:cNvPr>
            <p:cNvCxnSpPr>
              <a:cxnSpLocks/>
              <a:stCxn id="8" idx="2"/>
              <a:endCxn id="9" idx="0"/>
            </p:cNvCxnSpPr>
            <p:nvPr/>
          </p:nvCxnSpPr>
          <p:spPr bwMode="auto">
            <a:xfrm>
              <a:off x="9602209" y="2440900"/>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BDD49A83-2EAF-FD70-8712-B89B536F855B}"/>
                </a:ext>
              </a:extLst>
            </p:cNvPr>
            <p:cNvCxnSpPr>
              <a:cxnSpLocks/>
              <a:stCxn id="9" idx="2"/>
              <a:endCxn id="10" idx="0"/>
            </p:cNvCxnSpPr>
            <p:nvPr/>
          </p:nvCxnSpPr>
          <p:spPr bwMode="auto">
            <a:xfrm>
              <a:off x="9602209" y="3683051"/>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sp>
          <p:nvSpPr>
            <p:cNvPr id="23" name="文本框 22">
              <a:extLst>
                <a:ext uri="{FF2B5EF4-FFF2-40B4-BE49-F238E27FC236}">
                  <a16:creationId xmlns:a16="http://schemas.microsoft.com/office/drawing/2014/main" id="{E7E42B6C-A80B-A6FC-4C2C-CA795F7B7DEF}"/>
                </a:ext>
              </a:extLst>
            </p:cNvPr>
            <p:cNvSpPr txBox="1"/>
            <p:nvPr/>
          </p:nvSpPr>
          <p:spPr>
            <a:xfrm>
              <a:off x="8802866" y="926879"/>
              <a:ext cx="2557733" cy="461665"/>
            </a:xfrm>
            <a:prstGeom prst="rect">
              <a:avLst/>
            </a:prstGeom>
            <a:noFill/>
          </p:spPr>
          <p:txBody>
            <a:bodyPr wrap="square" rtlCol="0">
              <a:spAutoFit/>
            </a:bodyPr>
            <a:lstStyle/>
            <a:p>
              <a:r>
                <a:rPr lang="zh-CN" altLang="en-US" b="1" dirty="0">
                  <a:solidFill>
                    <a:schemeClr val="bg2"/>
                  </a:solidFill>
                </a:rPr>
                <a:t>循环下一条</a:t>
              </a:r>
            </a:p>
          </p:txBody>
        </p:sp>
        <p:sp>
          <p:nvSpPr>
            <p:cNvPr id="24" name="矩形: 圆角 23">
              <a:extLst>
                <a:ext uri="{FF2B5EF4-FFF2-40B4-BE49-F238E27FC236}">
                  <a16:creationId xmlns:a16="http://schemas.microsoft.com/office/drawing/2014/main" id="{F33A4C7E-6180-FC53-776B-497FA315D274}"/>
                </a:ext>
              </a:extLst>
            </p:cNvPr>
            <p:cNvSpPr/>
            <p:nvPr/>
          </p:nvSpPr>
          <p:spPr>
            <a:xfrm>
              <a:off x="8796516" y="5381541"/>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写回</a:t>
              </a:r>
            </a:p>
          </p:txBody>
        </p:sp>
        <p:cxnSp>
          <p:nvCxnSpPr>
            <p:cNvPr id="28" name="直接箭头连接符 27">
              <a:extLst>
                <a:ext uri="{FF2B5EF4-FFF2-40B4-BE49-F238E27FC236}">
                  <a16:creationId xmlns:a16="http://schemas.microsoft.com/office/drawing/2014/main" id="{82968EA1-5B7D-AD87-4471-043D2F96F24D}"/>
                </a:ext>
              </a:extLst>
            </p:cNvPr>
            <p:cNvCxnSpPr>
              <a:cxnSpLocks/>
              <a:stCxn id="10" idx="2"/>
              <a:endCxn id="24" idx="0"/>
            </p:cNvCxnSpPr>
            <p:nvPr/>
          </p:nvCxnSpPr>
          <p:spPr bwMode="auto">
            <a:xfrm flipH="1">
              <a:off x="9595859" y="4925202"/>
              <a:ext cx="6350" cy="45633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88520829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5168-3385-20FC-704A-C793AB53E54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E5C1532-2A14-03E0-A2E3-2D7B12FFAAF8}"/>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6" name="TextBox 5">
            <a:extLst>
              <a:ext uri="{FF2B5EF4-FFF2-40B4-BE49-F238E27FC236}">
                <a16:creationId xmlns:a16="http://schemas.microsoft.com/office/drawing/2014/main" id="{4EF4D399-DF6D-41C8-58D3-A12E6DBC7986}"/>
              </a:ext>
            </a:extLst>
          </p:cNvPr>
          <p:cNvSpPr txBox="1"/>
          <p:nvPr/>
        </p:nvSpPr>
        <p:spPr>
          <a:xfrm>
            <a:off x="332357" y="1708704"/>
            <a:ext cx="6813285" cy="3628044"/>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算法与编程：</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算法定义</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：解决问题的明确步骤</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编程</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：将算法转换为计算机能理解和执行的代码</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时间复杂度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：执行时间随数据规模的增长趋势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空间复杂度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：内存占用随数据规模的增长趋势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16" name="组合 15">
            <a:extLst>
              <a:ext uri="{FF2B5EF4-FFF2-40B4-BE49-F238E27FC236}">
                <a16:creationId xmlns:a16="http://schemas.microsoft.com/office/drawing/2014/main" id="{27C234F0-9009-D8AE-3021-694C88ADE5B8}"/>
              </a:ext>
            </a:extLst>
          </p:cNvPr>
          <p:cNvGrpSpPr/>
          <p:nvPr/>
        </p:nvGrpSpPr>
        <p:grpSpPr>
          <a:xfrm>
            <a:off x="7500752" y="1276150"/>
            <a:ext cx="4493133" cy="4599258"/>
            <a:chOff x="7249740" y="1630256"/>
            <a:chExt cx="4493133" cy="4599258"/>
          </a:xfrm>
        </p:grpSpPr>
        <p:sp>
          <p:nvSpPr>
            <p:cNvPr id="2" name="矩形 1">
              <a:extLst>
                <a:ext uri="{FF2B5EF4-FFF2-40B4-BE49-F238E27FC236}">
                  <a16:creationId xmlns:a16="http://schemas.microsoft.com/office/drawing/2014/main" id="{B813431D-3119-53AD-BFDC-AA9EEF347D94}"/>
                </a:ext>
              </a:extLst>
            </p:cNvPr>
            <p:cNvSpPr/>
            <p:nvPr/>
          </p:nvSpPr>
          <p:spPr>
            <a:xfrm>
              <a:off x="725579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提出问题</a:t>
              </a:r>
            </a:p>
          </p:txBody>
        </p:sp>
        <p:sp>
          <p:nvSpPr>
            <p:cNvPr id="4" name="矩形 3">
              <a:extLst>
                <a:ext uri="{FF2B5EF4-FFF2-40B4-BE49-F238E27FC236}">
                  <a16:creationId xmlns:a16="http://schemas.microsoft.com/office/drawing/2014/main" id="{F2F60443-0851-4193-AD1C-0B4F42E8520C}"/>
                </a:ext>
              </a:extLst>
            </p:cNvPr>
            <p:cNvSpPr/>
            <p:nvPr/>
          </p:nvSpPr>
          <p:spPr>
            <a:xfrm>
              <a:off x="725579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问题分析</a:t>
              </a:r>
            </a:p>
          </p:txBody>
        </p:sp>
        <p:sp>
          <p:nvSpPr>
            <p:cNvPr id="7" name="矩形 6">
              <a:extLst>
                <a:ext uri="{FF2B5EF4-FFF2-40B4-BE49-F238E27FC236}">
                  <a16:creationId xmlns:a16="http://schemas.microsoft.com/office/drawing/2014/main" id="{8C70776D-C431-81A0-CF92-55F71E9F6110}"/>
                </a:ext>
              </a:extLst>
            </p:cNvPr>
            <p:cNvSpPr/>
            <p:nvPr/>
          </p:nvSpPr>
          <p:spPr>
            <a:xfrm>
              <a:off x="7249740"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数学建模</a:t>
              </a:r>
            </a:p>
          </p:txBody>
        </p:sp>
        <p:sp>
          <p:nvSpPr>
            <p:cNvPr id="8" name="矩形 7">
              <a:extLst>
                <a:ext uri="{FF2B5EF4-FFF2-40B4-BE49-F238E27FC236}">
                  <a16:creationId xmlns:a16="http://schemas.microsoft.com/office/drawing/2014/main" id="{6D4DDAF4-6341-6172-716D-89F23F45603A}"/>
                </a:ext>
              </a:extLst>
            </p:cNvPr>
            <p:cNvSpPr/>
            <p:nvPr/>
          </p:nvSpPr>
          <p:spPr>
            <a:xfrm>
              <a:off x="7249740" y="5484671"/>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编写程序</a:t>
              </a:r>
            </a:p>
          </p:txBody>
        </p:sp>
        <p:sp>
          <p:nvSpPr>
            <p:cNvPr id="9" name="矩形 8">
              <a:extLst>
                <a:ext uri="{FF2B5EF4-FFF2-40B4-BE49-F238E27FC236}">
                  <a16:creationId xmlns:a16="http://schemas.microsoft.com/office/drawing/2014/main" id="{D251D070-0A3F-5E36-6345-1E726EFE16C9}"/>
                </a:ext>
              </a:extLst>
            </p:cNvPr>
            <p:cNvSpPr/>
            <p:nvPr/>
          </p:nvSpPr>
          <p:spPr>
            <a:xfrm>
              <a:off x="975662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运行程序</a:t>
              </a:r>
            </a:p>
          </p:txBody>
        </p:sp>
        <p:sp>
          <p:nvSpPr>
            <p:cNvPr id="10" name="矩形 9">
              <a:extLst>
                <a:ext uri="{FF2B5EF4-FFF2-40B4-BE49-F238E27FC236}">
                  <a16:creationId xmlns:a16="http://schemas.microsoft.com/office/drawing/2014/main" id="{383859E2-9A1A-2D41-BBF5-298B493EFB71}"/>
                </a:ext>
              </a:extLst>
            </p:cNvPr>
            <p:cNvSpPr/>
            <p:nvPr/>
          </p:nvSpPr>
          <p:spPr>
            <a:xfrm>
              <a:off x="975662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获得结果</a:t>
              </a:r>
            </a:p>
          </p:txBody>
        </p:sp>
        <p:sp>
          <p:nvSpPr>
            <p:cNvPr id="11" name="矩形 10">
              <a:extLst>
                <a:ext uri="{FF2B5EF4-FFF2-40B4-BE49-F238E27FC236}">
                  <a16:creationId xmlns:a16="http://schemas.microsoft.com/office/drawing/2014/main" id="{EDDC976F-E067-4DEA-3D75-23393A907863}"/>
                </a:ext>
              </a:extLst>
            </p:cNvPr>
            <p:cNvSpPr/>
            <p:nvPr/>
          </p:nvSpPr>
          <p:spPr>
            <a:xfrm>
              <a:off x="9756626"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解决问题</a:t>
              </a:r>
            </a:p>
          </p:txBody>
        </p:sp>
        <p:cxnSp>
          <p:nvCxnSpPr>
            <p:cNvPr id="13" name="连接符: 肘形 12">
              <a:extLst>
                <a:ext uri="{FF2B5EF4-FFF2-40B4-BE49-F238E27FC236}">
                  <a16:creationId xmlns:a16="http://schemas.microsoft.com/office/drawing/2014/main" id="{651632FC-96A6-7A8B-DF04-590B2AC52BF0}"/>
                </a:ext>
              </a:extLst>
            </p:cNvPr>
            <p:cNvCxnSpPr>
              <a:cxnSpLocks/>
              <a:stCxn id="8" idx="3"/>
              <a:endCxn id="9" idx="0"/>
            </p:cNvCxnSpPr>
            <p:nvPr/>
          </p:nvCxnSpPr>
          <p:spPr bwMode="auto">
            <a:xfrm flipV="1">
              <a:off x="9235987" y="1630256"/>
              <a:ext cx="1513763" cy="4226837"/>
            </a:xfrm>
            <a:prstGeom prst="bentConnector4">
              <a:avLst>
                <a:gd name="adj1" fmla="val 17197"/>
                <a:gd name="adj2" fmla="val 105408"/>
              </a:avLst>
            </a:prstGeom>
            <a:ln w="38100">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8" name="直接箭头连接符 17">
              <a:extLst>
                <a:ext uri="{FF2B5EF4-FFF2-40B4-BE49-F238E27FC236}">
                  <a16:creationId xmlns:a16="http://schemas.microsoft.com/office/drawing/2014/main" id="{60B6EFE7-4327-14B1-1A2E-FF44973C924F}"/>
                </a:ext>
              </a:extLst>
            </p:cNvPr>
            <p:cNvCxnSpPr>
              <a:stCxn id="2" idx="2"/>
              <a:endCxn id="4" idx="0"/>
            </p:cNvCxnSpPr>
            <p:nvPr/>
          </p:nvCxnSpPr>
          <p:spPr bwMode="auto">
            <a:xfrm>
              <a:off x="824892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C1021103-A8B9-15C2-6BAB-7A63522D5C98}"/>
                </a:ext>
              </a:extLst>
            </p:cNvPr>
            <p:cNvCxnSpPr>
              <a:cxnSpLocks/>
              <a:stCxn id="4" idx="2"/>
              <a:endCxn id="7" idx="0"/>
            </p:cNvCxnSpPr>
            <p:nvPr/>
          </p:nvCxnSpPr>
          <p:spPr bwMode="auto">
            <a:xfrm flipH="1">
              <a:off x="8242864" y="3635682"/>
              <a:ext cx="6056"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5E9C8D11-EAFE-B194-2FBD-115B7477CB31}"/>
                </a:ext>
              </a:extLst>
            </p:cNvPr>
            <p:cNvCxnSpPr>
              <a:cxnSpLocks/>
              <a:stCxn id="7" idx="2"/>
              <a:endCxn id="8" idx="0"/>
            </p:cNvCxnSpPr>
            <p:nvPr/>
          </p:nvCxnSpPr>
          <p:spPr bwMode="auto">
            <a:xfrm>
              <a:off x="8242864" y="4932597"/>
              <a:ext cx="0" cy="552074"/>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FC0F6FA-A8EE-82FA-5F2E-953AD364F6B3}"/>
                </a:ext>
              </a:extLst>
            </p:cNvPr>
            <p:cNvCxnSpPr>
              <a:cxnSpLocks/>
              <a:stCxn id="9" idx="2"/>
              <a:endCxn id="10" idx="0"/>
            </p:cNvCxnSpPr>
            <p:nvPr/>
          </p:nvCxnSpPr>
          <p:spPr bwMode="auto">
            <a:xfrm>
              <a:off x="1074975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EDA14B9E-C0A5-73D3-038C-B1BCF723451A}"/>
                </a:ext>
              </a:extLst>
            </p:cNvPr>
            <p:cNvCxnSpPr>
              <a:cxnSpLocks/>
              <a:stCxn id="10" idx="2"/>
              <a:endCxn id="11" idx="0"/>
            </p:cNvCxnSpPr>
            <p:nvPr/>
          </p:nvCxnSpPr>
          <p:spPr bwMode="auto">
            <a:xfrm>
              <a:off x="10749750" y="3635682"/>
              <a:ext cx="0"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
        <p:nvSpPr>
          <p:cNvPr id="12" name="TextBox 1">
            <a:extLst>
              <a:ext uri="{FF2B5EF4-FFF2-40B4-BE49-F238E27FC236}">
                <a16:creationId xmlns:a16="http://schemas.microsoft.com/office/drawing/2014/main" id="{C456BE67-AF53-BFA2-0E1B-8C5835563AE9}"/>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5" name="文本框 4">
            <a:extLst>
              <a:ext uri="{FF2B5EF4-FFF2-40B4-BE49-F238E27FC236}">
                <a16:creationId xmlns:a16="http://schemas.microsoft.com/office/drawing/2014/main" id="{35C93FDF-9E42-F354-4443-434A673B8B7D}"/>
              </a:ext>
            </a:extLst>
          </p:cNvPr>
          <p:cNvSpPr txBox="1"/>
          <p:nvPr/>
        </p:nvSpPr>
        <p:spPr>
          <a:xfrm>
            <a:off x="7500752" y="5921195"/>
            <a:ext cx="4493128" cy="369332"/>
          </a:xfrm>
          <a:prstGeom prst="rect">
            <a:avLst/>
          </a:prstGeom>
          <a:noFill/>
        </p:spPr>
        <p:txBody>
          <a:bodyPr wrap="square" rtlCol="0">
            <a:spAutoFit/>
          </a:bodyPr>
          <a:lstStyle/>
          <a:p>
            <a:r>
              <a:rPr lang="zh-CN" altLang="en-US" sz="1800" b="1" dirty="0">
                <a:solidFill>
                  <a:schemeClr val="accent2"/>
                </a:solidFill>
                <a:latin typeface="+mn-ea"/>
                <a:ea typeface="+mn-ea"/>
              </a:rPr>
              <a:t>程序设计过程</a:t>
            </a:r>
          </a:p>
        </p:txBody>
      </p:sp>
    </p:spTree>
    <p:extLst>
      <p:ext uri="{BB962C8B-B14F-4D97-AF65-F5344CB8AC3E}">
        <p14:creationId xmlns:p14="http://schemas.microsoft.com/office/powerpoint/2010/main" val="765571708"/>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D5122-F886-F434-1B74-466A64DC50F9}"/>
            </a:ext>
          </a:extLst>
        </p:cNvPr>
        <p:cNvGrpSpPr/>
        <p:nvPr/>
      </p:nvGrpSpPr>
      <p:grpSpPr>
        <a:xfrm>
          <a:off x="0" y="0"/>
          <a:ext cx="0" cy="0"/>
          <a:chOff x="0" y="0"/>
          <a:chExt cx="0" cy="0"/>
        </a:xfrm>
      </p:grpSpPr>
      <p:sp>
        <p:nvSpPr>
          <p:cNvPr id="20" name="矩形 19">
            <a:extLst>
              <a:ext uri="{FF2B5EF4-FFF2-40B4-BE49-F238E27FC236}">
                <a16:creationId xmlns:a16="http://schemas.microsoft.com/office/drawing/2014/main" id="{107DB98C-8FC2-1089-9099-0DCAB50E6E9D}"/>
              </a:ext>
            </a:extLst>
          </p:cNvPr>
          <p:cNvSpPr/>
          <p:nvPr/>
        </p:nvSpPr>
        <p:spPr>
          <a:xfrm>
            <a:off x="6364466" y="1590736"/>
            <a:ext cx="4971672" cy="4632871"/>
          </a:xfrm>
          <a:prstGeom prst="rect">
            <a:avLst/>
          </a:prstGeom>
          <a:noFill/>
          <a:ln w="28575">
            <a:solidFill>
              <a:schemeClr val="accent1"/>
            </a:solidFill>
          </a:ln>
        </p:spPr>
        <p:txBody>
          <a:bodyPr wrap="square" lIns="0" rtlCol="0" anchor="ctr">
            <a:noAutofit/>
          </a:bodyPr>
          <a:lstStyle/>
          <a:p>
            <a:pPr algn="l"/>
            <a:endParaRPr lang="zh-CN" altLang="en-US" b="1" dirty="0">
              <a:solidFill>
                <a:srgbClr val="FF0000"/>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95B237E-85F7-993B-F078-BAF9BFA448DC}"/>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CCC68D2D-B1C4-E65C-6581-EFB90DBC6E31}"/>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838C915E-166B-DC37-C9BE-099FED014CF1}"/>
              </a:ext>
            </a:extLst>
          </p:cNvPr>
          <p:cNvSpPr txBox="1"/>
          <p:nvPr/>
        </p:nvSpPr>
        <p:spPr>
          <a:xfrm>
            <a:off x="396063" y="1590737"/>
            <a:ext cx="5696306" cy="4632871"/>
          </a:xfrm>
          <a:prstGeom prst="rect">
            <a:avLst/>
          </a:prstGeom>
          <a:noFill/>
        </p:spPr>
        <p:txBody>
          <a:bodyPr wrap="square">
            <a:spAutoFit/>
          </a:bodyPr>
          <a:lstStyle/>
          <a:p>
            <a:pPr algn="just">
              <a:lnSpc>
                <a:spcPct val="150000"/>
              </a:lnSpc>
            </a:pPr>
            <a:r>
              <a:rPr lang="zh-CN" altLang="en-US" sz="3200" b="1" dirty="0">
                <a:solidFill>
                  <a:schemeClr val="accent2"/>
                </a:solidFill>
                <a:highlight>
                  <a:srgbClr val="FFFFFF"/>
                </a:highlight>
                <a:latin typeface="Microsoft YaHei" panose="020B0503020204020204" pitchFamily="34" charset="-122"/>
                <a:ea typeface="Microsoft YaHei" panose="020B0503020204020204" pitchFamily="34" charset="-122"/>
              </a:rPr>
              <a:t>程序设计语言层级：</a:t>
            </a:r>
            <a:endParaRPr lang="en-US" altLang="zh-CN" sz="32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机器语言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：二进制指令（</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直接执行）</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汇编语言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：接近机器语言，是一种低级编程语言</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高级语言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Python</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Java</a:t>
            </a:r>
          </a:p>
        </p:txBody>
      </p:sp>
      <p:grpSp>
        <p:nvGrpSpPr>
          <p:cNvPr id="17" name="组合 16">
            <a:extLst>
              <a:ext uri="{FF2B5EF4-FFF2-40B4-BE49-F238E27FC236}">
                <a16:creationId xmlns:a16="http://schemas.microsoft.com/office/drawing/2014/main" id="{7774422F-D8E3-2A3E-7E64-9DD6504C2B52}"/>
              </a:ext>
            </a:extLst>
          </p:cNvPr>
          <p:cNvGrpSpPr/>
          <p:nvPr/>
        </p:nvGrpSpPr>
        <p:grpSpPr>
          <a:xfrm>
            <a:off x="6474074" y="5183358"/>
            <a:ext cx="2509727" cy="954946"/>
            <a:chOff x="7969207" y="3757576"/>
            <a:chExt cx="2509727" cy="954946"/>
          </a:xfrm>
        </p:grpSpPr>
        <p:sp>
          <p:nvSpPr>
            <p:cNvPr id="13" name="TextBox 12">
              <a:extLst>
                <a:ext uri="{FF2B5EF4-FFF2-40B4-BE49-F238E27FC236}">
                  <a16:creationId xmlns:a16="http://schemas.microsoft.com/office/drawing/2014/main" id="{C37D0B22-ACD6-5CAD-307D-087E91AF68FD}"/>
                </a:ext>
              </a:extLst>
            </p:cNvPr>
            <p:cNvSpPr txBox="1"/>
            <p:nvPr/>
          </p:nvSpPr>
          <p:spPr>
            <a:xfrm>
              <a:off x="7969207" y="3757576"/>
              <a:ext cx="1689520" cy="461665"/>
            </a:xfrm>
            <a:prstGeom prst="rect">
              <a:avLst/>
            </a:prstGeom>
            <a:noFill/>
          </p:spPr>
          <p:txBody>
            <a:bodyPr wrap="square" rtlCol="0">
              <a:spAutoFit/>
            </a:bodyPr>
            <a:lstStyle/>
            <a:p>
              <a:pPr algn="l"/>
              <a:r>
                <a:rPr lang="en-CN" b="1" dirty="0">
                  <a:solidFill>
                    <a:srgbClr val="C00000"/>
                  </a:solidFill>
                  <a:latin typeface="+mn-ea"/>
                  <a:ea typeface="+mn-ea"/>
                </a:rPr>
                <a:t>汇编语言</a:t>
              </a:r>
            </a:p>
          </p:txBody>
        </p:sp>
        <p:sp>
          <p:nvSpPr>
            <p:cNvPr id="8" name="文本框 7">
              <a:extLst>
                <a:ext uri="{FF2B5EF4-FFF2-40B4-BE49-F238E27FC236}">
                  <a16:creationId xmlns:a16="http://schemas.microsoft.com/office/drawing/2014/main" id="{9EF604A1-DA48-7384-C5B0-144CDD8089D2}"/>
                </a:ext>
              </a:extLst>
            </p:cNvPr>
            <p:cNvSpPr txBox="1"/>
            <p:nvPr/>
          </p:nvSpPr>
          <p:spPr>
            <a:xfrm>
              <a:off x="7969207" y="4250857"/>
              <a:ext cx="2509727"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ADD</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 R1</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R2</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endParaRPr lang="zh-CN" altLang="en-US" b="1" dirty="0">
                <a:solidFill>
                  <a:srgbClr val="333399"/>
                </a:solidFill>
              </a:endParaRPr>
            </a:p>
          </p:txBody>
        </p:sp>
      </p:grpSp>
      <p:sp>
        <p:nvSpPr>
          <p:cNvPr id="10" name="TextBox 6">
            <a:extLst>
              <a:ext uri="{FF2B5EF4-FFF2-40B4-BE49-F238E27FC236}">
                <a16:creationId xmlns:a16="http://schemas.microsoft.com/office/drawing/2014/main" id="{5579C601-7411-5262-0453-BD21073817FF}"/>
              </a:ext>
            </a:extLst>
          </p:cNvPr>
          <p:cNvSpPr txBox="1"/>
          <p:nvPr/>
        </p:nvSpPr>
        <p:spPr>
          <a:xfrm>
            <a:off x="6459786" y="3096861"/>
            <a:ext cx="1980030" cy="523220"/>
          </a:xfrm>
          <a:prstGeom prst="rect">
            <a:avLst/>
          </a:prstGeom>
          <a:noFill/>
        </p:spPr>
        <p:txBody>
          <a:bodyPr wrap="none" rtlCol="0">
            <a:spAutoFit/>
          </a:bodyPr>
          <a:lstStyle/>
          <a:p>
            <a:r>
              <a:rPr lang="en-CN" sz="2800" b="1" dirty="0">
                <a:solidFill>
                  <a:schemeClr val="bg2"/>
                </a:solidFill>
                <a:latin typeface="+mn-ea"/>
                <a:ea typeface="+mn-ea"/>
              </a:rPr>
              <a:t>两整数相加</a:t>
            </a:r>
          </a:p>
        </p:txBody>
      </p:sp>
      <p:grpSp>
        <p:nvGrpSpPr>
          <p:cNvPr id="16" name="组合 15">
            <a:extLst>
              <a:ext uri="{FF2B5EF4-FFF2-40B4-BE49-F238E27FC236}">
                <a16:creationId xmlns:a16="http://schemas.microsoft.com/office/drawing/2014/main" id="{10957EA3-4933-E419-FAC8-DCF0111748B3}"/>
              </a:ext>
            </a:extLst>
          </p:cNvPr>
          <p:cNvGrpSpPr/>
          <p:nvPr/>
        </p:nvGrpSpPr>
        <p:grpSpPr>
          <a:xfrm>
            <a:off x="8969514" y="1647671"/>
            <a:ext cx="1960456" cy="3250560"/>
            <a:chOff x="9546965" y="737847"/>
            <a:chExt cx="1960456" cy="3250560"/>
          </a:xfrm>
        </p:grpSpPr>
        <p:pic>
          <p:nvPicPr>
            <p:cNvPr id="5" name="Picture 4" descr="A close-up of a number&#10;&#10;AI-generated content may be incorrect.">
              <a:extLst>
                <a:ext uri="{FF2B5EF4-FFF2-40B4-BE49-F238E27FC236}">
                  <a16:creationId xmlns:a16="http://schemas.microsoft.com/office/drawing/2014/main" id="{12B5E0E6-8B48-0219-8826-C977ED627A82}"/>
                </a:ext>
              </a:extLst>
            </p:cNvPr>
            <p:cNvPicPr>
              <a:picLocks noChangeAspect="1"/>
            </p:cNvPicPr>
            <p:nvPr/>
          </p:nvPicPr>
          <p:blipFill>
            <a:blip r:embed="rId3"/>
            <a:stretch>
              <a:fillRect/>
            </a:stretch>
          </p:blipFill>
          <p:spPr>
            <a:xfrm>
              <a:off x="9567329" y="1205072"/>
              <a:ext cx="1940092" cy="2783335"/>
            </a:xfrm>
            <a:prstGeom prst="rect">
              <a:avLst/>
            </a:prstGeom>
            <a:ln>
              <a:solidFill>
                <a:schemeClr val="bg2"/>
              </a:solidFill>
            </a:ln>
          </p:spPr>
        </p:pic>
        <p:sp>
          <p:nvSpPr>
            <p:cNvPr id="15" name="TextBox 6">
              <a:extLst>
                <a:ext uri="{FF2B5EF4-FFF2-40B4-BE49-F238E27FC236}">
                  <a16:creationId xmlns:a16="http://schemas.microsoft.com/office/drawing/2014/main" id="{5959EFDD-D348-B712-D018-25919B274190}"/>
                </a:ext>
              </a:extLst>
            </p:cNvPr>
            <p:cNvSpPr txBox="1"/>
            <p:nvPr/>
          </p:nvSpPr>
          <p:spPr>
            <a:xfrm>
              <a:off x="9546965" y="737847"/>
              <a:ext cx="1960456" cy="461665"/>
            </a:xfrm>
            <a:prstGeom prst="rect">
              <a:avLst/>
            </a:prstGeom>
            <a:noFill/>
          </p:spPr>
          <p:txBody>
            <a:bodyPr wrap="square" rtlCol="0">
              <a:spAutoFit/>
            </a:bodyPr>
            <a:lstStyle/>
            <a:p>
              <a:r>
                <a:rPr lang="zh-CN" altLang="en-US" b="1" dirty="0">
                  <a:solidFill>
                    <a:srgbClr val="C00000"/>
                  </a:solidFill>
                  <a:latin typeface="+mn-ea"/>
                  <a:ea typeface="+mn-ea"/>
                </a:rPr>
                <a:t>机器语言</a:t>
              </a:r>
              <a:endParaRPr lang="en-CN" b="1" dirty="0">
                <a:solidFill>
                  <a:srgbClr val="C00000"/>
                </a:solidFill>
                <a:latin typeface="+mn-ea"/>
                <a:ea typeface="+mn-ea"/>
              </a:endParaRPr>
            </a:p>
          </p:txBody>
        </p:sp>
      </p:grpSp>
      <p:grpSp>
        <p:nvGrpSpPr>
          <p:cNvPr id="19" name="组合 18">
            <a:extLst>
              <a:ext uri="{FF2B5EF4-FFF2-40B4-BE49-F238E27FC236}">
                <a16:creationId xmlns:a16="http://schemas.microsoft.com/office/drawing/2014/main" id="{AE35E75E-9E39-3C39-E8BE-A14E23628190}"/>
              </a:ext>
            </a:extLst>
          </p:cNvPr>
          <p:cNvGrpSpPr/>
          <p:nvPr/>
        </p:nvGrpSpPr>
        <p:grpSpPr>
          <a:xfrm>
            <a:off x="9198154" y="5170469"/>
            <a:ext cx="2765696" cy="967835"/>
            <a:chOff x="8738016" y="5691985"/>
            <a:chExt cx="2765696" cy="967835"/>
          </a:xfrm>
        </p:grpSpPr>
        <p:sp>
          <p:nvSpPr>
            <p:cNvPr id="14" name="TextBox 13">
              <a:extLst>
                <a:ext uri="{FF2B5EF4-FFF2-40B4-BE49-F238E27FC236}">
                  <a16:creationId xmlns:a16="http://schemas.microsoft.com/office/drawing/2014/main" id="{A44F04E4-95AA-EA43-1B81-1017B392FE22}"/>
                </a:ext>
              </a:extLst>
            </p:cNvPr>
            <p:cNvSpPr txBox="1"/>
            <p:nvPr/>
          </p:nvSpPr>
          <p:spPr>
            <a:xfrm>
              <a:off x="8739618" y="5691985"/>
              <a:ext cx="1291316" cy="461665"/>
            </a:xfrm>
            <a:prstGeom prst="rect">
              <a:avLst/>
            </a:prstGeom>
            <a:noFill/>
          </p:spPr>
          <p:txBody>
            <a:bodyPr wrap="none" rtlCol="0">
              <a:spAutoFit/>
            </a:bodyPr>
            <a:lstStyle/>
            <a:p>
              <a:r>
                <a:rPr lang="en-US" b="1" dirty="0">
                  <a:solidFill>
                    <a:srgbClr val="C00000"/>
                  </a:solidFill>
                  <a:latin typeface="+mn-ea"/>
                  <a:ea typeface="+mn-ea"/>
                </a:rPr>
                <a:t>P</a:t>
              </a:r>
              <a:r>
                <a:rPr lang="en-CN" b="1" dirty="0">
                  <a:solidFill>
                    <a:srgbClr val="C00000"/>
                  </a:solidFill>
                  <a:latin typeface="+mn-ea"/>
                  <a:ea typeface="+mn-ea"/>
                </a:rPr>
                <a:t>ython</a:t>
              </a:r>
            </a:p>
          </p:txBody>
        </p:sp>
        <p:sp>
          <p:nvSpPr>
            <p:cNvPr id="18" name="文本框 17">
              <a:extLst>
                <a:ext uri="{FF2B5EF4-FFF2-40B4-BE49-F238E27FC236}">
                  <a16:creationId xmlns:a16="http://schemas.microsoft.com/office/drawing/2014/main" id="{96FC6AB4-ED62-DFBC-4A55-CC78F9E09965}"/>
                </a:ext>
              </a:extLst>
            </p:cNvPr>
            <p:cNvSpPr txBox="1"/>
            <p:nvPr/>
          </p:nvSpPr>
          <p:spPr>
            <a:xfrm>
              <a:off x="8738016" y="6198155"/>
              <a:ext cx="2765696"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R1+R2</a:t>
              </a:r>
              <a:endParaRPr lang="zh-CN" altLang="en-US" b="1" dirty="0">
                <a:solidFill>
                  <a:srgbClr val="333399"/>
                </a:solidFill>
              </a:endParaRPr>
            </a:p>
          </p:txBody>
        </p:sp>
      </p:grpSp>
    </p:spTree>
    <p:extLst>
      <p:ext uri="{BB962C8B-B14F-4D97-AF65-F5344CB8AC3E}">
        <p14:creationId xmlns:p14="http://schemas.microsoft.com/office/powerpoint/2010/main" val="314840471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2"/>
            <a:ext cx="11670743"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a:t>
            </a:r>
            <a:r>
              <a:rPr lang="en-US" altLang="zh-CN" sz="4000" b="1" dirty="0">
                <a:latin typeface="微软雅黑" pitchFamily="34" charset="-122"/>
                <a:ea typeface="微软雅黑" pitchFamily="34" charset="-122"/>
              </a:rPr>
              <a:t>Python</a:t>
            </a:r>
            <a:r>
              <a:rPr lang="zh-CN" altLang="en-US" sz="4000" b="1" dirty="0">
                <a:latin typeface="微软雅黑" pitchFamily="34" charset="-122"/>
                <a:ea typeface="微软雅黑" pitchFamily="34" charset="-122"/>
              </a:rPr>
              <a:t>程序设计简介</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481122590"/>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47397" y="846748"/>
            <a:ext cx="980293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547397" y="1497481"/>
            <a:ext cx="7500534" cy="4486613"/>
          </a:xfrm>
          <a:prstGeom prst="rect">
            <a:avLst/>
          </a:prstGeom>
          <a:noFill/>
        </p:spPr>
        <p:txBody>
          <a:bodyPr wrap="square">
            <a:spAutoFit/>
          </a:bodyPr>
          <a:lstStyle/>
          <a:p>
            <a:pPr algn="just">
              <a:lnSpc>
                <a:spcPct val="200000"/>
              </a:lnSpc>
            </a:pPr>
            <a:r>
              <a:rPr lang="zh-CN" altLang="zh-CN" sz="2800" b="1" dirty="0">
                <a:solidFill>
                  <a:srgbClr val="151515"/>
                </a:solidFill>
                <a:latin typeface="+mn-ea"/>
                <a:ea typeface="+mn-ea"/>
              </a:rPr>
              <a:t>Python</a:t>
            </a:r>
            <a:r>
              <a:rPr lang="zh-CN" altLang="zh-CN" sz="2800" dirty="0">
                <a:solidFill>
                  <a:srgbClr val="151515"/>
                </a:solidFill>
                <a:latin typeface="+mn-ea"/>
                <a:ea typeface="+mn-ea"/>
              </a:rPr>
              <a:t>（英国发音：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/ˈpaɪθən/</a:t>
            </a:r>
            <a:r>
              <a:rPr lang="zh-CN" altLang="zh-CN" sz="2800" dirty="0">
                <a:solidFill>
                  <a:srgbClr val="151515"/>
                </a:solidFill>
                <a:latin typeface="+mn-ea"/>
                <a:ea typeface="+mn-ea"/>
              </a:rPr>
              <a:t>；美国发音：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/ˈpaɪθɑːn/</a:t>
            </a:r>
            <a:r>
              <a:rPr lang="zh-CN" altLang="zh-CN" sz="2800" dirty="0">
                <a:solidFill>
                  <a:srgbClr val="151515"/>
                </a:solidFill>
                <a:latin typeface="+mn-ea"/>
                <a:ea typeface="+mn-ea"/>
              </a:rPr>
              <a:t>），是一种广泛使用的</a:t>
            </a:r>
            <a:r>
              <a:rPr lang="zh-CN" altLang="en-US" sz="2800" b="1" u="sng" dirty="0">
                <a:solidFill>
                  <a:srgbClr val="151515"/>
                </a:solidFill>
                <a:latin typeface="+mn-ea"/>
                <a:ea typeface="+mn-ea"/>
              </a:rPr>
              <a:t>解释型</a:t>
            </a:r>
            <a:r>
              <a:rPr lang="zh-CN" altLang="en-US" sz="2800" dirty="0">
                <a:solidFill>
                  <a:srgbClr val="151515"/>
                </a:solidFill>
                <a:latin typeface="+mn-ea"/>
                <a:ea typeface="+mn-ea"/>
              </a:rPr>
              <a:t>、</a:t>
            </a:r>
            <a:r>
              <a:rPr lang="zh-CN" altLang="en-US" sz="2800" b="1" u="sng" dirty="0">
                <a:solidFill>
                  <a:srgbClr val="151515"/>
                </a:solidFill>
                <a:latin typeface="+mn-ea"/>
                <a:ea typeface="+mn-ea"/>
              </a:rPr>
              <a:t>高级的</a:t>
            </a:r>
            <a:r>
              <a:rPr lang="zh-CN" altLang="en-US" sz="2800" dirty="0">
                <a:solidFill>
                  <a:srgbClr val="151515"/>
                </a:solidFill>
                <a:latin typeface="+mn-ea"/>
                <a:ea typeface="+mn-ea"/>
              </a:rPr>
              <a:t>、和</a:t>
            </a:r>
            <a:r>
              <a:rPr lang="zh-CN" altLang="en-US" sz="2800" b="1" u="sng" dirty="0">
                <a:solidFill>
                  <a:srgbClr val="151515"/>
                </a:solidFill>
                <a:latin typeface="+mn-ea"/>
                <a:ea typeface="+mn-ea"/>
              </a:rPr>
              <a:t>通用的</a:t>
            </a:r>
            <a:r>
              <a:rPr lang="zh-CN" altLang="en-US" sz="2800" dirty="0">
                <a:solidFill>
                  <a:srgbClr val="151515"/>
                </a:solidFill>
                <a:latin typeface="+mn-ea"/>
                <a:ea typeface="+mn-ea"/>
              </a:rPr>
              <a:t>编程语言。</a:t>
            </a:r>
            <a:endParaRPr lang="en-US" altLang="zh-CN" sz="2800" dirty="0">
              <a:solidFill>
                <a:srgbClr val="151515"/>
              </a:solidFill>
              <a:latin typeface="+mn-ea"/>
              <a:ea typeface="+mn-ea"/>
            </a:endParaRPr>
          </a:p>
          <a:p>
            <a:pPr algn="just">
              <a:lnSpc>
                <a:spcPct val="200000"/>
              </a:lnSpc>
            </a:pPr>
            <a:r>
              <a:rPr lang="en-US" altLang="zh-CN" sz="2800" dirty="0">
                <a:solidFill>
                  <a:srgbClr val="151515"/>
                </a:solidFill>
                <a:latin typeface="+mn-ea"/>
                <a:ea typeface="+mn-ea"/>
              </a:rPr>
              <a:t>Python</a:t>
            </a:r>
            <a:r>
              <a:rPr lang="zh-CN" altLang="en-US" sz="2800" dirty="0">
                <a:solidFill>
                  <a:srgbClr val="151515"/>
                </a:solidFill>
                <a:latin typeface="+mn-ea"/>
                <a:ea typeface="+mn-ea"/>
              </a:rPr>
              <a:t>是</a:t>
            </a:r>
            <a:r>
              <a:rPr lang="zh-CN" altLang="en-US" sz="2800" b="1" u="sng" dirty="0">
                <a:solidFill>
                  <a:srgbClr val="151515"/>
                </a:solidFill>
                <a:latin typeface="+mn-ea"/>
                <a:ea typeface="+mn-ea"/>
              </a:rPr>
              <a:t>吉多</a:t>
            </a:r>
            <a:r>
              <a:rPr lang="en-US" altLang="zh-CN" sz="2800" b="1" u="sng" dirty="0">
                <a:solidFill>
                  <a:srgbClr val="151515"/>
                </a:solidFill>
                <a:latin typeface="+mn-ea"/>
                <a:ea typeface="+mn-ea"/>
              </a:rPr>
              <a:t>·</a:t>
            </a:r>
            <a:r>
              <a:rPr lang="zh-CN" altLang="en-US" sz="2800" b="1" u="sng" dirty="0">
                <a:solidFill>
                  <a:srgbClr val="151515"/>
                </a:solidFill>
                <a:latin typeface="+mn-ea"/>
                <a:ea typeface="+mn-ea"/>
              </a:rPr>
              <a:t>范罗苏姆</a:t>
            </a:r>
            <a:r>
              <a:rPr lang="zh-CN" altLang="en-US" sz="2800" dirty="0">
                <a:solidFill>
                  <a:srgbClr val="151515"/>
                </a:solidFill>
                <a:latin typeface="+mn-ea"/>
                <a:ea typeface="+mn-ea"/>
              </a:rPr>
              <a:t>于</a:t>
            </a:r>
            <a:r>
              <a:rPr lang="en-US" altLang="zh-CN" sz="2800" dirty="0">
                <a:solidFill>
                  <a:srgbClr val="151515"/>
                </a:solidFill>
                <a:latin typeface="+mn-ea"/>
                <a:ea typeface="+mn-ea"/>
              </a:rPr>
              <a:t>1980</a:t>
            </a:r>
            <a:r>
              <a:rPr lang="zh-CN" altLang="en-US" sz="2800" dirty="0">
                <a:solidFill>
                  <a:srgbClr val="151515"/>
                </a:solidFill>
                <a:latin typeface="+mn-ea"/>
                <a:ea typeface="+mn-ea"/>
              </a:rPr>
              <a:t>年代后期开始研发，于</a:t>
            </a:r>
            <a:r>
              <a:rPr lang="en-US" altLang="zh-CN" sz="2800" dirty="0">
                <a:solidFill>
                  <a:srgbClr val="151515"/>
                </a:solidFill>
                <a:latin typeface="+mn-ea"/>
                <a:ea typeface="+mn-ea"/>
              </a:rPr>
              <a:t>1991</a:t>
            </a:r>
            <a:r>
              <a:rPr lang="zh-CN" altLang="en-US" sz="2800" dirty="0">
                <a:solidFill>
                  <a:srgbClr val="151515"/>
                </a:solidFill>
                <a:latin typeface="+mn-ea"/>
                <a:ea typeface="+mn-ea"/>
              </a:rPr>
              <a:t>年首次发布的编程语言。</a:t>
            </a:r>
            <a:endParaRPr lang="en-US" altLang="zh-CN" sz="2800" dirty="0">
              <a:solidFill>
                <a:srgbClr val="151515"/>
              </a:solidFill>
              <a:latin typeface="+mn-ea"/>
              <a:ea typeface="+mn-ea"/>
            </a:endParaRPr>
          </a:p>
        </p:txBody>
      </p:sp>
      <p:pic>
        <p:nvPicPr>
          <p:cNvPr id="1030" name="Picture 6">
            <a:extLst>
              <a:ext uri="{FF2B5EF4-FFF2-40B4-BE49-F238E27FC236}">
                <a16:creationId xmlns:a16="http://schemas.microsoft.com/office/drawing/2014/main" id="{289F6CD5-270F-AD2C-1153-8170963AB5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20037" y="1472601"/>
            <a:ext cx="2775658" cy="4163488"/>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3F871B1-EAE8-7534-2805-0EB36E0D9C90}"/>
              </a:ext>
            </a:extLst>
          </p:cNvPr>
          <p:cNvSpPr txBox="1"/>
          <p:nvPr/>
        </p:nvSpPr>
        <p:spPr>
          <a:xfrm>
            <a:off x="8420037" y="5625161"/>
            <a:ext cx="2775658" cy="784830"/>
          </a:xfrm>
          <a:prstGeom prst="rect">
            <a:avLst/>
          </a:prstGeom>
          <a:noFill/>
        </p:spPr>
        <p:txBody>
          <a:bodyPr wrap="square" rtlCol="0">
            <a:spAutoFit/>
          </a:bodyPr>
          <a:lstStyle/>
          <a:p>
            <a:r>
              <a:rPr lang="zh-CN" altLang="en-US" sz="1800" dirty="0">
                <a:solidFill>
                  <a:schemeClr val="bg2"/>
                </a:solidFill>
                <a:latin typeface="+mn-ea"/>
                <a:ea typeface="+mn-ea"/>
              </a:rPr>
              <a:t>吉多</a:t>
            </a:r>
            <a:r>
              <a:rPr lang="en-US" altLang="zh-CN" sz="1800" dirty="0">
                <a:solidFill>
                  <a:srgbClr val="151515"/>
                </a:solidFill>
                <a:latin typeface="+mn-ea"/>
                <a:ea typeface="+mn-ea"/>
              </a:rPr>
              <a:t>·</a:t>
            </a:r>
            <a:r>
              <a:rPr lang="zh-CN" altLang="en-US" sz="1800" dirty="0">
                <a:solidFill>
                  <a:srgbClr val="151515"/>
                </a:solidFill>
                <a:latin typeface="+mn-ea"/>
                <a:ea typeface="+mn-ea"/>
              </a:rPr>
              <a:t>范罗苏姆</a:t>
            </a:r>
            <a:endParaRPr lang="en-US" altLang="zh-CN" sz="1800" dirty="0">
              <a:solidFill>
                <a:srgbClr val="151515"/>
              </a:solidFill>
              <a:latin typeface="+mn-ea"/>
              <a:ea typeface="+mn-ea"/>
            </a:endParaRPr>
          </a:p>
          <a:p>
            <a:r>
              <a:rPr lang="zh-CN" altLang="en-US" sz="1800" dirty="0">
                <a:solidFill>
                  <a:srgbClr val="151515"/>
                </a:solidFill>
                <a:latin typeface="+mn-ea"/>
                <a:ea typeface="+mn-ea"/>
              </a:rPr>
              <a:t>（摄于</a:t>
            </a:r>
            <a:r>
              <a:rPr lang="en-US" altLang="zh-CN" sz="1800" dirty="0">
                <a:solidFill>
                  <a:srgbClr val="151515"/>
                </a:solidFill>
                <a:latin typeface="+mn-ea"/>
                <a:ea typeface="+mn-ea"/>
              </a:rPr>
              <a:t>2006</a:t>
            </a:r>
            <a:r>
              <a:rPr lang="zh-CN" altLang="en-US" sz="1800" dirty="0">
                <a:solidFill>
                  <a:srgbClr val="151515"/>
                </a:solidFill>
                <a:latin typeface="+mn-ea"/>
                <a:ea typeface="+mn-ea"/>
              </a:rPr>
              <a:t>）</a:t>
            </a:r>
            <a:endParaRPr lang="zh-CN" altLang="en-US" sz="1800" dirty="0">
              <a:solidFill>
                <a:schemeClr val="bg2"/>
              </a:solidFill>
              <a:latin typeface="+mn-ea"/>
              <a:ea typeface="+mn-ea"/>
            </a:endParaRPr>
          </a:p>
        </p:txBody>
      </p:sp>
    </p:spTree>
    <p:extLst>
      <p:ext uri="{BB962C8B-B14F-4D97-AF65-F5344CB8AC3E}">
        <p14:creationId xmlns:p14="http://schemas.microsoft.com/office/powerpoint/2010/main" val="406757760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34955" y="846748"/>
            <a:ext cx="9815380"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78780" y="2295279"/>
            <a:ext cx="6255835" cy="3172472"/>
          </a:xfrm>
          <a:prstGeom prst="rect">
            <a:avLst/>
          </a:prstGeom>
          <a:noFill/>
        </p:spPr>
        <p:txBody>
          <a:bodyPr wrap="square">
            <a:spAutoFit/>
          </a:bodyPr>
          <a:lstStyle/>
          <a:p>
            <a:pPr algn="just">
              <a:lnSpc>
                <a:spcPct val="200000"/>
              </a:lnSpc>
            </a:pPr>
            <a:r>
              <a:rPr lang="en-US" altLang="zh-CN" sz="2600" dirty="0">
                <a:solidFill>
                  <a:srgbClr val="151515"/>
                </a:solidFill>
                <a:latin typeface="+mn-ea"/>
                <a:ea typeface="+mn-ea"/>
              </a:rPr>
              <a:t>Python</a:t>
            </a:r>
            <a:r>
              <a:rPr lang="zh-CN" altLang="en-US" sz="2600" dirty="0">
                <a:solidFill>
                  <a:srgbClr val="151515"/>
                </a:solidFill>
                <a:latin typeface="+mn-ea"/>
                <a:ea typeface="+mn-ea"/>
              </a:rPr>
              <a:t>的设计哲学，强调</a:t>
            </a:r>
            <a:r>
              <a:rPr lang="zh-CN" altLang="en-US" sz="2600" b="1" u="sng" dirty="0">
                <a:solidFill>
                  <a:srgbClr val="151515"/>
                </a:solidFill>
                <a:latin typeface="+mn-ea"/>
                <a:ea typeface="+mn-ea"/>
              </a:rPr>
              <a:t>代码的可读性和简洁的语法</a:t>
            </a:r>
            <a:r>
              <a:rPr lang="zh-CN" altLang="en-US" sz="2600" dirty="0">
                <a:solidFill>
                  <a:srgbClr val="151515"/>
                </a:solidFill>
                <a:latin typeface="+mn-ea"/>
                <a:ea typeface="+mn-ea"/>
              </a:rPr>
              <a:t>。相比于</a:t>
            </a:r>
            <a:r>
              <a:rPr lang="en-US" altLang="zh-CN" sz="2600" dirty="0">
                <a:solidFill>
                  <a:srgbClr val="151515"/>
                </a:solidFill>
                <a:latin typeface="+mn-ea"/>
                <a:ea typeface="+mn-ea"/>
              </a:rPr>
              <a:t>C</a:t>
            </a:r>
            <a:r>
              <a:rPr lang="zh-CN" altLang="en-US" sz="2600" dirty="0">
                <a:solidFill>
                  <a:srgbClr val="151515"/>
                </a:solidFill>
                <a:latin typeface="+mn-ea"/>
                <a:ea typeface="+mn-ea"/>
              </a:rPr>
              <a:t>语言或</a:t>
            </a:r>
            <a:r>
              <a:rPr lang="en-US" altLang="zh-CN" sz="2600" dirty="0">
                <a:solidFill>
                  <a:srgbClr val="151515"/>
                </a:solidFill>
                <a:latin typeface="+mn-ea"/>
                <a:ea typeface="+mn-ea"/>
              </a:rPr>
              <a:t>Java</a:t>
            </a:r>
            <a:r>
              <a:rPr lang="zh-CN" altLang="en-US" sz="2600" dirty="0">
                <a:solidFill>
                  <a:srgbClr val="151515"/>
                </a:solidFill>
                <a:latin typeface="+mn-ea"/>
                <a:ea typeface="+mn-ea"/>
              </a:rPr>
              <a:t>，</a:t>
            </a:r>
            <a:r>
              <a:rPr lang="en-US" altLang="zh-CN" sz="2600" b="1" u="sng" dirty="0">
                <a:solidFill>
                  <a:srgbClr val="151515"/>
                </a:solidFill>
                <a:latin typeface="+mn-ea"/>
                <a:ea typeface="+mn-ea"/>
              </a:rPr>
              <a:t>Python</a:t>
            </a:r>
            <a:r>
              <a:rPr lang="zh-CN" altLang="en-US" sz="2600" b="1" u="sng" dirty="0">
                <a:solidFill>
                  <a:srgbClr val="151515"/>
                </a:solidFill>
                <a:latin typeface="+mn-ea"/>
                <a:ea typeface="+mn-ea"/>
              </a:rPr>
              <a:t>让开发者能够用更少的代码表达想法</a:t>
            </a:r>
            <a:r>
              <a:rPr lang="zh-CN" altLang="en-US" sz="2600" dirty="0">
                <a:solidFill>
                  <a:srgbClr val="151515"/>
                </a:solidFill>
                <a:latin typeface="+mn-ea"/>
                <a:ea typeface="+mn-ea"/>
              </a:rPr>
              <a:t>。</a:t>
            </a:r>
            <a:endParaRPr lang="en-US" altLang="zh-CN" sz="2600" dirty="0">
              <a:solidFill>
                <a:srgbClr val="151515"/>
              </a:solidFill>
              <a:latin typeface="+mn-ea"/>
              <a:ea typeface="+mn-ea"/>
            </a:endParaRPr>
          </a:p>
        </p:txBody>
      </p:sp>
      <p:grpSp>
        <p:nvGrpSpPr>
          <p:cNvPr id="22" name="组合 21">
            <a:extLst>
              <a:ext uri="{FF2B5EF4-FFF2-40B4-BE49-F238E27FC236}">
                <a16:creationId xmlns:a16="http://schemas.microsoft.com/office/drawing/2014/main" id="{8B29464D-8065-7C6D-E2B4-8C76D002430A}"/>
              </a:ext>
            </a:extLst>
          </p:cNvPr>
          <p:cNvGrpSpPr/>
          <p:nvPr/>
        </p:nvGrpSpPr>
        <p:grpSpPr>
          <a:xfrm>
            <a:off x="6679434" y="1282210"/>
            <a:ext cx="4617262" cy="2350630"/>
            <a:chOff x="4265480" y="1444374"/>
            <a:chExt cx="4747891" cy="2350630"/>
          </a:xfrm>
        </p:grpSpPr>
        <p:pic>
          <p:nvPicPr>
            <p:cNvPr id="14" name="图片 13">
              <a:extLst>
                <a:ext uri="{FF2B5EF4-FFF2-40B4-BE49-F238E27FC236}">
                  <a16:creationId xmlns:a16="http://schemas.microsoft.com/office/drawing/2014/main" id="{4680B48F-5950-7F4F-4FE2-3B263AFDC660}"/>
                </a:ext>
              </a:extLst>
            </p:cNvPr>
            <p:cNvPicPr>
              <a:picLocks noChangeAspect="1"/>
            </p:cNvPicPr>
            <p:nvPr/>
          </p:nvPicPr>
          <p:blipFill>
            <a:blip r:embed="rId3"/>
            <a:stretch>
              <a:fillRect/>
            </a:stretch>
          </p:blipFill>
          <p:spPr>
            <a:xfrm>
              <a:off x="4271963" y="1851496"/>
              <a:ext cx="4741408" cy="1943508"/>
            </a:xfrm>
            <a:prstGeom prst="rect">
              <a:avLst/>
            </a:prstGeom>
          </p:spPr>
        </p:pic>
        <p:sp>
          <p:nvSpPr>
            <p:cNvPr id="19" name="文本框 18">
              <a:extLst>
                <a:ext uri="{FF2B5EF4-FFF2-40B4-BE49-F238E27FC236}">
                  <a16:creationId xmlns:a16="http://schemas.microsoft.com/office/drawing/2014/main" id="{3ADAFA4E-D3F7-C2EC-494B-3A08BA9CB11D}"/>
                </a:ext>
              </a:extLst>
            </p:cNvPr>
            <p:cNvSpPr txBox="1"/>
            <p:nvPr/>
          </p:nvSpPr>
          <p:spPr>
            <a:xfrm>
              <a:off x="4265480" y="1444374"/>
              <a:ext cx="4741408" cy="430887"/>
            </a:xfrm>
            <a:prstGeom prst="rect">
              <a:avLst/>
            </a:prstGeom>
            <a:noFill/>
          </p:spPr>
          <p:txBody>
            <a:bodyPr wrap="square" rtlCol="0">
              <a:spAutoFit/>
            </a:bodyPr>
            <a:lstStyle/>
            <a:p>
              <a:r>
                <a:rPr lang="en-US" altLang="zh-CN" sz="2200" b="1" dirty="0">
                  <a:solidFill>
                    <a:srgbClr val="00B050"/>
                  </a:solidFill>
                  <a:latin typeface="+mn-ea"/>
                  <a:ea typeface="+mn-ea"/>
                </a:rPr>
                <a:t>C</a:t>
              </a:r>
              <a:r>
                <a:rPr lang="zh-CN" altLang="en-US" sz="2200" b="1" dirty="0">
                  <a:solidFill>
                    <a:srgbClr val="00B050"/>
                  </a:solidFill>
                  <a:latin typeface="+mn-ea"/>
                  <a:ea typeface="+mn-ea"/>
                </a:rPr>
                <a:t>语言</a:t>
              </a:r>
            </a:p>
          </p:txBody>
        </p:sp>
      </p:grpSp>
      <p:grpSp>
        <p:nvGrpSpPr>
          <p:cNvPr id="23" name="组合 22">
            <a:extLst>
              <a:ext uri="{FF2B5EF4-FFF2-40B4-BE49-F238E27FC236}">
                <a16:creationId xmlns:a16="http://schemas.microsoft.com/office/drawing/2014/main" id="{F931663A-00D0-B0A4-01B6-40831AD07B6B}"/>
              </a:ext>
            </a:extLst>
          </p:cNvPr>
          <p:cNvGrpSpPr/>
          <p:nvPr/>
        </p:nvGrpSpPr>
        <p:grpSpPr>
          <a:xfrm>
            <a:off x="6692496" y="3645905"/>
            <a:ext cx="4610958" cy="1656227"/>
            <a:chOff x="4271962" y="3813127"/>
            <a:chExt cx="4741409" cy="1656227"/>
          </a:xfrm>
        </p:grpSpPr>
        <p:pic>
          <p:nvPicPr>
            <p:cNvPr id="16" name="图片 15">
              <a:extLst>
                <a:ext uri="{FF2B5EF4-FFF2-40B4-BE49-F238E27FC236}">
                  <a16:creationId xmlns:a16="http://schemas.microsoft.com/office/drawing/2014/main" id="{2E466837-FB43-79DE-A9EC-822EB8AC5159}"/>
                </a:ext>
              </a:extLst>
            </p:cNvPr>
            <p:cNvPicPr>
              <a:picLocks noChangeAspect="1"/>
            </p:cNvPicPr>
            <p:nvPr/>
          </p:nvPicPr>
          <p:blipFill>
            <a:blip r:embed="rId4"/>
            <a:stretch>
              <a:fillRect/>
            </a:stretch>
          </p:blipFill>
          <p:spPr>
            <a:xfrm>
              <a:off x="4271962" y="4187594"/>
              <a:ext cx="4741409" cy="1281760"/>
            </a:xfrm>
            <a:prstGeom prst="rect">
              <a:avLst/>
            </a:prstGeom>
          </p:spPr>
        </p:pic>
        <p:sp>
          <p:nvSpPr>
            <p:cNvPr id="20" name="文本框 19">
              <a:extLst>
                <a:ext uri="{FF2B5EF4-FFF2-40B4-BE49-F238E27FC236}">
                  <a16:creationId xmlns:a16="http://schemas.microsoft.com/office/drawing/2014/main" id="{B6311F16-09EF-F498-7EFB-A1324ABA72E2}"/>
                </a:ext>
              </a:extLst>
            </p:cNvPr>
            <p:cNvSpPr txBox="1"/>
            <p:nvPr/>
          </p:nvSpPr>
          <p:spPr>
            <a:xfrm>
              <a:off x="4284204" y="3813127"/>
              <a:ext cx="4729167" cy="430887"/>
            </a:xfrm>
            <a:prstGeom prst="rect">
              <a:avLst/>
            </a:prstGeom>
            <a:noFill/>
          </p:spPr>
          <p:txBody>
            <a:bodyPr wrap="square" rtlCol="0">
              <a:spAutoFit/>
            </a:bodyPr>
            <a:lstStyle/>
            <a:p>
              <a:r>
                <a:rPr lang="en-US" altLang="zh-CN" sz="2200" b="1" dirty="0">
                  <a:solidFill>
                    <a:srgbClr val="00B050"/>
                  </a:solidFill>
                  <a:latin typeface="+mn-ea"/>
                  <a:ea typeface="+mn-ea"/>
                </a:rPr>
                <a:t>JAVA</a:t>
              </a:r>
              <a:endParaRPr lang="zh-CN" altLang="en-US" sz="2200" b="1" dirty="0">
                <a:solidFill>
                  <a:srgbClr val="00B050"/>
                </a:solidFill>
                <a:latin typeface="+mn-ea"/>
                <a:ea typeface="+mn-ea"/>
              </a:endParaRPr>
            </a:p>
          </p:txBody>
        </p:sp>
      </p:grpSp>
      <p:grpSp>
        <p:nvGrpSpPr>
          <p:cNvPr id="24" name="组合 23">
            <a:extLst>
              <a:ext uri="{FF2B5EF4-FFF2-40B4-BE49-F238E27FC236}">
                <a16:creationId xmlns:a16="http://schemas.microsoft.com/office/drawing/2014/main" id="{55BCAAFE-EC7F-F2ED-F313-2E4F57C52873}"/>
              </a:ext>
            </a:extLst>
          </p:cNvPr>
          <p:cNvGrpSpPr/>
          <p:nvPr/>
        </p:nvGrpSpPr>
        <p:grpSpPr>
          <a:xfrm>
            <a:off x="6704738" y="5288343"/>
            <a:ext cx="4617262" cy="1244751"/>
            <a:chOff x="4265480" y="5384897"/>
            <a:chExt cx="4747891" cy="1244751"/>
          </a:xfrm>
        </p:grpSpPr>
        <p:pic>
          <p:nvPicPr>
            <p:cNvPr id="18" name="图片 17">
              <a:extLst>
                <a:ext uri="{FF2B5EF4-FFF2-40B4-BE49-F238E27FC236}">
                  <a16:creationId xmlns:a16="http://schemas.microsoft.com/office/drawing/2014/main" id="{863200F9-3801-6655-4303-8E40B86C3232}"/>
                </a:ext>
              </a:extLst>
            </p:cNvPr>
            <p:cNvPicPr>
              <a:picLocks noChangeAspect="1"/>
            </p:cNvPicPr>
            <p:nvPr/>
          </p:nvPicPr>
          <p:blipFill>
            <a:blip r:embed="rId5"/>
            <a:stretch>
              <a:fillRect/>
            </a:stretch>
          </p:blipFill>
          <p:spPr>
            <a:xfrm>
              <a:off x="4265480" y="5801292"/>
              <a:ext cx="4747891" cy="828356"/>
            </a:xfrm>
            <a:prstGeom prst="rect">
              <a:avLst/>
            </a:prstGeom>
          </p:spPr>
        </p:pic>
        <p:sp>
          <p:nvSpPr>
            <p:cNvPr id="21" name="文本框 20">
              <a:extLst>
                <a:ext uri="{FF2B5EF4-FFF2-40B4-BE49-F238E27FC236}">
                  <a16:creationId xmlns:a16="http://schemas.microsoft.com/office/drawing/2014/main" id="{E0CE082D-7C58-EB19-487B-AF76E1109811}"/>
                </a:ext>
              </a:extLst>
            </p:cNvPr>
            <p:cNvSpPr txBox="1"/>
            <p:nvPr/>
          </p:nvSpPr>
          <p:spPr>
            <a:xfrm>
              <a:off x="4271962" y="5384897"/>
              <a:ext cx="4741409" cy="430887"/>
            </a:xfrm>
            <a:prstGeom prst="rect">
              <a:avLst/>
            </a:prstGeom>
            <a:noFill/>
          </p:spPr>
          <p:txBody>
            <a:bodyPr wrap="square" rtlCol="0">
              <a:spAutoFit/>
            </a:bodyPr>
            <a:lstStyle/>
            <a:p>
              <a:r>
                <a:rPr lang="en-US" altLang="zh-CN" sz="2200" b="1" dirty="0">
                  <a:solidFill>
                    <a:srgbClr val="00B050"/>
                  </a:solidFill>
                  <a:latin typeface="+mn-ea"/>
                  <a:ea typeface="+mn-ea"/>
                </a:rPr>
                <a:t>Python</a:t>
              </a:r>
              <a:endParaRPr lang="zh-CN" altLang="en-US" sz="2200" b="1" dirty="0">
                <a:solidFill>
                  <a:srgbClr val="00B050"/>
                </a:solidFill>
                <a:latin typeface="+mn-ea"/>
                <a:ea typeface="+mn-ea"/>
              </a:endParaRPr>
            </a:p>
          </p:txBody>
        </p:sp>
      </p:grpSp>
    </p:spTree>
    <p:extLst>
      <p:ext uri="{BB962C8B-B14F-4D97-AF65-F5344CB8AC3E}">
        <p14:creationId xmlns:p14="http://schemas.microsoft.com/office/powerpoint/2010/main" val="300790234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625309" y="846748"/>
            <a:ext cx="9725026"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671069" y="1604182"/>
            <a:ext cx="9912065" cy="1231106"/>
          </a:xfrm>
          <a:prstGeom prst="rect">
            <a:avLst/>
          </a:prstGeom>
          <a:noFill/>
        </p:spPr>
        <p:txBody>
          <a:bodyPr wrap="square">
            <a:spAutoFit/>
          </a:bodyPr>
          <a:lstStyle/>
          <a:p>
            <a:pPr algn="just"/>
            <a:r>
              <a:rPr lang="en-US" altLang="zh-CN" sz="3200" b="1" dirty="0">
                <a:solidFill>
                  <a:schemeClr val="accent2"/>
                </a:solidFill>
                <a:latin typeface="+mn-ea"/>
                <a:ea typeface="+mn-ea"/>
              </a:rPr>
              <a:t>Python</a:t>
            </a:r>
            <a:r>
              <a:rPr lang="zh-CN" altLang="en-US" sz="3200" b="1" dirty="0">
                <a:solidFill>
                  <a:schemeClr val="accent2"/>
                </a:solidFill>
                <a:latin typeface="+mn-ea"/>
                <a:ea typeface="+mn-ea"/>
              </a:rPr>
              <a:t>为什么流行</a:t>
            </a:r>
            <a:r>
              <a:rPr lang="en-US" altLang="zh-CN" sz="3200" b="1" dirty="0">
                <a:solidFill>
                  <a:schemeClr val="accent2"/>
                </a:solidFill>
                <a:latin typeface="+mn-ea"/>
                <a:ea typeface="+mn-ea"/>
              </a:rPr>
              <a:t>?</a:t>
            </a:r>
          </a:p>
          <a:p>
            <a:pPr marL="457200" indent="-457200" algn="just">
              <a:buAutoNum type="arabicPeriod"/>
            </a:pPr>
            <a:r>
              <a:rPr lang="en-US" altLang="zh-CN" sz="2800" dirty="0">
                <a:solidFill>
                  <a:srgbClr val="151515"/>
                </a:solidFill>
                <a:latin typeface="+mn-ea"/>
                <a:ea typeface="+mn-ea"/>
              </a:rPr>
              <a:t>Python</a:t>
            </a:r>
            <a:r>
              <a:rPr lang="zh-CN" altLang="en-US" sz="2800" dirty="0">
                <a:solidFill>
                  <a:srgbClr val="151515"/>
                </a:solidFill>
                <a:latin typeface="+mn-ea"/>
                <a:ea typeface="+mn-ea"/>
              </a:rPr>
              <a:t>强调</a:t>
            </a:r>
            <a:r>
              <a:rPr lang="zh-CN" altLang="en-US" sz="2800" b="1" u="sng" dirty="0">
                <a:solidFill>
                  <a:srgbClr val="151515"/>
                </a:solidFill>
                <a:latin typeface="+mn-ea"/>
                <a:ea typeface="+mn-ea"/>
              </a:rPr>
              <a:t>代码的可读性和简洁的语法</a:t>
            </a:r>
            <a:r>
              <a:rPr lang="zh-CN" altLang="en-US" sz="2800" dirty="0">
                <a:solidFill>
                  <a:srgbClr val="151515"/>
                </a:solidFill>
                <a:latin typeface="+mn-ea"/>
                <a:ea typeface="+mn-ea"/>
              </a:rPr>
              <a:t>，对初学者友好。</a:t>
            </a:r>
            <a:endParaRPr lang="en-US" altLang="zh-CN" sz="2800" dirty="0">
              <a:solidFill>
                <a:srgbClr val="151515"/>
              </a:solidFill>
              <a:latin typeface="+mn-ea"/>
              <a:ea typeface="+mn-ea"/>
            </a:endParaRPr>
          </a:p>
        </p:txBody>
      </p:sp>
      <p:pic>
        <p:nvPicPr>
          <p:cNvPr id="2050" name="Picture 2" descr="图1.1 Python 拥有丰富的生态系统">
            <a:extLst>
              <a:ext uri="{FF2B5EF4-FFF2-40B4-BE49-F238E27FC236}">
                <a16:creationId xmlns:a16="http://schemas.microsoft.com/office/drawing/2014/main" id="{AAC73176-B659-3538-0003-38733D3392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22302" y="3022114"/>
            <a:ext cx="6228401" cy="3646209"/>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E780D258-7A2F-FAD8-6FC0-04714DD16862}"/>
              </a:ext>
            </a:extLst>
          </p:cNvPr>
          <p:cNvSpPr txBox="1"/>
          <p:nvPr/>
        </p:nvSpPr>
        <p:spPr>
          <a:xfrm>
            <a:off x="671069" y="3135644"/>
            <a:ext cx="5151233" cy="2816990"/>
          </a:xfrm>
          <a:prstGeom prst="rect">
            <a:avLst/>
          </a:prstGeom>
          <a:noFill/>
        </p:spPr>
        <p:txBody>
          <a:bodyPr wrap="square">
            <a:spAutoFit/>
          </a:bodyPr>
          <a:lstStyle/>
          <a:p>
            <a:pPr algn="just">
              <a:lnSpc>
                <a:spcPct val="150000"/>
              </a:lnSpc>
            </a:pPr>
            <a:r>
              <a:rPr lang="en-US" altLang="zh-CN" sz="2800" dirty="0">
                <a:solidFill>
                  <a:srgbClr val="151515"/>
                </a:solidFill>
                <a:latin typeface="+mn-ea"/>
                <a:ea typeface="+mn-ea"/>
              </a:rPr>
              <a:t>2. </a:t>
            </a:r>
            <a:r>
              <a:rPr lang="zh-CN" altLang="en-US" sz="2800" dirty="0">
                <a:solidFill>
                  <a:srgbClr val="151515"/>
                </a:solidFill>
                <a:latin typeface="+mn-ea"/>
                <a:ea typeface="+mn-ea"/>
              </a:rPr>
              <a:t>丰富的</a:t>
            </a:r>
            <a:r>
              <a:rPr lang="en-US" altLang="zh-CN" sz="2800" dirty="0">
                <a:solidFill>
                  <a:srgbClr val="151515"/>
                </a:solidFill>
                <a:latin typeface="+mn-ea"/>
                <a:ea typeface="+mn-ea"/>
              </a:rPr>
              <a:t>Python</a:t>
            </a:r>
            <a:r>
              <a:rPr lang="zh-CN" altLang="en-US" sz="2800" dirty="0">
                <a:solidFill>
                  <a:srgbClr val="151515"/>
                </a:solidFill>
                <a:latin typeface="+mn-ea"/>
                <a:ea typeface="+mn-ea"/>
              </a:rPr>
              <a:t>生态系统，包含众多第三方开源库。</a:t>
            </a:r>
            <a:endParaRPr lang="en-US" altLang="zh-CN" sz="2800" dirty="0">
              <a:solidFill>
                <a:srgbClr val="151515"/>
              </a:solidFill>
              <a:latin typeface="+mn-ea"/>
              <a:ea typeface="+mn-ea"/>
            </a:endParaRPr>
          </a:p>
          <a:p>
            <a:pPr algn="just">
              <a:lnSpc>
                <a:spcPct val="150000"/>
              </a:lnSpc>
            </a:pPr>
            <a:r>
              <a:rPr lang="en-US" altLang="zh-CN" sz="2800" dirty="0">
                <a:solidFill>
                  <a:srgbClr val="151515"/>
                </a:solidFill>
                <a:latin typeface="+mn-ea"/>
                <a:ea typeface="+mn-ea"/>
              </a:rPr>
              <a:t>3. </a:t>
            </a:r>
            <a:r>
              <a:rPr lang="zh-CN" altLang="en-US" sz="2800" dirty="0">
                <a:solidFill>
                  <a:srgbClr val="151515"/>
                </a:solidFill>
                <a:latin typeface="+mn-ea"/>
                <a:ea typeface="+mn-ea"/>
              </a:rPr>
              <a:t>近年来机器学习、深度学习、人工智能技术的广泛应用。</a:t>
            </a:r>
            <a:endParaRPr lang="en-US" altLang="zh-CN" sz="2800" dirty="0">
              <a:solidFill>
                <a:srgbClr val="151515"/>
              </a:solidFill>
              <a:latin typeface="+mn-ea"/>
              <a:ea typeface="+mn-ea"/>
            </a:endParaRPr>
          </a:p>
        </p:txBody>
      </p:sp>
    </p:spTree>
    <p:extLst>
      <p:ext uri="{BB962C8B-B14F-4D97-AF65-F5344CB8AC3E}">
        <p14:creationId xmlns:p14="http://schemas.microsoft.com/office/powerpoint/2010/main" val="1201565076"/>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简介</a:t>
            </a:r>
          </a:p>
        </p:txBody>
      </p:sp>
      <p:sp>
        <p:nvSpPr>
          <p:cNvPr id="2" name="TextBox 1">
            <a:extLst>
              <a:ext uri="{FF2B5EF4-FFF2-40B4-BE49-F238E27FC236}">
                <a16:creationId xmlns:a16="http://schemas.microsoft.com/office/drawing/2014/main" id="{631AADB6-C88A-D817-4683-FC087E4E240F}"/>
              </a:ext>
            </a:extLst>
          </p:cNvPr>
          <p:cNvSpPr txBox="1"/>
          <p:nvPr/>
        </p:nvSpPr>
        <p:spPr>
          <a:xfrm>
            <a:off x="709127" y="846751"/>
            <a:ext cx="964120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P</a:t>
            </a:r>
            <a:r>
              <a:rPr lang="en-CN" altLang="zh-CN" sz="3200" b="1" dirty="0">
                <a:solidFill>
                  <a:srgbClr val="333333"/>
                </a:solidFill>
                <a:latin typeface="+mn-ea"/>
                <a:ea typeface="+mn-ea"/>
              </a:rPr>
              <a:t>ython</a:t>
            </a:r>
            <a:r>
              <a:rPr lang="zh-CN" altLang="en-US" sz="3200" b="1" dirty="0">
                <a:solidFill>
                  <a:srgbClr val="333333"/>
                </a:solidFill>
                <a:latin typeface="+mn-ea"/>
                <a:ea typeface="+mn-ea"/>
              </a:rPr>
              <a:t>发行历史</a:t>
            </a:r>
            <a:endParaRPr lang="en-US" altLang="zh-CN" sz="3200" b="1" dirty="0">
              <a:solidFill>
                <a:srgbClr val="333333"/>
              </a:solidFill>
              <a:latin typeface="+mn-ea"/>
              <a:ea typeface="+mn-ea"/>
            </a:endParaRPr>
          </a:p>
        </p:txBody>
      </p:sp>
      <p:sp>
        <p:nvSpPr>
          <p:cNvPr id="8" name="TextBox 7">
            <a:extLst>
              <a:ext uri="{FF2B5EF4-FFF2-40B4-BE49-F238E27FC236}">
                <a16:creationId xmlns:a16="http://schemas.microsoft.com/office/drawing/2014/main" id="{CF0A46FB-7B1F-38BA-4783-7D8B17F03C9F}"/>
              </a:ext>
            </a:extLst>
          </p:cNvPr>
          <p:cNvSpPr txBox="1"/>
          <p:nvPr/>
        </p:nvSpPr>
        <p:spPr>
          <a:xfrm>
            <a:off x="847788" y="5103930"/>
            <a:ext cx="10234014" cy="662554"/>
          </a:xfrm>
          <a:prstGeom prst="rect">
            <a:avLst/>
          </a:prstGeom>
          <a:solidFill>
            <a:schemeClr val="tx1"/>
          </a:solidFill>
        </p:spPr>
        <p:txBody>
          <a:bodyPr wrap="square">
            <a:spAutoFit/>
          </a:bodyPr>
          <a:lstStyle/>
          <a:p>
            <a:pPr>
              <a:lnSpc>
                <a:spcPct val="150000"/>
              </a:lnSpc>
            </a:pPr>
            <a:r>
              <a:rPr lang="en-US" sz="2800" dirty="0">
                <a:solidFill>
                  <a:srgbClr val="151515"/>
                </a:solidFill>
                <a:latin typeface="+mn-ea"/>
                <a:ea typeface="+mn-ea"/>
              </a:rPr>
              <a:t>2025年</a:t>
            </a:r>
            <a:r>
              <a:rPr lang="zh-CN" altLang="en-US" sz="2800" dirty="0">
                <a:solidFill>
                  <a:srgbClr val="151515"/>
                </a:solidFill>
                <a:latin typeface="+mn-ea"/>
                <a:ea typeface="+mn-ea"/>
              </a:rPr>
              <a:t>，发布</a:t>
            </a:r>
            <a:r>
              <a:rPr lang="en-US" altLang="zh-CN" sz="2800" b="1" dirty="0">
                <a:solidFill>
                  <a:schemeClr val="accent2"/>
                </a:solidFill>
                <a:latin typeface="+mn-ea"/>
                <a:ea typeface="+mn-ea"/>
              </a:rPr>
              <a:t>Python 3.14</a:t>
            </a:r>
            <a:r>
              <a:rPr lang="zh-CN" altLang="en-US" sz="2800" dirty="0">
                <a:solidFill>
                  <a:srgbClr val="151515"/>
                </a:solidFill>
                <a:latin typeface="+mn-ea"/>
                <a:ea typeface="+mn-ea"/>
              </a:rPr>
              <a:t>版本。</a:t>
            </a:r>
            <a:endParaRPr lang="en-US" sz="2800" dirty="0">
              <a:solidFill>
                <a:srgbClr val="151515"/>
              </a:solidFill>
              <a:latin typeface="+mn-ea"/>
              <a:ea typeface="+mn-ea"/>
            </a:endParaRPr>
          </a:p>
        </p:txBody>
      </p:sp>
      <p:pic>
        <p:nvPicPr>
          <p:cNvPr id="9" name="图片 8">
            <a:extLst>
              <a:ext uri="{FF2B5EF4-FFF2-40B4-BE49-F238E27FC236}">
                <a16:creationId xmlns:a16="http://schemas.microsoft.com/office/drawing/2014/main" id="{5D24C029-A3B8-515E-0089-D11F9B3EB864}"/>
              </a:ext>
            </a:extLst>
          </p:cNvPr>
          <p:cNvPicPr>
            <a:picLocks noChangeAspect="1"/>
          </p:cNvPicPr>
          <p:nvPr/>
        </p:nvPicPr>
        <p:blipFill>
          <a:blip r:embed="rId3"/>
          <a:srcRect l="7897" t="36182" r="11419" b="21717"/>
          <a:stretch>
            <a:fillRect/>
          </a:stretch>
        </p:blipFill>
        <p:spPr>
          <a:xfrm>
            <a:off x="339113" y="1951189"/>
            <a:ext cx="11305861" cy="2955621"/>
          </a:xfrm>
          <a:prstGeom prst="rect">
            <a:avLst/>
          </a:prstGeom>
        </p:spPr>
      </p:pic>
    </p:spTree>
    <p:extLst>
      <p:ext uri="{BB962C8B-B14F-4D97-AF65-F5344CB8AC3E}">
        <p14:creationId xmlns:p14="http://schemas.microsoft.com/office/powerpoint/2010/main" val="206287084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5"/>
            <a:ext cx="11670743" cy="646331"/>
          </a:xfrm>
          <a:prstGeom prst="rect">
            <a:avLst/>
          </a:prstGeom>
        </p:spPr>
        <p:txBody>
          <a:bodyPr wrap="square">
            <a:spAutoFit/>
          </a:bodyPr>
          <a:lstStyle/>
          <a:p>
            <a:pPr algn="l" fontAlgn="auto">
              <a:spcBef>
                <a:spcPts val="0"/>
              </a:spcBef>
              <a:spcAft>
                <a:spcPts val="0"/>
              </a:spcAft>
            </a:pPr>
            <a:r>
              <a:rPr lang="zh-CN" altLang="en-US" sz="3600" b="1" dirty="0">
                <a:latin typeface="微软雅黑" pitchFamily="34" charset="-122"/>
                <a:ea typeface="微软雅黑" pitchFamily="34" charset="-122"/>
              </a:rPr>
              <a:t>三、</a:t>
            </a:r>
            <a:r>
              <a:rPr lang="en-US" altLang="zh-CN" sz="3600" b="1" dirty="0">
                <a:latin typeface="微软雅黑" pitchFamily="34" charset="-122"/>
                <a:ea typeface="微软雅黑" pitchFamily="34" charset="-122"/>
              </a:rPr>
              <a:t>Python</a:t>
            </a:r>
            <a:r>
              <a:rPr lang="zh-CN" altLang="en-US" sz="3600" b="1" dirty="0">
                <a:latin typeface="微软雅黑" pitchFamily="34" charset="-122"/>
                <a:ea typeface="微软雅黑" pitchFamily="34" charset="-122"/>
              </a:rPr>
              <a:t>编程环境配置</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97216377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502618" y="902171"/>
            <a:ext cx="984771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开发环境概念</a:t>
            </a:r>
            <a:endParaRPr lang="en-US" altLang="zh-CN" sz="32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05728" y="1564660"/>
            <a:ext cx="7056758" cy="5223033"/>
          </a:xfrm>
          <a:prstGeom prst="rect">
            <a:avLst/>
          </a:prstGeom>
          <a:noFill/>
        </p:spPr>
        <p:txBody>
          <a:bodyPr wrap="square">
            <a:spAutoFit/>
          </a:bodyPr>
          <a:lstStyle/>
          <a:p>
            <a:pPr algn="l">
              <a:lnSpc>
                <a:spcPct val="150000"/>
              </a:lnSpc>
            </a:pPr>
            <a:r>
              <a:rPr lang="zh-CN" altLang="en-US" sz="2600" dirty="0">
                <a:solidFill>
                  <a:srgbClr val="333333"/>
                </a:solidFill>
                <a:latin typeface="Microsoft YaHei" panose="020B0503020204020204" pitchFamily="34" charset="-122"/>
                <a:ea typeface="Microsoft YaHei" panose="020B0503020204020204" pitchFamily="34" charset="-122"/>
              </a:rPr>
              <a:t>开发环境顾名思义是指程序员在编写代码时所使用的环境。配置开发环境目的在于最大程度提高程序员的开发效率。</a:t>
            </a:r>
            <a:endParaRPr lang="en-US" altLang="zh-CN" sz="26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开发环境一般包括</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1</a:t>
            </a:r>
            <a:r>
              <a:rPr lang="zh-CN" altLang="en-US" sz="2600" b="1" u="sng" dirty="0">
                <a:solidFill>
                  <a:srgbClr val="333333"/>
                </a:solidFill>
                <a:latin typeface="Microsoft YaHei" panose="020B0503020204020204" pitchFamily="34" charset="-122"/>
                <a:ea typeface="Microsoft YaHei" panose="020B0503020204020204" pitchFamily="34" charset="-122"/>
              </a:rPr>
              <a:t>）电脑操作系统</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3</a:t>
            </a:r>
            <a:r>
              <a:rPr lang="zh-CN" altLang="en-US" sz="2600" b="1" u="sng" dirty="0">
                <a:solidFill>
                  <a:srgbClr val="333333"/>
                </a:solidFill>
                <a:latin typeface="Microsoft YaHei" panose="020B0503020204020204" pitchFamily="34" charset="-122"/>
                <a:ea typeface="Microsoft YaHei" panose="020B0503020204020204" pitchFamily="34" charset="-122"/>
              </a:rPr>
              <a:t>）代码编辑器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2</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Python</a:t>
            </a:r>
            <a:r>
              <a:rPr lang="zh-CN" altLang="en-US" sz="2600" b="1" u="sng" dirty="0">
                <a:solidFill>
                  <a:srgbClr val="333333"/>
                </a:solidFill>
                <a:latin typeface="Microsoft YaHei" panose="020B0503020204020204" pitchFamily="34" charset="-122"/>
                <a:ea typeface="Microsoft YaHei" panose="020B0503020204020204" pitchFamily="34" charset="-122"/>
              </a:rPr>
              <a:t>解释器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 4 </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Python</a:t>
            </a:r>
            <a:r>
              <a:rPr lang="zh-CN" altLang="en-US" sz="2600" b="1" u="sng" dirty="0">
                <a:solidFill>
                  <a:schemeClr val="bg2"/>
                </a:solidFill>
                <a:latin typeface="Microsoft YaHei" panose="020B0503020204020204" pitchFamily="34" charset="-122"/>
                <a:ea typeface="Microsoft YaHei" panose="020B0503020204020204" pitchFamily="34" charset="-122"/>
              </a:rPr>
              <a:t>第三方软件包</a:t>
            </a:r>
            <a:r>
              <a:rPr lang="zh-CN" altLang="en-US" sz="2600" b="1" dirty="0">
                <a:solidFill>
                  <a:schemeClr val="bg2"/>
                </a:solidFill>
                <a:latin typeface="Microsoft YaHei" panose="020B0503020204020204" pitchFamily="34" charset="-122"/>
                <a:ea typeface="Microsoft YaHei" panose="020B0503020204020204" pitchFamily="34" charset="-122"/>
              </a:rPr>
              <a:t>。</a:t>
            </a:r>
            <a:endParaRPr lang="en-US" altLang="zh-CN" sz="2600" b="1" dirty="0">
              <a:solidFill>
                <a:schemeClr val="bg2"/>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第三方软件包管理可用</a:t>
            </a: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内置的</a:t>
            </a:r>
            <a:r>
              <a:rPr lang="en-US" altLang="zh-CN" sz="2600" b="1" dirty="0">
                <a:solidFill>
                  <a:srgbClr val="333333"/>
                </a:solidFill>
                <a:latin typeface="Microsoft YaHei" panose="020B0503020204020204" pitchFamily="34" charset="-122"/>
                <a:ea typeface="Microsoft YaHei" panose="020B0503020204020204" pitchFamily="34" charset="-122"/>
              </a:rPr>
              <a:t>pip</a:t>
            </a:r>
            <a:r>
              <a:rPr lang="zh-CN" altLang="en-US" sz="2600" dirty="0">
                <a:solidFill>
                  <a:srgbClr val="333333"/>
                </a:solidFill>
                <a:latin typeface="Microsoft YaHei" panose="020B0503020204020204" pitchFamily="34" charset="-122"/>
                <a:ea typeface="Microsoft YaHei" panose="020B0503020204020204" pitchFamily="34" charset="-122"/>
              </a:rPr>
              <a:t>工具。</a:t>
            </a:r>
            <a:endParaRPr lang="en-US" altLang="zh-CN" sz="2600" dirty="0">
              <a:solidFill>
                <a:srgbClr val="333333"/>
              </a:solidFill>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CB6886CF-3E2F-2951-35DE-5316AB6614F2}"/>
              </a:ext>
            </a:extLst>
          </p:cNvPr>
          <p:cNvPicPr>
            <a:picLocks noChangeAspect="1"/>
          </p:cNvPicPr>
          <p:nvPr/>
        </p:nvPicPr>
        <p:blipFill>
          <a:blip r:embed="rId3"/>
          <a:srcRect l="19400"/>
          <a:stretch>
            <a:fillRect/>
          </a:stretch>
        </p:blipFill>
        <p:spPr>
          <a:xfrm>
            <a:off x="7575592" y="2066956"/>
            <a:ext cx="4413014" cy="3643502"/>
          </a:xfrm>
          <a:prstGeom prst="rect">
            <a:avLst/>
          </a:prstGeom>
        </p:spPr>
      </p:pic>
    </p:spTree>
    <p:extLst>
      <p:ext uri="{BB962C8B-B14F-4D97-AF65-F5344CB8AC3E}">
        <p14:creationId xmlns:p14="http://schemas.microsoft.com/office/powerpoint/2010/main" val="1189305406"/>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3" y="8526"/>
            <a:ext cx="9013371" cy="792162"/>
          </a:xfrm>
        </p:spPr>
        <p:txBody>
          <a:bodyPr/>
          <a:lstStyle/>
          <a:p>
            <a:r>
              <a:rPr lang="zh-CN" altLang="en-US">
                <a:latin typeface="微软雅黑" pitchFamily="34" charset="-122"/>
                <a:ea typeface="微软雅黑" pitchFamily="34" charset="-122"/>
              </a:rPr>
              <a:t>二、</a:t>
            </a:r>
            <a:r>
              <a:rPr lang="zh-CN" altLang="en-CN">
                <a:latin typeface="微软雅黑" pitchFamily="34" charset="-122"/>
                <a:ea typeface="微软雅黑" pitchFamily="34" charset="-122"/>
              </a:rPr>
              <a:t>开源</a:t>
            </a:r>
            <a:r>
              <a:rPr lang="zh-CN" altLang="en-US">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21980" y="846751"/>
            <a:ext cx="10028355"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1030" name="Picture 6" descr="GitHub - microsoft/vscode: Visual Studio Code">
            <a:extLst>
              <a:ext uri="{FF2B5EF4-FFF2-40B4-BE49-F238E27FC236}">
                <a16:creationId xmlns:a16="http://schemas.microsoft.com/office/drawing/2014/main" id="{C93DB76E-C02F-05AC-2014-674F7E808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0025" y="1745801"/>
            <a:ext cx="5940216" cy="44551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741FEA2-C046-FD82-2800-2CB513792080}"/>
              </a:ext>
            </a:extLst>
          </p:cNvPr>
          <p:cNvSpPr txBox="1"/>
          <p:nvPr/>
        </p:nvSpPr>
        <p:spPr>
          <a:xfrm>
            <a:off x="321980" y="1690837"/>
            <a:ext cx="5554824" cy="5013039"/>
          </a:xfrm>
          <a:prstGeom prst="rect">
            <a:avLst/>
          </a:prstGeom>
          <a:noFill/>
        </p:spPr>
        <p:txBody>
          <a:bodyPr wrap="square">
            <a:spAutoFit/>
          </a:bodyPr>
          <a:lstStyle/>
          <a:p>
            <a:pPr algn="just">
              <a:lnSpc>
                <a:spcPct val="150000"/>
              </a:lnSpc>
            </a:pPr>
            <a:r>
              <a:rPr lang="en-US" dirty="0" err="1">
                <a:solidFill>
                  <a:schemeClr val="bg2"/>
                </a:solidFill>
                <a:latin typeface="+mn-ea"/>
                <a:ea typeface="+mn-ea"/>
              </a:rPr>
              <a:t>VSCode</a:t>
            </a:r>
            <a:r>
              <a:rPr lang="en-US" dirty="0">
                <a:solidFill>
                  <a:schemeClr val="bg2"/>
                </a:solidFill>
                <a:latin typeface="+mn-ea"/>
                <a:ea typeface="+mn-ea"/>
              </a:rPr>
              <a:t> (Visual Studio Code)</a:t>
            </a:r>
            <a:r>
              <a:rPr lang="zh-CN" altLang="en-US" dirty="0">
                <a:solidFill>
                  <a:schemeClr val="bg2"/>
                </a:solidFill>
                <a:latin typeface="+mn-ea"/>
                <a:ea typeface="+mn-ea"/>
              </a:rPr>
              <a:t>是</a:t>
            </a:r>
            <a:r>
              <a:rPr lang="en-US" altLang="zh-CN" dirty="0">
                <a:solidFill>
                  <a:schemeClr val="bg2"/>
                </a:solidFill>
                <a:latin typeface="+mn-ea"/>
                <a:ea typeface="+mn-ea"/>
              </a:rPr>
              <a:t>2015</a:t>
            </a:r>
            <a:r>
              <a:rPr lang="zh-CN" altLang="en-US" dirty="0">
                <a:solidFill>
                  <a:schemeClr val="bg2"/>
                </a:solidFill>
                <a:latin typeface="+mn-ea"/>
                <a:ea typeface="+mn-ea"/>
              </a:rPr>
              <a:t>年由微软发布的一款代码编辑器。</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1</a:t>
            </a:r>
            <a:r>
              <a:rPr lang="zh-CN" altLang="en-US" dirty="0">
                <a:solidFill>
                  <a:schemeClr val="bg2"/>
                </a:solidFill>
                <a:latin typeface="+mn-ea"/>
                <a:ea typeface="+mn-ea"/>
              </a:rPr>
              <a:t>） 支持多种编程语言的编辑，如</a:t>
            </a:r>
            <a:r>
              <a:rPr lang="en-US" altLang="zh-CN" dirty="0">
                <a:solidFill>
                  <a:schemeClr val="bg2"/>
                </a:solidFill>
                <a:latin typeface="+mn-ea"/>
                <a:ea typeface="+mn-ea"/>
              </a:rPr>
              <a:t>python</a:t>
            </a:r>
            <a:r>
              <a:rPr lang="zh-CN" altLang="en-US" dirty="0">
                <a:solidFill>
                  <a:schemeClr val="bg2"/>
                </a:solidFill>
                <a:latin typeface="+mn-ea"/>
                <a:ea typeface="+mn-ea"/>
              </a:rPr>
              <a:t>，</a:t>
            </a:r>
            <a:r>
              <a:rPr lang="en-US" altLang="zh-CN" dirty="0">
                <a:solidFill>
                  <a:schemeClr val="bg2"/>
                </a:solidFill>
                <a:latin typeface="+mn-ea"/>
                <a:ea typeface="+mn-ea"/>
              </a:rPr>
              <a:t>java</a:t>
            </a:r>
            <a:r>
              <a:rPr lang="zh-CN" altLang="en-US" dirty="0">
                <a:solidFill>
                  <a:schemeClr val="bg2"/>
                </a:solidFill>
                <a:latin typeface="+mn-ea"/>
                <a:ea typeface="+mn-ea"/>
              </a:rPr>
              <a:t>，</a:t>
            </a:r>
            <a:r>
              <a:rPr lang="en-US" altLang="zh-CN" dirty="0" err="1">
                <a:solidFill>
                  <a:schemeClr val="bg2"/>
                </a:solidFill>
                <a:latin typeface="+mn-ea"/>
                <a:ea typeface="+mn-ea"/>
              </a:rPr>
              <a:t>c++</a:t>
            </a:r>
            <a:r>
              <a:rPr lang="zh-CN" altLang="en-US" dirty="0">
                <a:solidFill>
                  <a:schemeClr val="bg2"/>
                </a:solidFill>
                <a:latin typeface="+mn-ea"/>
                <a:ea typeface="+mn-ea"/>
              </a:rPr>
              <a:t>等。</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2</a:t>
            </a:r>
            <a:r>
              <a:rPr lang="zh-CN" altLang="en-US" dirty="0">
                <a:solidFill>
                  <a:schemeClr val="bg2"/>
                </a:solidFill>
                <a:latin typeface="+mn-ea"/>
                <a:ea typeface="+mn-ea"/>
              </a:rPr>
              <a:t>）该软件支持语法高亮、代码自动补全等功能；</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3</a:t>
            </a:r>
            <a:r>
              <a:rPr lang="zh-CN" altLang="en-US" dirty="0">
                <a:solidFill>
                  <a:schemeClr val="bg2"/>
                </a:solidFill>
                <a:latin typeface="+mn-ea"/>
                <a:ea typeface="+mn-ea"/>
              </a:rPr>
              <a:t>）内置了命令行工具和</a:t>
            </a:r>
            <a:r>
              <a:rPr lang="en-US" dirty="0">
                <a:solidFill>
                  <a:schemeClr val="bg2"/>
                </a:solidFill>
                <a:latin typeface="+mn-ea"/>
                <a:ea typeface="+mn-ea"/>
              </a:rPr>
              <a:t>Git </a:t>
            </a:r>
            <a:r>
              <a:rPr lang="zh-CN" altLang="en-US" dirty="0">
                <a:solidFill>
                  <a:schemeClr val="bg2"/>
                </a:solidFill>
                <a:latin typeface="+mn-ea"/>
                <a:ea typeface="+mn-ea"/>
              </a:rPr>
              <a:t>版本控制系统。</a:t>
            </a:r>
            <a:endParaRPr lang="en-US" altLang="zh-CN" dirty="0">
              <a:solidFill>
                <a:schemeClr val="bg2"/>
              </a:solidFill>
              <a:latin typeface="+mn-ea"/>
              <a:ea typeface="+mn-ea"/>
            </a:endParaRPr>
          </a:p>
        </p:txBody>
      </p:sp>
    </p:spTree>
    <p:extLst>
      <p:ext uri="{BB962C8B-B14F-4D97-AF65-F5344CB8AC3E}">
        <p14:creationId xmlns:p14="http://schemas.microsoft.com/office/powerpoint/2010/main" val="3833073590"/>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17241" y="846751"/>
            <a:ext cx="10033094"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grpSp>
        <p:nvGrpSpPr>
          <p:cNvPr id="13" name="组合 12">
            <a:extLst>
              <a:ext uri="{FF2B5EF4-FFF2-40B4-BE49-F238E27FC236}">
                <a16:creationId xmlns:a16="http://schemas.microsoft.com/office/drawing/2014/main" id="{B37CADB0-FA67-CB3D-2792-3B99C063AF39}"/>
              </a:ext>
            </a:extLst>
          </p:cNvPr>
          <p:cNvGrpSpPr/>
          <p:nvPr/>
        </p:nvGrpSpPr>
        <p:grpSpPr>
          <a:xfrm>
            <a:off x="1806203" y="1665177"/>
            <a:ext cx="8579593" cy="4975010"/>
            <a:chOff x="152773" y="1766774"/>
            <a:chExt cx="8579593" cy="4975010"/>
          </a:xfrm>
        </p:grpSpPr>
        <p:pic>
          <p:nvPicPr>
            <p:cNvPr id="5" name="图片 4">
              <a:extLst>
                <a:ext uri="{FF2B5EF4-FFF2-40B4-BE49-F238E27FC236}">
                  <a16:creationId xmlns:a16="http://schemas.microsoft.com/office/drawing/2014/main" id="{26E32F95-E945-8525-C29F-CF9241F58CE5}"/>
                </a:ext>
              </a:extLst>
            </p:cNvPr>
            <p:cNvPicPr>
              <a:picLocks noChangeAspect="1"/>
            </p:cNvPicPr>
            <p:nvPr/>
          </p:nvPicPr>
          <p:blipFill>
            <a:blip r:embed="rId3"/>
            <a:stretch>
              <a:fillRect/>
            </a:stretch>
          </p:blipFill>
          <p:spPr>
            <a:xfrm>
              <a:off x="535022" y="1766774"/>
              <a:ext cx="7926925" cy="4717473"/>
            </a:xfrm>
            <a:prstGeom prst="rect">
              <a:avLst/>
            </a:prstGeom>
          </p:spPr>
        </p:pic>
        <p:sp>
          <p:nvSpPr>
            <p:cNvPr id="4" name="椭圆 3">
              <a:extLst>
                <a:ext uri="{FF2B5EF4-FFF2-40B4-BE49-F238E27FC236}">
                  <a16:creationId xmlns:a16="http://schemas.microsoft.com/office/drawing/2014/main" id="{5EA02872-3EE4-53D7-6E37-48E9E9C41A57}"/>
                </a:ext>
              </a:extLst>
            </p:cNvPr>
            <p:cNvSpPr/>
            <p:nvPr/>
          </p:nvSpPr>
          <p:spPr>
            <a:xfrm>
              <a:off x="157397" y="5793698"/>
              <a:ext cx="1371600" cy="948086"/>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椭圆 6">
              <a:extLst>
                <a:ext uri="{FF2B5EF4-FFF2-40B4-BE49-F238E27FC236}">
                  <a16:creationId xmlns:a16="http://schemas.microsoft.com/office/drawing/2014/main" id="{76C093F4-F00A-2662-96D3-670D2E8993CE}"/>
                </a:ext>
              </a:extLst>
            </p:cNvPr>
            <p:cNvSpPr/>
            <p:nvPr/>
          </p:nvSpPr>
          <p:spPr>
            <a:xfrm>
              <a:off x="152773" y="2890606"/>
              <a:ext cx="814653" cy="662489"/>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8" name="椭圆 7">
              <a:extLst>
                <a:ext uri="{FF2B5EF4-FFF2-40B4-BE49-F238E27FC236}">
                  <a16:creationId xmlns:a16="http://schemas.microsoft.com/office/drawing/2014/main" id="{9AEC337B-D504-DF6E-65FD-6FE5EF689343}"/>
                </a:ext>
              </a:extLst>
            </p:cNvPr>
            <p:cNvSpPr/>
            <p:nvPr/>
          </p:nvSpPr>
          <p:spPr>
            <a:xfrm>
              <a:off x="5626682" y="5102744"/>
              <a:ext cx="3105684" cy="1639040"/>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BCAC1974-26C1-2D3D-B1F3-AA392E4B1DEF}"/>
                </a:ext>
              </a:extLst>
            </p:cNvPr>
            <p:cNvSpPr txBox="1"/>
            <p:nvPr/>
          </p:nvSpPr>
          <p:spPr>
            <a:xfrm>
              <a:off x="317665" y="2428941"/>
              <a:ext cx="1531376" cy="461665"/>
            </a:xfrm>
            <a:prstGeom prst="rect">
              <a:avLst/>
            </a:prstGeom>
            <a:noFill/>
          </p:spPr>
          <p:txBody>
            <a:bodyPr wrap="square" rtlCol="0">
              <a:spAutoFit/>
            </a:bodyPr>
            <a:lstStyle/>
            <a:p>
              <a:r>
                <a:rPr lang="zh-CN" altLang="en-US">
                  <a:solidFill>
                    <a:schemeClr val="accent4"/>
                  </a:solidFill>
                </a:rPr>
                <a:t>插件库</a:t>
              </a:r>
            </a:p>
          </p:txBody>
        </p:sp>
        <p:sp>
          <p:nvSpPr>
            <p:cNvPr id="11" name="文本框 10">
              <a:extLst>
                <a:ext uri="{FF2B5EF4-FFF2-40B4-BE49-F238E27FC236}">
                  <a16:creationId xmlns:a16="http://schemas.microsoft.com/office/drawing/2014/main" id="{EBFBE8FA-DED0-4554-83A4-8D9870D5BDE0}"/>
                </a:ext>
              </a:extLst>
            </p:cNvPr>
            <p:cNvSpPr txBox="1"/>
            <p:nvPr/>
          </p:nvSpPr>
          <p:spPr>
            <a:xfrm>
              <a:off x="657097" y="5643013"/>
              <a:ext cx="2333441" cy="461665"/>
            </a:xfrm>
            <a:prstGeom prst="rect">
              <a:avLst/>
            </a:prstGeom>
            <a:noFill/>
          </p:spPr>
          <p:txBody>
            <a:bodyPr wrap="square" rtlCol="0">
              <a:spAutoFit/>
            </a:bodyPr>
            <a:lstStyle/>
            <a:p>
              <a:r>
                <a:rPr lang="zh-CN" altLang="en-US">
                  <a:solidFill>
                    <a:schemeClr val="accent4"/>
                  </a:solidFill>
                </a:rPr>
                <a:t>软件更新提醒</a:t>
              </a:r>
            </a:p>
          </p:txBody>
        </p:sp>
        <p:sp>
          <p:nvSpPr>
            <p:cNvPr id="12" name="文本框 11">
              <a:extLst>
                <a:ext uri="{FF2B5EF4-FFF2-40B4-BE49-F238E27FC236}">
                  <a16:creationId xmlns:a16="http://schemas.microsoft.com/office/drawing/2014/main" id="{CC287021-0311-7FFE-C3F4-E9364D39DAFF}"/>
                </a:ext>
              </a:extLst>
            </p:cNvPr>
            <p:cNvSpPr txBox="1"/>
            <p:nvPr/>
          </p:nvSpPr>
          <p:spPr>
            <a:xfrm>
              <a:off x="5403982" y="4677239"/>
              <a:ext cx="2333441" cy="461665"/>
            </a:xfrm>
            <a:prstGeom prst="rect">
              <a:avLst/>
            </a:prstGeom>
            <a:noFill/>
          </p:spPr>
          <p:txBody>
            <a:bodyPr wrap="square" rtlCol="0">
              <a:spAutoFit/>
            </a:bodyPr>
            <a:lstStyle/>
            <a:p>
              <a:r>
                <a:rPr lang="zh-CN" altLang="en-US">
                  <a:solidFill>
                    <a:schemeClr val="accent4"/>
                  </a:solidFill>
                </a:rPr>
                <a:t>插件报错提醒</a:t>
              </a:r>
            </a:p>
          </p:txBody>
        </p:sp>
      </p:grpSp>
    </p:spTree>
    <p:extLst>
      <p:ext uri="{BB962C8B-B14F-4D97-AF65-F5344CB8AC3E}">
        <p14:creationId xmlns:p14="http://schemas.microsoft.com/office/powerpoint/2010/main" val="39777964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42122" y="846751"/>
            <a:ext cx="10008213"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5" name="图片 4">
            <a:extLst>
              <a:ext uri="{FF2B5EF4-FFF2-40B4-BE49-F238E27FC236}">
                <a16:creationId xmlns:a16="http://schemas.microsoft.com/office/drawing/2014/main" id="{30ACA987-C55F-4E7C-C463-10487301E91E}"/>
              </a:ext>
            </a:extLst>
          </p:cNvPr>
          <p:cNvPicPr>
            <a:picLocks noChangeAspect="1"/>
          </p:cNvPicPr>
          <p:nvPr/>
        </p:nvPicPr>
        <p:blipFill rotWithShape="1">
          <a:blip r:embed="rId3"/>
          <a:srcRect l="-54" t="1853" r="14880" b="1264"/>
          <a:stretch/>
        </p:blipFill>
        <p:spPr>
          <a:xfrm>
            <a:off x="1479439" y="2293182"/>
            <a:ext cx="4570888" cy="3295401"/>
          </a:xfrm>
          <a:prstGeom prst="rect">
            <a:avLst/>
          </a:prstGeom>
        </p:spPr>
      </p:pic>
      <p:pic>
        <p:nvPicPr>
          <p:cNvPr id="8" name="图片 7">
            <a:extLst>
              <a:ext uri="{FF2B5EF4-FFF2-40B4-BE49-F238E27FC236}">
                <a16:creationId xmlns:a16="http://schemas.microsoft.com/office/drawing/2014/main" id="{13D5D434-AD5A-CA57-768A-9A87201CBB31}"/>
              </a:ext>
            </a:extLst>
          </p:cNvPr>
          <p:cNvPicPr>
            <a:picLocks noChangeAspect="1"/>
          </p:cNvPicPr>
          <p:nvPr/>
        </p:nvPicPr>
        <p:blipFill rotWithShape="1">
          <a:blip r:embed="rId4"/>
          <a:srcRect r="16340"/>
          <a:stretch/>
        </p:blipFill>
        <p:spPr>
          <a:xfrm>
            <a:off x="6196227" y="2293182"/>
            <a:ext cx="4208405" cy="3295401"/>
          </a:xfrm>
          <a:prstGeom prst="rect">
            <a:avLst/>
          </a:prstGeom>
        </p:spPr>
      </p:pic>
      <p:sp>
        <p:nvSpPr>
          <p:cNvPr id="9" name="文本框 8">
            <a:extLst>
              <a:ext uri="{FF2B5EF4-FFF2-40B4-BE49-F238E27FC236}">
                <a16:creationId xmlns:a16="http://schemas.microsoft.com/office/drawing/2014/main" id="{690CD386-7151-4EED-ED26-1360190C3920}"/>
              </a:ext>
            </a:extLst>
          </p:cNvPr>
          <p:cNvSpPr txBox="1"/>
          <p:nvPr/>
        </p:nvSpPr>
        <p:spPr>
          <a:xfrm>
            <a:off x="1581132" y="1691413"/>
            <a:ext cx="1415772" cy="461665"/>
          </a:xfrm>
          <a:prstGeom prst="rect">
            <a:avLst/>
          </a:prstGeom>
          <a:noFill/>
        </p:spPr>
        <p:txBody>
          <a:bodyPr wrap="none" rtlCol="0">
            <a:spAutoFit/>
          </a:bodyPr>
          <a:lstStyle/>
          <a:p>
            <a:r>
              <a:rPr lang="zh-CN" altLang="en-US" b="1" dirty="0">
                <a:solidFill>
                  <a:schemeClr val="bg2"/>
                </a:solidFill>
                <a:latin typeface="+mj-ea"/>
                <a:ea typeface="+mj-ea"/>
              </a:rPr>
              <a:t>代码字号</a:t>
            </a:r>
          </a:p>
        </p:txBody>
      </p:sp>
      <p:sp>
        <p:nvSpPr>
          <p:cNvPr id="10" name="文本框 9">
            <a:extLst>
              <a:ext uri="{FF2B5EF4-FFF2-40B4-BE49-F238E27FC236}">
                <a16:creationId xmlns:a16="http://schemas.microsoft.com/office/drawing/2014/main" id="{FC4B2C50-09F2-3E65-27E5-F3F492E04176}"/>
              </a:ext>
            </a:extLst>
          </p:cNvPr>
          <p:cNvSpPr txBox="1"/>
          <p:nvPr/>
        </p:nvSpPr>
        <p:spPr>
          <a:xfrm>
            <a:off x="6258170" y="1711127"/>
            <a:ext cx="2042260" cy="461665"/>
          </a:xfrm>
          <a:prstGeom prst="rect">
            <a:avLst/>
          </a:prstGeom>
          <a:noFill/>
        </p:spPr>
        <p:txBody>
          <a:bodyPr wrap="square" rtlCol="0">
            <a:spAutoFit/>
          </a:bodyPr>
          <a:lstStyle/>
          <a:p>
            <a:pPr algn="l"/>
            <a:r>
              <a:rPr lang="zh-CN" altLang="en-US" b="1" dirty="0">
                <a:solidFill>
                  <a:schemeClr val="bg2"/>
                </a:solidFill>
                <a:latin typeface="+mj-ea"/>
                <a:ea typeface="+mj-ea"/>
              </a:rPr>
              <a:t>编辑器颜色</a:t>
            </a:r>
          </a:p>
        </p:txBody>
      </p:sp>
      <p:sp>
        <p:nvSpPr>
          <p:cNvPr id="11" name="文本框 10">
            <a:extLst>
              <a:ext uri="{FF2B5EF4-FFF2-40B4-BE49-F238E27FC236}">
                <a16:creationId xmlns:a16="http://schemas.microsoft.com/office/drawing/2014/main" id="{A0890958-6CF4-E298-5189-D9A6055B9FED}"/>
              </a:ext>
            </a:extLst>
          </p:cNvPr>
          <p:cNvSpPr txBox="1"/>
          <p:nvPr/>
        </p:nvSpPr>
        <p:spPr>
          <a:xfrm>
            <a:off x="1660849" y="5668728"/>
            <a:ext cx="8689486" cy="938719"/>
          </a:xfrm>
          <a:prstGeom prst="rect">
            <a:avLst/>
          </a:prstGeom>
          <a:noFill/>
        </p:spPr>
        <p:txBody>
          <a:bodyPr wrap="square" rtlCol="0">
            <a:spAutoFit/>
          </a:bodyPr>
          <a:lstStyle/>
          <a:p>
            <a:pPr algn="l"/>
            <a:r>
              <a:rPr lang="zh-CN" altLang="en-US" sz="2200" dirty="0">
                <a:solidFill>
                  <a:schemeClr val="bg2"/>
                </a:solidFill>
              </a:rPr>
              <a:t>修改</a:t>
            </a:r>
            <a:r>
              <a:rPr lang="en-US" altLang="zh-CN" sz="2200" dirty="0">
                <a:solidFill>
                  <a:schemeClr val="bg2"/>
                </a:solidFill>
              </a:rPr>
              <a:t>notebook</a:t>
            </a:r>
            <a:r>
              <a:rPr lang="zh-CN" altLang="en-US" sz="2200" dirty="0">
                <a:solidFill>
                  <a:schemeClr val="bg2"/>
                </a:solidFill>
              </a:rPr>
              <a:t>文件根目录</a:t>
            </a:r>
            <a:r>
              <a:rPr lang="en-US" altLang="zh-CN" sz="2200" dirty="0">
                <a:solidFill>
                  <a:schemeClr val="bg2"/>
                </a:solidFill>
              </a:rPr>
              <a:t>: User/Extensions/</a:t>
            </a:r>
            <a:r>
              <a:rPr lang="en-US" altLang="zh-CN" sz="2200" dirty="0" err="1">
                <a:solidFill>
                  <a:schemeClr val="bg2"/>
                </a:solidFill>
              </a:rPr>
              <a:t>Jupyter</a:t>
            </a:r>
            <a:r>
              <a:rPr lang="en-US" altLang="zh-CN" sz="2200" dirty="0">
                <a:solidFill>
                  <a:schemeClr val="bg2"/>
                </a:solidFill>
              </a:rPr>
              <a:t>/Notebook File Root.</a:t>
            </a:r>
          </a:p>
          <a:p>
            <a:pPr algn="l"/>
            <a:r>
              <a:rPr lang="en-US" altLang="zh-CN" sz="2200" dirty="0">
                <a:solidFill>
                  <a:schemeClr val="bg2"/>
                </a:solidFill>
              </a:rPr>
              <a:t>${</a:t>
            </a:r>
            <a:r>
              <a:rPr lang="en-US" altLang="zh-CN" sz="2200" dirty="0" err="1">
                <a:solidFill>
                  <a:schemeClr val="bg2"/>
                </a:solidFill>
              </a:rPr>
              <a:t>fileDirname</a:t>
            </a:r>
            <a:r>
              <a:rPr lang="en-US" altLang="zh-CN" sz="2200" dirty="0">
                <a:solidFill>
                  <a:schemeClr val="bg2"/>
                </a:solidFill>
              </a:rPr>
              <a:t>} -&gt; ${</a:t>
            </a:r>
            <a:r>
              <a:rPr lang="en-US" altLang="zh-CN" sz="2200" dirty="0" err="1">
                <a:solidFill>
                  <a:schemeClr val="bg2"/>
                </a:solidFill>
              </a:rPr>
              <a:t>workspaceFolder</a:t>
            </a:r>
            <a:r>
              <a:rPr lang="en-US" altLang="zh-CN" sz="2200" dirty="0">
                <a:solidFill>
                  <a:schemeClr val="bg2"/>
                </a:solidFill>
              </a:rPr>
              <a:t>}</a:t>
            </a:r>
            <a:endParaRPr lang="zh-CN" altLang="en-US" sz="2200" dirty="0">
              <a:solidFill>
                <a:schemeClr val="bg2"/>
              </a:solidFill>
            </a:endParaRPr>
          </a:p>
        </p:txBody>
      </p:sp>
    </p:spTree>
    <p:extLst>
      <p:ext uri="{BB962C8B-B14F-4D97-AF65-F5344CB8AC3E}">
        <p14:creationId xmlns:p14="http://schemas.microsoft.com/office/powerpoint/2010/main" val="237183629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97633" y="968099"/>
            <a:ext cx="73440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97633" y="1699889"/>
            <a:ext cx="11117064" cy="4832092"/>
          </a:xfrm>
          <a:prstGeom prst="rect">
            <a:avLst/>
          </a:prstGeom>
          <a:noFill/>
        </p:spPr>
        <p:txBody>
          <a:bodyPr wrap="square">
            <a:spAutoFit/>
          </a:bodyPr>
          <a:lstStyle/>
          <a:p>
            <a:pPr algn="just">
              <a:lnSpc>
                <a:spcPct val="150000"/>
              </a:lnSpc>
            </a:pPr>
            <a:r>
              <a:rPr lang="en-US" sz="2800" b="1" dirty="0" err="1">
                <a:solidFill>
                  <a:srgbClr val="333333"/>
                </a:solidFill>
                <a:latin typeface="Microsoft YaHei" panose="020B0503020204020204" pitchFamily="34" charset="-122"/>
                <a:ea typeface="Microsoft YaHei" panose="020B0503020204020204" pitchFamily="34" charset="-122"/>
              </a:rPr>
              <a:t>Anaconda简介</a:t>
            </a:r>
            <a:r>
              <a:rPr lang="zh-CN" altLang="en-US" sz="2800" b="1" dirty="0">
                <a:solidFill>
                  <a:srgbClr val="333333"/>
                </a:solidFill>
                <a:latin typeface="Microsoft YaHei" panose="020B0503020204020204" pitchFamily="34" charset="-122"/>
                <a:ea typeface="Microsoft YaHei" panose="020B0503020204020204" pitchFamily="34" charset="-122"/>
              </a:rPr>
              <a:t>：</a:t>
            </a:r>
            <a:r>
              <a:rPr lang="zh-CN" altLang="en-US" sz="2800" dirty="0">
                <a:solidFill>
                  <a:srgbClr val="333333"/>
                </a:solidFill>
                <a:latin typeface="Microsoft YaHei" panose="020B0503020204020204" pitchFamily="34" charset="-122"/>
                <a:ea typeface="Microsoft YaHei" panose="020B0503020204020204" pitchFamily="34" charset="-122"/>
              </a:rPr>
              <a:t>是一个广泛应用于计算科学（数据科学、机器学习、大数据处理和预测分析）的开源</a:t>
            </a:r>
            <a:r>
              <a:rPr lang="en-US" altLang="zh-CN" sz="2800" dirty="0">
                <a:solidFill>
                  <a:srgbClr val="333333"/>
                </a:solidFill>
                <a:latin typeface="Microsoft YaHei" panose="020B0503020204020204" pitchFamily="34" charset="-122"/>
                <a:ea typeface="Microsoft YaHei" panose="020B0503020204020204" pitchFamily="34" charset="-122"/>
              </a:rPr>
              <a:t>Python</a:t>
            </a:r>
            <a:r>
              <a:rPr lang="zh-CN" altLang="en-US" sz="2800" dirty="0">
                <a:solidFill>
                  <a:srgbClr val="333333"/>
                </a:solidFill>
                <a:latin typeface="Microsoft YaHei" panose="020B0503020204020204" pitchFamily="34" charset="-122"/>
                <a:ea typeface="Microsoft YaHei" panose="020B0503020204020204" pitchFamily="34" charset="-122"/>
              </a:rPr>
              <a:t>发行版本。</a:t>
            </a:r>
            <a:r>
              <a:rPr lang="en-US" sz="2800" dirty="0">
                <a:solidFill>
                  <a:srgbClr val="333333"/>
                </a:solidFill>
                <a:latin typeface="Microsoft YaHei" panose="020B0503020204020204" pitchFamily="34" charset="-122"/>
                <a:ea typeface="Microsoft YaHei" panose="020B0503020204020204" pitchFamily="34" charset="-122"/>
              </a:rPr>
              <a:t>Anaconda</a:t>
            </a:r>
            <a:r>
              <a:rPr lang="zh-CN" altLang="en-US" sz="2800" dirty="0">
                <a:solidFill>
                  <a:srgbClr val="333333"/>
                </a:solidFill>
                <a:latin typeface="Microsoft YaHei" panose="020B0503020204020204" pitchFamily="34" charset="-122"/>
                <a:ea typeface="Microsoft YaHei" panose="020B0503020204020204" pitchFamily="34" charset="-122"/>
              </a:rPr>
              <a:t>致力于简化软件包管理系统和部署。</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just">
              <a:lnSpc>
                <a:spcPct val="150000"/>
              </a:lnSpc>
            </a:pPr>
            <a:r>
              <a:rPr lang="en-US" altLang="zh-CN" sz="2800" b="1" dirty="0">
                <a:solidFill>
                  <a:srgbClr val="333333"/>
                </a:solidFill>
                <a:latin typeface="Microsoft YaHei" panose="020B0503020204020204" pitchFamily="34" charset="-122"/>
                <a:ea typeface="Microsoft YaHei" panose="020B0503020204020204" pitchFamily="34" charset="-122"/>
              </a:rPr>
              <a:t>Anaconda</a:t>
            </a:r>
            <a:r>
              <a:rPr lang="zh-CN" altLang="en-US" sz="2800" b="1" dirty="0">
                <a:solidFill>
                  <a:srgbClr val="333333"/>
                </a:solidFill>
                <a:latin typeface="Microsoft YaHei" panose="020B0503020204020204" pitchFamily="34" charset="-122"/>
                <a:ea typeface="Microsoft YaHei" panose="020B0503020204020204" pitchFamily="34" charset="-122"/>
              </a:rPr>
              <a:t>特点：</a:t>
            </a:r>
            <a:endParaRPr lang="en-US" altLang="zh-CN" sz="2800" b="1" dirty="0">
              <a:solidFill>
                <a:srgbClr val="333333"/>
              </a:solidFill>
              <a:latin typeface="Microsoft YaHei" panose="020B0503020204020204" pitchFamily="34" charset="-122"/>
              <a:ea typeface="Microsoft YaHei" panose="020B0503020204020204"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内置</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高度集成</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数据科学生态；</a:t>
            </a: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拥有强大的包管理工具</a:t>
            </a:r>
            <a:r>
              <a:rPr lang="en-US" altLang="zh-CN" sz="2800" dirty="0">
                <a:solidFill>
                  <a:srgbClr val="333333"/>
                </a:solidFill>
                <a:latin typeface="PingFang SC" panose="020B0400000000000000" pitchFamily="34" charset="-122"/>
                <a:ea typeface="PingFang SC" panose="020B0400000000000000" pitchFamily="34" charset="-122"/>
              </a:rPr>
              <a:t>C</a:t>
            </a:r>
            <a:r>
              <a:rPr lang="en-US" sz="2800" dirty="0">
                <a:solidFill>
                  <a:srgbClr val="333333"/>
                </a:solidFill>
                <a:latin typeface="PingFang SC" panose="020B0400000000000000" pitchFamily="34" charset="-122"/>
                <a:ea typeface="PingFang SC" panose="020B0400000000000000" pitchFamily="34" charset="-122"/>
              </a:rPr>
              <a:t>onda</a:t>
            </a:r>
            <a:r>
              <a:rPr lang="zh-CN" altLang="en-US" sz="2800" dirty="0">
                <a:solidFill>
                  <a:srgbClr val="333333"/>
                </a:solidFill>
                <a:latin typeface="PingFang SC" panose="020B0400000000000000" pitchFamily="34" charset="-122"/>
                <a:ea typeface="PingFang SC" panose="020B0400000000000000" pitchFamily="34" charset="-122"/>
              </a:rPr>
              <a:t>；</a:t>
            </a:r>
            <a:endParaRPr lang="en-US" sz="2800" dirty="0">
              <a:solidFill>
                <a:srgbClr val="333333"/>
              </a:solidFill>
              <a:latin typeface="PingFang SC" panose="020B0400000000000000" pitchFamily="34" charset="-122"/>
              <a:ea typeface="PingFang SC" panose="020B0400000000000000"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可用超过</a:t>
            </a:r>
            <a:r>
              <a:rPr lang="en-US" altLang="zh-CN" sz="2800" dirty="0">
                <a:solidFill>
                  <a:srgbClr val="333333"/>
                </a:solidFill>
                <a:latin typeface="PingFang SC" panose="020B0400000000000000" pitchFamily="34" charset="-122"/>
                <a:ea typeface="PingFang SC" panose="020B0400000000000000" pitchFamily="34" charset="-122"/>
              </a:rPr>
              <a:t>1400</a:t>
            </a:r>
            <a:r>
              <a:rPr lang="zh-CN" altLang="en-US" sz="2800" dirty="0">
                <a:solidFill>
                  <a:srgbClr val="333333"/>
                </a:solidFill>
                <a:latin typeface="PingFang SC" panose="020B0400000000000000" pitchFamily="34" charset="-122"/>
                <a:ea typeface="PingFang SC" panose="020B0400000000000000" pitchFamily="34" charset="-122"/>
              </a:rPr>
              <a:t>个</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数据科学库</a:t>
            </a:r>
            <a:r>
              <a:rPr lang="en-US" altLang="zh-CN" sz="2800" dirty="0">
                <a:solidFill>
                  <a:srgbClr val="333333"/>
                </a:solidFill>
                <a:latin typeface="PingFang SC" panose="020B0400000000000000" pitchFamily="34" charset="-122"/>
                <a:ea typeface="PingFang SC" panose="020B0400000000000000" pitchFamily="34" charset="-122"/>
              </a:rPr>
              <a:t>.</a:t>
            </a:r>
            <a:endParaRPr lang="zh-CN" altLang="en-US" sz="2800" dirty="0">
              <a:solidFill>
                <a:srgbClr val="333333"/>
              </a:solidFill>
              <a:latin typeface="PingFang SC" panose="020B0400000000000000" pitchFamily="34" charset="-122"/>
              <a:ea typeface="PingFang SC" panose="020B0400000000000000" pitchFamily="34" charset="-122"/>
            </a:endParaRPr>
          </a:p>
        </p:txBody>
      </p:sp>
    </p:spTree>
    <p:extLst>
      <p:ext uri="{BB962C8B-B14F-4D97-AF65-F5344CB8AC3E}">
        <p14:creationId xmlns:p14="http://schemas.microsoft.com/office/powerpoint/2010/main" val="251035870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599508" y="1552214"/>
            <a:ext cx="10734076" cy="4535985"/>
          </a:xfrm>
          <a:prstGeom prst="rect">
            <a:avLst/>
          </a:prstGeom>
          <a:noFill/>
        </p:spPr>
        <p:txBody>
          <a:bodyPr wrap="square">
            <a:spAutoFit/>
          </a:bodyPr>
          <a:lstStyle/>
          <a:p>
            <a:pPr algn="l">
              <a:lnSpc>
                <a:spcPct val="20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a:p>
            <a:pPr algn="l">
              <a:lnSpc>
                <a:spcPct val="200000"/>
              </a:lnSpc>
            </a:pPr>
            <a:r>
              <a:rPr lang="zh-CN" altLang="en-US" dirty="0">
                <a:solidFill>
                  <a:schemeClr val="bg2"/>
                </a:solidFill>
                <a:latin typeface="+mn-ea"/>
                <a:ea typeface="+mn-ea"/>
              </a:rPr>
              <a:t>进入</a:t>
            </a:r>
            <a:r>
              <a:rPr lang="en-US" altLang="zh-CN" dirty="0" err="1">
                <a:solidFill>
                  <a:schemeClr val="bg2"/>
                </a:solidFill>
                <a:latin typeface="+mn-ea"/>
                <a:ea typeface="+mn-ea"/>
              </a:rPr>
              <a:t>miniconda</a:t>
            </a:r>
            <a:r>
              <a:rPr lang="zh-CN" altLang="en-US" dirty="0">
                <a:solidFill>
                  <a:schemeClr val="bg2"/>
                </a:solidFill>
                <a:latin typeface="+mn-ea"/>
                <a:ea typeface="+mn-ea"/>
              </a:rPr>
              <a:t>官网，找到对应系统的</a:t>
            </a:r>
            <a:r>
              <a:rPr lang="en-US" altLang="zh-CN" dirty="0" err="1">
                <a:solidFill>
                  <a:schemeClr val="bg2"/>
                </a:solidFill>
                <a:latin typeface="+mn-ea"/>
                <a:ea typeface="+mn-ea"/>
              </a:rPr>
              <a:t>miniconda</a:t>
            </a:r>
            <a:r>
              <a:rPr lang="zh-CN" altLang="en-US" dirty="0">
                <a:solidFill>
                  <a:schemeClr val="bg2"/>
                </a:solidFill>
                <a:latin typeface="+mn-ea"/>
                <a:ea typeface="+mn-ea"/>
              </a:rPr>
              <a:t>最新版本安装包。</a:t>
            </a:r>
            <a:endParaRPr lang="en-US" altLang="zh-CN" dirty="0">
              <a:solidFill>
                <a:schemeClr val="bg2"/>
              </a:solidFill>
              <a:latin typeface="+mn-ea"/>
              <a:ea typeface="+mn-ea"/>
            </a:endParaRPr>
          </a:p>
          <a:p>
            <a:pPr algn="l">
              <a:lnSpc>
                <a:spcPct val="200000"/>
              </a:lnSpc>
            </a:pPr>
            <a:r>
              <a:rPr lang="en-US" b="1" u="sng" dirty="0" err="1">
                <a:solidFill>
                  <a:schemeClr val="bg2"/>
                </a:solidFill>
                <a:latin typeface="+mn-ea"/>
                <a:ea typeface="+mn-ea"/>
              </a:rPr>
              <a:t>Windows系统安装</a:t>
            </a:r>
            <a:r>
              <a:rPr lang="zh-CN" altLang="en-US" dirty="0">
                <a:solidFill>
                  <a:schemeClr val="bg2"/>
                </a:solidFill>
                <a:latin typeface="+mn-ea"/>
                <a:ea typeface="+mn-ea"/>
              </a:rPr>
              <a:t>：鼠标左键双击安装包文件。</a:t>
            </a:r>
            <a:endParaRPr lang="en-US" dirty="0">
              <a:solidFill>
                <a:schemeClr val="bg2"/>
              </a:solidFill>
              <a:latin typeface="+mn-ea"/>
              <a:ea typeface="+mn-ea"/>
            </a:endParaRPr>
          </a:p>
          <a:p>
            <a:pPr algn="l">
              <a:lnSpc>
                <a:spcPct val="200000"/>
              </a:lnSpc>
            </a:pPr>
            <a:r>
              <a:rPr lang="en-US" b="1" dirty="0" err="1">
                <a:solidFill>
                  <a:schemeClr val="bg2"/>
                </a:solidFill>
                <a:latin typeface="+mn-ea"/>
                <a:ea typeface="+mn-ea"/>
              </a:rPr>
              <a:t>Mac系统安装</a:t>
            </a:r>
            <a:r>
              <a:rPr lang="zh-CN" altLang="en-US" dirty="0">
                <a:solidFill>
                  <a:schemeClr val="bg2"/>
                </a:solidFill>
                <a:latin typeface="+mn-ea"/>
                <a:ea typeface="+mn-ea"/>
              </a:rPr>
              <a:t>：</a:t>
            </a:r>
            <a:r>
              <a:rPr lang="en-US" dirty="0">
                <a:solidFill>
                  <a:schemeClr val="bg2"/>
                </a:solidFill>
                <a:latin typeface="+mn-ea"/>
                <a:ea typeface="+mn-ea"/>
              </a:rPr>
              <a:t>bash Miniconda3-latest-MacOSX-x86_64.sh</a:t>
            </a:r>
          </a:p>
          <a:p>
            <a:pPr algn="l">
              <a:lnSpc>
                <a:spcPct val="200000"/>
              </a:lnSpc>
            </a:pPr>
            <a:r>
              <a:rPr lang="en-US" b="1" dirty="0" err="1">
                <a:solidFill>
                  <a:schemeClr val="bg2"/>
                </a:solidFill>
                <a:latin typeface="+mn-ea"/>
                <a:ea typeface="+mn-ea"/>
              </a:rPr>
              <a:t>Linux系统安装</a:t>
            </a:r>
            <a:r>
              <a:rPr lang="zh-CN" altLang="en-US" dirty="0">
                <a:solidFill>
                  <a:schemeClr val="bg2"/>
                </a:solidFill>
                <a:latin typeface="+mn-ea"/>
                <a:ea typeface="+mn-ea"/>
              </a:rPr>
              <a:t>：</a:t>
            </a:r>
            <a:r>
              <a:rPr lang="en-US" dirty="0">
                <a:solidFill>
                  <a:schemeClr val="bg2"/>
                </a:solidFill>
                <a:latin typeface="+mn-ea"/>
                <a:ea typeface="+mn-ea"/>
              </a:rPr>
              <a:t>bash Miniconda3-latest-Linux-x86_64.sh</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3741103209"/>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72278" y="1607447"/>
            <a:ext cx="4484537" cy="662554"/>
          </a:xfrm>
          <a:prstGeom prst="rect">
            <a:avLst/>
          </a:prstGeom>
          <a:noFill/>
        </p:spPr>
        <p:txBody>
          <a:bodyPr wrap="square">
            <a:spAutoFit/>
          </a:bodyPr>
          <a:lstStyle/>
          <a:p>
            <a:pPr algn="l">
              <a:lnSpc>
                <a:spcPct val="15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83E1CA80-8A03-875B-2A22-4DE6D94E260D}"/>
              </a:ext>
            </a:extLst>
          </p:cNvPr>
          <p:cNvPicPr>
            <a:picLocks noChangeAspect="1"/>
          </p:cNvPicPr>
          <p:nvPr/>
        </p:nvPicPr>
        <p:blipFill>
          <a:blip r:embed="rId3"/>
          <a:srcRect l="848"/>
          <a:stretch>
            <a:fillRect/>
          </a:stretch>
        </p:blipFill>
        <p:spPr>
          <a:xfrm>
            <a:off x="5056815" y="1744552"/>
            <a:ext cx="6302608" cy="4824364"/>
          </a:xfrm>
          <a:prstGeom prst="rect">
            <a:avLst/>
          </a:prstGeom>
        </p:spPr>
      </p:pic>
      <p:sp>
        <p:nvSpPr>
          <p:cNvPr id="5" name="文本框 4">
            <a:extLst>
              <a:ext uri="{FF2B5EF4-FFF2-40B4-BE49-F238E27FC236}">
                <a16:creationId xmlns:a16="http://schemas.microsoft.com/office/drawing/2014/main" id="{636EC5F5-9562-0292-7C7F-C2C909E65E94}"/>
              </a:ext>
            </a:extLst>
          </p:cNvPr>
          <p:cNvSpPr txBox="1"/>
          <p:nvPr/>
        </p:nvSpPr>
        <p:spPr>
          <a:xfrm>
            <a:off x="620704" y="2612851"/>
            <a:ext cx="3915059" cy="2797048"/>
          </a:xfrm>
          <a:prstGeom prst="rect">
            <a:avLst/>
          </a:prstGeom>
          <a:noFill/>
        </p:spPr>
        <p:txBody>
          <a:bodyPr wrap="square">
            <a:spAutoFit/>
          </a:bodyPr>
          <a:lstStyle/>
          <a:p>
            <a:pPr algn="l">
              <a:lnSpc>
                <a:spcPct val="150000"/>
              </a:lnSpc>
            </a:pPr>
            <a:r>
              <a:rPr lang="zh-CN" altLang="en-US" b="1" dirty="0">
                <a:solidFill>
                  <a:srgbClr val="FF0000"/>
                </a:solidFill>
                <a:latin typeface="+mn-ea"/>
                <a:ea typeface="+mn-ea"/>
              </a:rPr>
              <a:t>查看</a:t>
            </a:r>
            <a:r>
              <a:rPr lang="en-US" altLang="zh-CN" b="1" dirty="0" err="1">
                <a:solidFill>
                  <a:srgbClr val="FF0000"/>
                </a:solidFill>
                <a:latin typeface="+mn-ea"/>
                <a:ea typeface="+mn-ea"/>
              </a:rPr>
              <a:t>conda</a:t>
            </a:r>
            <a:r>
              <a:rPr lang="zh-CN" altLang="en-US" b="1" dirty="0">
                <a:solidFill>
                  <a:srgbClr val="FF0000"/>
                </a:solidFill>
                <a:latin typeface="+mn-ea"/>
                <a:ea typeface="+mn-ea"/>
              </a:rPr>
              <a:t>版本命令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–V</a:t>
            </a:r>
          </a:p>
          <a:p>
            <a:pPr algn="l">
              <a:lnSpc>
                <a:spcPct val="150000"/>
              </a:lnSpc>
            </a:pPr>
            <a:r>
              <a:rPr lang="zh-CN" altLang="en-US" b="1" dirty="0">
                <a:solidFill>
                  <a:srgbClr val="FF0000"/>
                </a:solidFill>
                <a:latin typeface="+mn-ea"/>
                <a:ea typeface="+mn-ea"/>
              </a:rPr>
              <a:t>进入</a:t>
            </a:r>
            <a:r>
              <a:rPr lang="en-US" altLang="zh-CN" b="1" dirty="0" err="1">
                <a:solidFill>
                  <a:srgbClr val="FF0000"/>
                </a:solidFill>
                <a:latin typeface="+mn-ea"/>
                <a:ea typeface="+mn-ea"/>
              </a:rPr>
              <a:t>conda</a:t>
            </a:r>
            <a:r>
              <a:rPr lang="zh-CN" altLang="en-US" b="1" dirty="0">
                <a:solidFill>
                  <a:srgbClr val="FF0000"/>
                </a:solidFill>
                <a:latin typeface="+mn-ea"/>
                <a:ea typeface="+mn-ea"/>
              </a:rPr>
              <a:t>环境命令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activate</a:t>
            </a:r>
          </a:p>
        </p:txBody>
      </p:sp>
      <p:sp>
        <p:nvSpPr>
          <p:cNvPr id="7" name="TextBox 1">
            <a:extLst>
              <a:ext uri="{FF2B5EF4-FFF2-40B4-BE49-F238E27FC236}">
                <a16:creationId xmlns:a16="http://schemas.microsoft.com/office/drawing/2014/main" id="{A42F0ADD-D971-70B8-A84D-4E9254DA944D}"/>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87872492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91662" y="1736926"/>
            <a:ext cx="10831651" cy="1569660"/>
          </a:xfrm>
          <a:prstGeom prst="rect">
            <a:avLst/>
          </a:prstGeom>
          <a:noFill/>
        </p:spPr>
        <p:txBody>
          <a:bodyPr wrap="square">
            <a:spAutoFit/>
          </a:bodyPr>
          <a:lstStyle/>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安装情况：</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r>
              <a:rPr lang="zh-CN" altLang="en-US" dirty="0">
                <a:solidFill>
                  <a:srgbClr val="333333"/>
                </a:solidFill>
                <a:latin typeface="Microsoft YaHei" panose="020B0503020204020204" pitchFamily="34" charset="-122"/>
                <a:ea typeface="Microsoft YaHei" panose="020B0503020204020204" pitchFamily="34" charset="-122"/>
              </a:rPr>
              <a:t>查看安装路径（</a:t>
            </a:r>
            <a:r>
              <a:rPr lang="zh-CN" altLang="en-US" u="sng" dirty="0">
                <a:solidFill>
                  <a:srgbClr val="333333"/>
                </a:solidFill>
                <a:latin typeface="Microsoft YaHei" panose="020B0503020204020204" pitchFamily="34" charset="-122"/>
                <a:ea typeface="Microsoft YaHei" panose="020B0503020204020204" pitchFamily="34" charset="-122"/>
              </a:rPr>
              <a:t>该命令不适用</a:t>
            </a:r>
            <a:r>
              <a:rPr lang="en-US" altLang="zh-CN" u="sng" dirty="0" err="1">
                <a:solidFill>
                  <a:srgbClr val="333333"/>
                </a:solidFill>
                <a:latin typeface="Microsoft YaHei" panose="020B0503020204020204" pitchFamily="34" charset="-122"/>
                <a:ea typeface="Microsoft YaHei" panose="020B0503020204020204" pitchFamily="34" charset="-122"/>
              </a:rPr>
              <a:t>powershell</a:t>
            </a:r>
            <a:r>
              <a:rPr lang="zh-CN" altLang="en-US" dirty="0">
                <a:solidFill>
                  <a:srgbClr val="333333"/>
                </a:solidFill>
                <a:latin typeface="Microsoft YaHei" panose="020B0503020204020204" pitchFamily="34" charset="-122"/>
                <a:ea typeface="Microsoft YaHei" panose="020B0503020204020204" pitchFamily="34" charset="-122"/>
              </a:rPr>
              <a:t>）：</a:t>
            </a:r>
            <a:r>
              <a:rPr lang="en-US" altLang="zh-CN" b="1" dirty="0">
                <a:solidFill>
                  <a:srgbClr val="FF0000"/>
                </a:solidFill>
                <a:latin typeface="Microsoft YaHei" panose="020B0503020204020204" pitchFamily="34" charset="-122"/>
                <a:ea typeface="Microsoft YaHei" panose="020B0503020204020204" pitchFamily="34" charset="-122"/>
              </a:rPr>
              <a:t>which python</a:t>
            </a:r>
          </a:p>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版本：</a:t>
            </a:r>
            <a:r>
              <a:rPr lang="en-US" altLang="zh-CN" b="1" dirty="0">
                <a:solidFill>
                  <a:srgbClr val="FF0000"/>
                </a:solidFill>
                <a:latin typeface="Microsoft YaHei" panose="020B0503020204020204" pitchFamily="34" charset="-122"/>
                <a:ea typeface="Microsoft YaHei" panose="020B0503020204020204" pitchFamily="34" charset="-122"/>
              </a:rPr>
              <a:t>python -V</a:t>
            </a:r>
          </a:p>
        </p:txBody>
      </p:sp>
      <p:pic>
        <p:nvPicPr>
          <p:cNvPr id="18" name="Picture 17" descr="Text&#10;&#10;Description automatically generated">
            <a:extLst>
              <a:ext uri="{FF2B5EF4-FFF2-40B4-BE49-F238E27FC236}">
                <a16:creationId xmlns:a16="http://schemas.microsoft.com/office/drawing/2014/main" id="{0837DC30-4620-0035-DE40-9319EFBA876D}"/>
              </a:ext>
            </a:extLst>
          </p:cNvPr>
          <p:cNvPicPr>
            <a:picLocks noChangeAspect="1"/>
          </p:cNvPicPr>
          <p:nvPr/>
        </p:nvPicPr>
        <p:blipFill>
          <a:blip r:embed="rId3"/>
          <a:stretch>
            <a:fillRect/>
          </a:stretch>
        </p:blipFill>
        <p:spPr>
          <a:xfrm>
            <a:off x="6318254" y="3405003"/>
            <a:ext cx="5131179" cy="2826988"/>
          </a:xfrm>
          <a:prstGeom prst="rect">
            <a:avLst/>
          </a:prstGeom>
        </p:spPr>
      </p:pic>
      <p:pic>
        <p:nvPicPr>
          <p:cNvPr id="20" name="Picture 19" descr="Text&#10;&#10;Description automatically generated">
            <a:extLst>
              <a:ext uri="{FF2B5EF4-FFF2-40B4-BE49-F238E27FC236}">
                <a16:creationId xmlns:a16="http://schemas.microsoft.com/office/drawing/2014/main" id="{1C80845A-A83F-D903-2B37-F9CB37E4E25A}"/>
              </a:ext>
            </a:extLst>
          </p:cNvPr>
          <p:cNvPicPr>
            <a:picLocks noChangeAspect="1"/>
          </p:cNvPicPr>
          <p:nvPr/>
        </p:nvPicPr>
        <p:blipFill>
          <a:blip r:embed="rId4"/>
          <a:stretch>
            <a:fillRect/>
          </a:stretch>
        </p:blipFill>
        <p:spPr>
          <a:xfrm>
            <a:off x="977240" y="3405004"/>
            <a:ext cx="5131179" cy="2826988"/>
          </a:xfrm>
          <a:prstGeom prst="rect">
            <a:avLst/>
          </a:prstGeom>
        </p:spPr>
      </p:pic>
      <p:sp>
        <p:nvSpPr>
          <p:cNvPr id="21" name="TextBox 20">
            <a:extLst>
              <a:ext uri="{FF2B5EF4-FFF2-40B4-BE49-F238E27FC236}">
                <a16:creationId xmlns:a16="http://schemas.microsoft.com/office/drawing/2014/main" id="{E7C93A00-7E31-E000-6BED-292B08A4B198}"/>
              </a:ext>
            </a:extLst>
          </p:cNvPr>
          <p:cNvSpPr txBox="1"/>
          <p:nvPr/>
        </p:nvSpPr>
        <p:spPr>
          <a:xfrm>
            <a:off x="1189931" y="6336430"/>
            <a:ext cx="9831112" cy="461665"/>
          </a:xfrm>
          <a:prstGeom prst="rect">
            <a:avLst/>
          </a:prstGeom>
          <a:noFill/>
        </p:spPr>
        <p:txBody>
          <a:bodyPr wrap="square" rtlCol="0">
            <a:spAutoFit/>
          </a:bodyPr>
          <a:lstStyle/>
          <a:p>
            <a:r>
              <a:rPr lang="en-CN" dirty="0">
                <a:solidFill>
                  <a:schemeClr val="bg2"/>
                </a:solidFill>
                <a:latin typeface="+mn-ea"/>
                <a:ea typeface="+mn-ea"/>
              </a:rPr>
              <a:t>思考</a:t>
            </a:r>
            <a:r>
              <a:rPr lang="zh-CN" altLang="en-US" dirty="0">
                <a:solidFill>
                  <a:schemeClr val="bg2"/>
                </a:solidFill>
                <a:latin typeface="+mn-ea"/>
                <a:ea typeface="+mn-ea"/>
              </a:rPr>
              <a:t>：电脑上是否可以有多个版本的</a:t>
            </a:r>
            <a:r>
              <a:rPr lang="en-US" altLang="zh-CN" dirty="0">
                <a:solidFill>
                  <a:schemeClr val="bg2"/>
                </a:solidFill>
                <a:latin typeface="+mn-ea"/>
                <a:ea typeface="+mn-ea"/>
              </a:rPr>
              <a:t>python</a:t>
            </a:r>
            <a:endParaRPr lang="en-CN" dirty="0">
              <a:solidFill>
                <a:schemeClr val="bg2"/>
              </a:solidFill>
              <a:latin typeface="+mn-ea"/>
              <a:ea typeface="+mn-ea"/>
            </a:endParaRPr>
          </a:p>
        </p:txBody>
      </p:sp>
      <p:sp>
        <p:nvSpPr>
          <p:cNvPr id="4" name="TextBox 1">
            <a:extLst>
              <a:ext uri="{FF2B5EF4-FFF2-40B4-BE49-F238E27FC236}">
                <a16:creationId xmlns:a16="http://schemas.microsoft.com/office/drawing/2014/main" id="{18502D36-CBE2-96FF-8A3A-D23635E6ED44}"/>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79751582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7FFE9DD7-9FAD-B833-34A7-F9D00BB93C74}"/>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99DA1880-9B80-A24C-3180-693E3B5EE1BF}"/>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5" name="TextBox 1">
            <a:extLst>
              <a:ext uri="{FF2B5EF4-FFF2-40B4-BE49-F238E27FC236}">
                <a16:creationId xmlns:a16="http://schemas.microsoft.com/office/drawing/2014/main" id="{3159BB32-7E58-64E9-03A4-AF1CC27D9CC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413452403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4E576-6150-D63D-1438-267A98D7DFD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487E1F5-CC63-C111-A69B-FE25A5AC1176}"/>
              </a:ext>
            </a:extLst>
          </p:cNvPr>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788AD22F-FE5A-7B63-FAC8-25713C607E8E}"/>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13C22059-3A8E-FE75-0C1A-54D0A0B44A23}"/>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D306FBE8-19A2-0AE5-DBCA-1012BCA7C970}"/>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2" name="TextBox 1">
            <a:extLst>
              <a:ext uri="{FF2B5EF4-FFF2-40B4-BE49-F238E27FC236}">
                <a16:creationId xmlns:a16="http://schemas.microsoft.com/office/drawing/2014/main" id="{148479E1-3DC0-E410-B012-C62CDA07C10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242415689"/>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03854" y="1752982"/>
            <a:ext cx="5178928" cy="4702121"/>
          </a:xfrm>
          <a:prstGeom prst="rect">
            <a:avLst/>
          </a:prstGeom>
          <a:noFill/>
        </p:spPr>
        <p:txBody>
          <a:bodyPr wrap="square">
            <a:spAutoFit/>
          </a:bodyPr>
          <a:lstStyle/>
          <a:p>
            <a:pPr algn="l">
              <a:lnSpc>
                <a:spcPct val="200000"/>
              </a:lnSpc>
            </a:pPr>
            <a:r>
              <a:rPr lang="zh-CN" altLang="en-US" sz="2800" dirty="0">
                <a:solidFill>
                  <a:srgbClr val="333333"/>
                </a:solidFill>
                <a:latin typeface="Microsoft YaHei" panose="020B0503020204020204" pitchFamily="34" charset="-122"/>
                <a:ea typeface="Microsoft YaHei" panose="020B0503020204020204" pitchFamily="34" charset="-122"/>
              </a:rPr>
              <a:t>当需要同时开发多个项目，而不同项目所需开发环境不同，就需要分别创建不同的虚拟环境。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zh-CN" altLang="en-CN" sz="2800" dirty="0">
                <a:solidFill>
                  <a:srgbClr val="333333"/>
                </a:solidFill>
                <a:latin typeface="Microsoft YaHei" panose="020B0503020204020204" pitchFamily="34" charset="-122"/>
                <a:ea typeface="Microsoft YaHei" panose="020B0503020204020204" pitchFamily="34" charset="-122"/>
              </a:rPr>
              <a:t>查看</a:t>
            </a:r>
            <a:r>
              <a:rPr lang="zh-CN" altLang="en-US" sz="2800" dirty="0">
                <a:solidFill>
                  <a:srgbClr val="333333"/>
                </a:solidFill>
                <a:latin typeface="Microsoft YaHei" panose="020B0503020204020204" pitchFamily="34" charset="-122"/>
                <a:ea typeface="Microsoft YaHei" panose="020B0503020204020204" pitchFamily="34" charset="-122"/>
              </a:rPr>
              <a:t>虚拟环境信息命令：</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env list</a:t>
            </a:r>
            <a:endParaRPr lang="en-CN" altLang="zh-CN" sz="2800" b="1" dirty="0">
              <a:solidFill>
                <a:srgbClr val="FF0000"/>
              </a:solidFill>
              <a:latin typeface="Microsoft YaHei" panose="020B0503020204020204" pitchFamily="34" charset="-122"/>
              <a:ea typeface="Microsoft YaHei" panose="020B0503020204020204" pitchFamily="34" charset="-122"/>
            </a:endParaRPr>
          </a:p>
        </p:txBody>
      </p:sp>
      <p:pic>
        <p:nvPicPr>
          <p:cNvPr id="5" name="Picture 4" descr="Text&#10;&#10;Description automatically generated">
            <a:extLst>
              <a:ext uri="{FF2B5EF4-FFF2-40B4-BE49-F238E27FC236}">
                <a16:creationId xmlns:a16="http://schemas.microsoft.com/office/drawing/2014/main" id="{4B5D1AA6-D397-9A79-221A-E20C2E9E5B76}"/>
              </a:ext>
            </a:extLst>
          </p:cNvPr>
          <p:cNvPicPr>
            <a:picLocks noChangeAspect="1"/>
          </p:cNvPicPr>
          <p:nvPr/>
        </p:nvPicPr>
        <p:blipFill>
          <a:blip r:embed="rId3"/>
          <a:stretch>
            <a:fillRect/>
          </a:stretch>
        </p:blipFill>
        <p:spPr>
          <a:xfrm>
            <a:off x="5738516" y="1958820"/>
            <a:ext cx="6185946" cy="3662591"/>
          </a:xfrm>
          <a:prstGeom prst="rect">
            <a:avLst/>
          </a:prstGeom>
        </p:spPr>
      </p:pic>
      <p:sp>
        <p:nvSpPr>
          <p:cNvPr id="6" name="TextBox 1">
            <a:extLst>
              <a:ext uri="{FF2B5EF4-FFF2-40B4-BE49-F238E27FC236}">
                <a16:creationId xmlns:a16="http://schemas.microsoft.com/office/drawing/2014/main" id="{E7CBA94E-A940-4A85-4FD6-A9D9D050CE4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92083998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pic>
        <p:nvPicPr>
          <p:cNvPr id="8" name="Picture 7" descr="Text&#10;&#10;Description automatically generated">
            <a:extLst>
              <a:ext uri="{FF2B5EF4-FFF2-40B4-BE49-F238E27FC236}">
                <a16:creationId xmlns:a16="http://schemas.microsoft.com/office/drawing/2014/main" id="{79143EB1-6171-6D6B-E065-52F98AD03CCA}"/>
              </a:ext>
            </a:extLst>
          </p:cNvPr>
          <p:cNvPicPr>
            <a:picLocks noChangeAspect="1"/>
          </p:cNvPicPr>
          <p:nvPr/>
        </p:nvPicPr>
        <p:blipFill>
          <a:blip r:embed="rId3"/>
          <a:stretch>
            <a:fillRect/>
          </a:stretch>
        </p:blipFill>
        <p:spPr>
          <a:xfrm>
            <a:off x="7191310" y="1071660"/>
            <a:ext cx="4496837" cy="2700920"/>
          </a:xfrm>
          <a:prstGeom prst="rect">
            <a:avLst/>
          </a:prstGeom>
        </p:spPr>
      </p:pic>
      <p:grpSp>
        <p:nvGrpSpPr>
          <p:cNvPr id="10" name="组合 9">
            <a:extLst>
              <a:ext uri="{FF2B5EF4-FFF2-40B4-BE49-F238E27FC236}">
                <a16:creationId xmlns:a16="http://schemas.microsoft.com/office/drawing/2014/main" id="{53A0B209-68B5-C142-73A1-4EA5AA978934}"/>
              </a:ext>
            </a:extLst>
          </p:cNvPr>
          <p:cNvGrpSpPr/>
          <p:nvPr/>
        </p:nvGrpSpPr>
        <p:grpSpPr>
          <a:xfrm>
            <a:off x="7191310" y="3893067"/>
            <a:ext cx="4496839" cy="2700921"/>
            <a:chOff x="7191310" y="4009668"/>
            <a:chExt cx="4496839" cy="2700921"/>
          </a:xfrm>
        </p:grpSpPr>
        <p:pic>
          <p:nvPicPr>
            <p:cNvPr id="12" name="Picture 11" descr="Text&#10;&#10;Description automatically generated">
              <a:extLst>
                <a:ext uri="{FF2B5EF4-FFF2-40B4-BE49-F238E27FC236}">
                  <a16:creationId xmlns:a16="http://schemas.microsoft.com/office/drawing/2014/main" id="{CD5784D5-D55B-B02C-C48B-B4566A95D7A5}"/>
                </a:ext>
              </a:extLst>
            </p:cNvPr>
            <p:cNvPicPr>
              <a:picLocks noChangeAspect="1"/>
            </p:cNvPicPr>
            <p:nvPr/>
          </p:nvPicPr>
          <p:blipFill>
            <a:blip r:embed="rId4"/>
            <a:stretch>
              <a:fillRect/>
            </a:stretch>
          </p:blipFill>
          <p:spPr>
            <a:xfrm>
              <a:off x="7191310" y="4009668"/>
              <a:ext cx="4496839" cy="2700921"/>
            </a:xfrm>
            <a:prstGeom prst="rect">
              <a:avLst/>
            </a:prstGeom>
          </p:spPr>
        </p:pic>
        <p:sp>
          <p:nvSpPr>
            <p:cNvPr id="15" name="TextBox 14">
              <a:extLst>
                <a:ext uri="{FF2B5EF4-FFF2-40B4-BE49-F238E27FC236}">
                  <a16:creationId xmlns:a16="http://schemas.microsoft.com/office/drawing/2014/main" id="{DAE75BEB-15B0-6AD3-FEA5-24688F0C9399}"/>
                </a:ext>
              </a:extLst>
            </p:cNvPr>
            <p:cNvSpPr txBox="1"/>
            <p:nvPr/>
          </p:nvSpPr>
          <p:spPr>
            <a:xfrm>
              <a:off x="8271096" y="5807537"/>
              <a:ext cx="2552652" cy="445717"/>
            </a:xfrm>
            <a:prstGeom prst="rect">
              <a:avLst/>
            </a:prstGeom>
            <a:noFill/>
          </p:spPr>
          <p:txBody>
            <a:bodyPr wrap="square" rtlCol="0">
              <a:spAutoFit/>
            </a:bodyPr>
            <a:lstStyle/>
            <a:p>
              <a:r>
                <a:rPr lang="en-CN" sz="2200">
                  <a:solidFill>
                    <a:schemeClr val="accent3"/>
                  </a:solidFill>
                  <a:latin typeface="+mn-ea"/>
                  <a:ea typeface="+mn-ea"/>
                </a:rPr>
                <a:t>查看虚拟环境信息</a:t>
              </a:r>
            </a:p>
          </p:txBody>
        </p:sp>
        <p:sp>
          <p:nvSpPr>
            <p:cNvPr id="16" name="Rectangle 15">
              <a:extLst>
                <a:ext uri="{FF2B5EF4-FFF2-40B4-BE49-F238E27FC236}">
                  <a16:creationId xmlns:a16="http://schemas.microsoft.com/office/drawing/2014/main" id="{011A1F98-9159-4FE6-698D-1B0B7EFC1F4C}"/>
                </a:ext>
              </a:extLst>
            </p:cNvPr>
            <p:cNvSpPr/>
            <p:nvPr/>
          </p:nvSpPr>
          <p:spPr>
            <a:xfrm>
              <a:off x="8966456" y="4886691"/>
              <a:ext cx="2658874" cy="202031"/>
            </a:xfrm>
            <a:prstGeom prst="rect">
              <a:avLst/>
            </a:prstGeom>
            <a:noFill/>
            <a:ln w="19050">
              <a:solidFill>
                <a:schemeClr val="accent3"/>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sp>
        <p:nvSpPr>
          <p:cNvPr id="4" name="TextBox 1">
            <a:extLst>
              <a:ext uri="{FF2B5EF4-FFF2-40B4-BE49-F238E27FC236}">
                <a16:creationId xmlns:a16="http://schemas.microsoft.com/office/drawing/2014/main" id="{BA259C0E-63A3-7901-B20A-FD11628DE7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
        <p:nvSpPr>
          <p:cNvPr id="9" name="文本框 8">
            <a:extLst>
              <a:ext uri="{FF2B5EF4-FFF2-40B4-BE49-F238E27FC236}">
                <a16:creationId xmlns:a16="http://schemas.microsoft.com/office/drawing/2014/main" id="{38EA5B3D-534D-9AF0-6891-946F381D89DC}"/>
              </a:ext>
            </a:extLst>
          </p:cNvPr>
          <p:cNvSpPr txBox="1"/>
          <p:nvPr/>
        </p:nvSpPr>
        <p:spPr>
          <a:xfrm>
            <a:off x="503851" y="1840845"/>
            <a:ext cx="6659174" cy="3247877"/>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创建名为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，指定</a:t>
            </a:r>
            <a:r>
              <a:rPr lang="en-US" altLang="zh-CN" sz="2800" dirty="0">
                <a:solidFill>
                  <a:srgbClr val="333333"/>
                </a:solidFill>
                <a:latin typeface="Microsoft YaHei" panose="020B0503020204020204" pitchFamily="34" charset="-122"/>
                <a:ea typeface="Microsoft YaHei" panose="020B0503020204020204" pitchFamily="34" charset="-122"/>
              </a:rPr>
              <a:t>python3.9</a:t>
            </a:r>
            <a:r>
              <a:rPr lang="zh-CN" altLang="en-US" sz="2800" dirty="0">
                <a:solidFill>
                  <a:srgbClr val="333333"/>
                </a:solidFill>
                <a:latin typeface="Microsoft YaHei" panose="020B0503020204020204" pitchFamily="34" charset="-122"/>
                <a:ea typeface="Microsoft YaHei" panose="020B0503020204020204" pitchFamily="34" charset="-122"/>
              </a:rPr>
              <a:t>版本：</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create -n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r>
              <a:rPr lang="en-US" altLang="zh-CN" sz="2800" b="1" dirty="0">
                <a:solidFill>
                  <a:srgbClr val="FF0000"/>
                </a:solidFill>
                <a:latin typeface="Microsoft YaHei" panose="020B0503020204020204" pitchFamily="34" charset="-122"/>
                <a:ea typeface="Microsoft YaHei" panose="020B0503020204020204" pitchFamily="34" charset="-122"/>
              </a:rPr>
              <a:t> python=3.9</a:t>
            </a:r>
            <a:endParaRPr lang="en-CN" altLang="zh-CN" sz="2800" b="1" dirty="0">
              <a:solidFill>
                <a:srgbClr val="FF0000"/>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进入</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activate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endParaRPr lang="en-US" altLang="zh-CN" sz="2800" dirty="0">
              <a:solidFill>
                <a:srgbClr val="333333"/>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081473989"/>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221208" y="1619259"/>
            <a:ext cx="7167631" cy="4109651"/>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a:t>
            </a:r>
            <a:r>
              <a:rPr lang="en-US" altLang="zh-CN" sz="2800" dirty="0">
                <a:solidFill>
                  <a:srgbClr val="333333"/>
                </a:solidFill>
                <a:latin typeface="Microsoft YaHei" panose="020B0503020204020204" pitchFamily="34" charset="-122"/>
                <a:ea typeface="Microsoft YaHei" panose="020B0503020204020204" pitchFamily="34" charset="-122"/>
              </a:rPr>
              <a:t>2</a:t>
            </a:r>
            <a:r>
              <a:rPr lang="zh-CN" altLang="en-US" sz="2800" dirty="0">
                <a:solidFill>
                  <a:srgbClr val="333333"/>
                </a:solidFill>
                <a:latin typeface="Microsoft YaHei" panose="020B0503020204020204" pitchFamily="34" charset="-122"/>
                <a:ea typeface="Microsoft YaHei" panose="020B0503020204020204" pitchFamily="34" charset="-122"/>
              </a:rPr>
              <a:t>）利用</a:t>
            </a:r>
            <a:r>
              <a:rPr lang="en-US" altLang="zh-CN" sz="2800" dirty="0" err="1">
                <a:solidFill>
                  <a:srgbClr val="333333"/>
                </a:solidFill>
                <a:latin typeface="Microsoft YaHei" panose="020B0503020204020204" pitchFamily="34" charset="-122"/>
                <a:ea typeface="Microsoft YaHei" panose="020B0503020204020204" pitchFamily="34" charset="-122"/>
              </a:rPr>
              <a:t>conda</a:t>
            </a:r>
            <a:r>
              <a:rPr lang="zh-CN" altLang="en-US" sz="2800" dirty="0">
                <a:solidFill>
                  <a:srgbClr val="333333"/>
                </a:solidFill>
                <a:latin typeface="Microsoft YaHei" panose="020B0503020204020204" pitchFamily="34" charset="-122"/>
                <a:ea typeface="Microsoft YaHei" panose="020B0503020204020204" pitchFamily="34" charset="-122"/>
              </a:rPr>
              <a:t>创建虚拟环境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退出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zh-CN" altLang="en-US" sz="2800" b="1" dirty="0">
                <a:solidFill>
                  <a:srgbClr val="FF0000"/>
                </a:solidFill>
                <a:latin typeface="Microsoft YaHei" panose="020B0503020204020204" pitchFamily="34" charset="-122"/>
                <a:ea typeface="Microsoft YaHei" panose="020B0503020204020204" pitchFamily="34" charset="-122"/>
              </a:rPr>
              <a:t> </a:t>
            </a:r>
            <a:r>
              <a:rPr lang="en-US" altLang="zh-CN" sz="2800" b="1" dirty="0">
                <a:solidFill>
                  <a:srgbClr val="FF0000"/>
                </a:solidFill>
                <a:latin typeface="Microsoft YaHei" panose="020B0503020204020204" pitchFamily="34" charset="-122"/>
                <a:ea typeface="Microsoft YaHei" panose="020B0503020204020204" pitchFamily="34" charset="-122"/>
              </a:rPr>
              <a:t>deactivate</a:t>
            </a: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删除</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en-US" sz="2800" b="1" dirty="0">
                <a:solidFill>
                  <a:srgbClr val="FF0000"/>
                </a:solidFill>
                <a:latin typeface="Microsoft YaHei" panose="020B0503020204020204" pitchFamily="34" charset="-122"/>
                <a:ea typeface="Microsoft YaHei" panose="020B0503020204020204" pitchFamily="34" charset="-122"/>
              </a:rPr>
              <a:t> remove -n </a:t>
            </a:r>
            <a:r>
              <a:rPr lang="en-US" sz="2800" b="1" dirty="0" err="1">
                <a:solidFill>
                  <a:srgbClr val="FF0000"/>
                </a:solidFill>
                <a:latin typeface="Microsoft YaHei" panose="020B0503020204020204" pitchFamily="34" charset="-122"/>
                <a:ea typeface="Microsoft YaHei" panose="020B0503020204020204" pitchFamily="34" charset="-122"/>
              </a:rPr>
              <a:t>myenv</a:t>
            </a:r>
            <a:r>
              <a:rPr lang="en-US" sz="2800" b="1" dirty="0">
                <a:solidFill>
                  <a:srgbClr val="FF0000"/>
                </a:solidFill>
                <a:latin typeface="Microsoft YaHei" panose="020B0503020204020204" pitchFamily="34" charset="-122"/>
                <a:ea typeface="Microsoft YaHei" panose="020B0503020204020204" pitchFamily="34" charset="-122"/>
              </a:rPr>
              <a:t> --all</a:t>
            </a:r>
          </a:p>
        </p:txBody>
      </p:sp>
      <p:pic>
        <p:nvPicPr>
          <p:cNvPr id="5" name="Picture 4" descr="Text&#10;&#10;Description automatically generated">
            <a:extLst>
              <a:ext uri="{FF2B5EF4-FFF2-40B4-BE49-F238E27FC236}">
                <a16:creationId xmlns:a16="http://schemas.microsoft.com/office/drawing/2014/main" id="{9BBBBD8B-688B-710D-3D8D-BFDFD56DB232}"/>
              </a:ext>
            </a:extLst>
          </p:cNvPr>
          <p:cNvPicPr>
            <a:picLocks noChangeAspect="1"/>
          </p:cNvPicPr>
          <p:nvPr/>
        </p:nvPicPr>
        <p:blipFill>
          <a:blip r:embed="rId3"/>
          <a:stretch>
            <a:fillRect/>
          </a:stretch>
        </p:blipFill>
        <p:spPr>
          <a:xfrm>
            <a:off x="7416718" y="1052567"/>
            <a:ext cx="4476619" cy="2750693"/>
          </a:xfrm>
          <a:prstGeom prst="rect">
            <a:avLst/>
          </a:prstGeom>
        </p:spPr>
      </p:pic>
      <p:grpSp>
        <p:nvGrpSpPr>
          <p:cNvPr id="4" name="组合 3">
            <a:extLst>
              <a:ext uri="{FF2B5EF4-FFF2-40B4-BE49-F238E27FC236}">
                <a16:creationId xmlns:a16="http://schemas.microsoft.com/office/drawing/2014/main" id="{3AD00A59-6701-C91A-C6DF-2FC32C45CB14}"/>
              </a:ext>
            </a:extLst>
          </p:cNvPr>
          <p:cNvGrpSpPr/>
          <p:nvPr/>
        </p:nvGrpSpPr>
        <p:grpSpPr>
          <a:xfrm>
            <a:off x="7416718" y="3940845"/>
            <a:ext cx="4476619" cy="2690597"/>
            <a:chOff x="6218558" y="4026861"/>
            <a:chExt cx="4269333" cy="2623325"/>
          </a:xfrm>
        </p:grpSpPr>
        <p:pic>
          <p:nvPicPr>
            <p:cNvPr id="8" name="Picture 7" descr="Text&#10;&#10;Description automatically generated">
              <a:extLst>
                <a:ext uri="{FF2B5EF4-FFF2-40B4-BE49-F238E27FC236}">
                  <a16:creationId xmlns:a16="http://schemas.microsoft.com/office/drawing/2014/main" id="{B765428C-F39A-9703-24D3-B125CFA04483}"/>
                </a:ext>
              </a:extLst>
            </p:cNvPr>
            <p:cNvPicPr>
              <a:picLocks noChangeAspect="1"/>
            </p:cNvPicPr>
            <p:nvPr/>
          </p:nvPicPr>
          <p:blipFill>
            <a:blip r:embed="rId4"/>
            <a:stretch>
              <a:fillRect/>
            </a:stretch>
          </p:blipFill>
          <p:spPr>
            <a:xfrm>
              <a:off x="6218558" y="4026861"/>
              <a:ext cx="4269333" cy="2623325"/>
            </a:xfrm>
            <a:prstGeom prst="rect">
              <a:avLst/>
            </a:prstGeom>
          </p:spPr>
        </p:pic>
        <p:sp>
          <p:nvSpPr>
            <p:cNvPr id="9" name="TextBox 8">
              <a:extLst>
                <a:ext uri="{FF2B5EF4-FFF2-40B4-BE49-F238E27FC236}">
                  <a16:creationId xmlns:a16="http://schemas.microsoft.com/office/drawing/2014/main" id="{D732F9A9-4A61-8CFE-4FB6-79B6EB588A79}"/>
                </a:ext>
              </a:extLst>
            </p:cNvPr>
            <p:cNvSpPr txBox="1"/>
            <p:nvPr/>
          </p:nvSpPr>
          <p:spPr>
            <a:xfrm>
              <a:off x="7781281" y="5535734"/>
              <a:ext cx="2441694" cy="430887"/>
            </a:xfrm>
            <a:prstGeom prst="rect">
              <a:avLst/>
            </a:prstGeom>
            <a:noFill/>
          </p:spPr>
          <p:txBody>
            <a:bodyPr wrap="none" rtlCol="0">
              <a:spAutoFit/>
            </a:bodyPr>
            <a:lstStyle/>
            <a:p>
              <a:r>
                <a:rPr lang="en-CN" sz="2200">
                  <a:solidFill>
                    <a:schemeClr val="accent3"/>
                  </a:solidFill>
                  <a:latin typeface="+mn-ea"/>
                  <a:ea typeface="+mn-ea"/>
                </a:rPr>
                <a:t>查看虚拟环境信息</a:t>
              </a:r>
            </a:p>
          </p:txBody>
        </p:sp>
      </p:grpSp>
      <p:sp>
        <p:nvSpPr>
          <p:cNvPr id="6" name="TextBox 1">
            <a:extLst>
              <a:ext uri="{FF2B5EF4-FFF2-40B4-BE49-F238E27FC236}">
                <a16:creationId xmlns:a16="http://schemas.microsoft.com/office/drawing/2014/main" id="{EF189A4F-6078-1123-AB2A-A805F2BE14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0226403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1" y="8526"/>
            <a:ext cx="9013371" cy="792162"/>
          </a:xfrm>
        </p:spPr>
        <p:txBody>
          <a:bodyPr/>
          <a:lstStyle/>
          <a:p>
            <a:r>
              <a:rPr lang="zh-CN" altLang="en-US" dirty="0">
                <a:latin typeface="+mn-ea"/>
              </a:rPr>
              <a:t>二</a:t>
            </a:r>
            <a:r>
              <a:rPr lang="en-US" altLang="zh-CN" dirty="0">
                <a:latin typeface="+mn-ea"/>
              </a:rPr>
              <a:t>. </a:t>
            </a:r>
            <a:r>
              <a:rPr lang="zh-CN" altLang="en-US" dirty="0">
                <a:latin typeface="微软雅黑" pitchFamily="34" charset="-122"/>
                <a:ea typeface="微软雅黑" pitchFamily="34" charset="-122"/>
              </a:rPr>
              <a:t>开源</a:t>
            </a:r>
            <a:r>
              <a:rPr lang="en-US" altLang="zh-CN" dirty="0">
                <a:latin typeface="微软雅黑" pitchFamily="34" charset="-122"/>
                <a:ea typeface="微软雅黑" pitchFamily="34" charset="-122"/>
              </a:rPr>
              <a:t>GIS</a:t>
            </a:r>
            <a:r>
              <a:rPr lang="zh-CN" altLang="en-US" dirty="0">
                <a:latin typeface="微软雅黑" pitchFamily="34" charset="-122"/>
                <a:ea typeface="微软雅黑" pitchFamily="34" charset="-122"/>
              </a:rPr>
              <a:t>软件发展史及现状</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784412" y="1022545"/>
            <a:ext cx="1069041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实验练习及要求</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FCD10A89-5E0E-5D73-1D4F-9E11D943B29C}"/>
              </a:ext>
            </a:extLst>
          </p:cNvPr>
          <p:cNvSpPr txBox="1"/>
          <p:nvPr/>
        </p:nvSpPr>
        <p:spPr>
          <a:xfrm>
            <a:off x="730294" y="1696853"/>
            <a:ext cx="10389792" cy="3735766"/>
          </a:xfrm>
          <a:prstGeom prst="rect">
            <a:avLst/>
          </a:prstGeom>
          <a:noFill/>
        </p:spPr>
        <p:txBody>
          <a:bodyPr wrap="square">
            <a:spAutoFit/>
          </a:bodyPr>
          <a:lstStyle/>
          <a:p>
            <a:pPr algn="just">
              <a:lnSpc>
                <a:spcPct val="200000"/>
              </a:lnSpc>
            </a:pPr>
            <a:r>
              <a:rPr lang="en-US" altLang="zh-CN" sz="3200" b="1" dirty="0">
                <a:solidFill>
                  <a:srgbClr val="FF0000"/>
                </a:solidFill>
                <a:latin typeface="+mn-ea"/>
                <a:ea typeface="+mn-ea"/>
              </a:rPr>
              <a:t>Python</a:t>
            </a:r>
            <a:r>
              <a:rPr lang="zh-CN" altLang="en-US" sz="3200" b="1" dirty="0">
                <a:solidFill>
                  <a:srgbClr val="FF0000"/>
                </a:solidFill>
                <a:latin typeface="+mn-ea"/>
                <a:ea typeface="+mn-ea"/>
              </a:rPr>
              <a:t>开发环境配置</a:t>
            </a:r>
            <a:endParaRPr lang="en-US" altLang="zh-CN" sz="3200" b="1" dirty="0">
              <a:solidFill>
                <a:srgbClr val="FF0000"/>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Vscode</a:t>
            </a:r>
            <a:r>
              <a:rPr lang="zh-CN" altLang="en-US" dirty="0">
                <a:solidFill>
                  <a:srgbClr val="333333"/>
                </a:solidFill>
                <a:latin typeface="+mn-ea"/>
                <a:ea typeface="+mn-ea"/>
              </a:rPr>
              <a:t>安装及设置，</a:t>
            </a:r>
            <a:r>
              <a:rPr lang="en-US" altLang="zh-CN" dirty="0">
                <a:solidFill>
                  <a:srgbClr val="333333"/>
                </a:solidFill>
                <a:latin typeface="+mn-ea"/>
                <a:ea typeface="+mn-ea"/>
              </a:rPr>
              <a:t> </a:t>
            </a:r>
            <a:r>
              <a:rPr lang="en-US" altLang="zh-CN" dirty="0" err="1">
                <a:solidFill>
                  <a:srgbClr val="333333"/>
                </a:solidFill>
                <a:latin typeface="+mn-ea"/>
                <a:ea typeface="+mn-ea"/>
              </a:rPr>
              <a:t>Miniconda</a:t>
            </a:r>
            <a:r>
              <a:rPr lang="zh-CN" altLang="en-US" dirty="0">
                <a:solidFill>
                  <a:srgbClr val="333333"/>
                </a:solidFill>
                <a:latin typeface="+mn-ea"/>
                <a:ea typeface="+mn-ea"/>
              </a:rPr>
              <a:t>工具下载及安装</a:t>
            </a:r>
            <a:r>
              <a:rPr lang="en-US" altLang="zh-CN" dirty="0">
                <a:solidFill>
                  <a:srgbClr val="333333"/>
                </a:solidFill>
                <a:latin typeface="+mn-ea"/>
                <a:ea typeface="+mn-ea"/>
              </a:rPr>
              <a:t>;</a:t>
            </a:r>
            <a:r>
              <a:rPr lang="zh-CN" altLang="en-US" dirty="0">
                <a:solidFill>
                  <a:srgbClr val="333333"/>
                </a:solidFill>
                <a:latin typeface="+mn-ea"/>
                <a:ea typeface="+mn-ea"/>
              </a:rPr>
              <a:t> </a:t>
            </a:r>
            <a:endParaRPr lang="en-US" altLang="zh-CN" dirty="0">
              <a:solidFill>
                <a:srgbClr val="333333"/>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Jupyter</a:t>
            </a:r>
            <a:r>
              <a:rPr lang="en-US" altLang="zh-CN" dirty="0">
                <a:solidFill>
                  <a:srgbClr val="333333"/>
                </a:solidFill>
                <a:latin typeface="+mn-ea"/>
                <a:ea typeface="+mn-ea"/>
              </a:rPr>
              <a:t> Notebook</a:t>
            </a:r>
            <a:r>
              <a:rPr lang="zh-CN" altLang="en-US" dirty="0">
                <a:solidFill>
                  <a:srgbClr val="333333"/>
                </a:solidFill>
                <a:latin typeface="+mn-ea"/>
                <a:ea typeface="+mn-ea"/>
              </a:rPr>
              <a:t>插件安装及使用</a:t>
            </a:r>
            <a:r>
              <a:rPr lang="en-US" altLang="zh-CN" dirty="0">
                <a:solidFill>
                  <a:srgbClr val="333333"/>
                </a:solidFill>
                <a:latin typeface="+mn-ea"/>
                <a:ea typeface="+mn-ea"/>
              </a:rPr>
              <a:t>;</a:t>
            </a:r>
          </a:p>
          <a:p>
            <a:pPr marL="342900" indent="-342900" algn="just">
              <a:lnSpc>
                <a:spcPct val="200000"/>
              </a:lnSpc>
              <a:buFont typeface="Arial" panose="020B0604020202020204" pitchFamily="34" charset="0"/>
              <a:buChar char="•"/>
            </a:pPr>
            <a:r>
              <a:rPr lang="en-US" altLang="zh-CN" dirty="0">
                <a:solidFill>
                  <a:srgbClr val="333333"/>
                </a:solidFill>
                <a:latin typeface="+mn-ea"/>
                <a:ea typeface="+mn-ea"/>
              </a:rPr>
              <a:t>Python</a:t>
            </a:r>
            <a:r>
              <a:rPr lang="zh-CN" altLang="en-US" dirty="0">
                <a:solidFill>
                  <a:srgbClr val="333333"/>
                </a:solidFill>
                <a:latin typeface="+mn-ea"/>
                <a:ea typeface="+mn-ea"/>
              </a:rPr>
              <a:t>开发环境创建与删除，</a:t>
            </a:r>
            <a:r>
              <a:rPr lang="en-US" altLang="zh-CN" dirty="0">
                <a:solidFill>
                  <a:srgbClr val="333333"/>
                </a:solidFill>
                <a:latin typeface="+mn-ea"/>
                <a:ea typeface="+mn-ea"/>
              </a:rPr>
              <a:t>Python</a:t>
            </a:r>
            <a:r>
              <a:rPr lang="zh-CN" altLang="en-US" dirty="0">
                <a:solidFill>
                  <a:srgbClr val="333333"/>
                </a:solidFill>
                <a:latin typeface="+mn-ea"/>
                <a:ea typeface="+mn-ea"/>
              </a:rPr>
              <a:t>第三软件包安装。</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4207004688"/>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3AEEF4E-3B74-4C0A-71A9-DD631051AA61}"/>
              </a:ext>
            </a:extLst>
          </p:cNvPr>
          <p:cNvSpPr>
            <a:spLocks noGrp="1"/>
          </p:cNvSpPr>
          <p:nvPr>
            <p:ph type="sldNum" sz="quarter" idx="12"/>
          </p:nvPr>
        </p:nvSpPr>
        <p:spPr/>
        <p:txBody>
          <a:body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35</a:t>
            </a:fld>
            <a:endParaRPr lang="zh-CN" altLang="en-US">
              <a:solidFill>
                <a:prstClr val="black">
                  <a:tint val="75000"/>
                </a:prstClr>
              </a:solidFill>
            </a:endParaRPr>
          </a:p>
        </p:txBody>
      </p:sp>
      <p:sp>
        <p:nvSpPr>
          <p:cNvPr id="3" name="标题 2">
            <a:extLst>
              <a:ext uri="{FF2B5EF4-FFF2-40B4-BE49-F238E27FC236}">
                <a16:creationId xmlns:a16="http://schemas.microsoft.com/office/drawing/2014/main" id="{339A5AF2-197F-8F9A-C15B-F9458266B4F3}"/>
              </a:ext>
            </a:extLst>
          </p:cNvPr>
          <p:cNvSpPr>
            <a:spLocks noGrp="1"/>
          </p:cNvSpPr>
          <p:nvPr>
            <p:ph type="title"/>
          </p:nvPr>
        </p:nvSpPr>
        <p:spPr/>
        <p:txBody>
          <a:bodyPr/>
          <a:lstStyle/>
          <a:p>
            <a:endParaRPr lang="zh-CN" altLang="en-US"/>
          </a:p>
        </p:txBody>
      </p:sp>
      <p:sp>
        <p:nvSpPr>
          <p:cNvPr id="4" name="文本框 3">
            <a:extLst>
              <a:ext uri="{FF2B5EF4-FFF2-40B4-BE49-F238E27FC236}">
                <a16:creationId xmlns:a16="http://schemas.microsoft.com/office/drawing/2014/main" id="{5E30AAF5-7E10-8217-490A-59DD67D9F2A2}"/>
              </a:ext>
            </a:extLst>
          </p:cNvPr>
          <p:cNvSpPr txBox="1"/>
          <p:nvPr/>
        </p:nvSpPr>
        <p:spPr>
          <a:xfrm>
            <a:off x="415090" y="1129192"/>
            <a:ext cx="4752191" cy="4801314"/>
          </a:xfrm>
          <a:prstGeom prst="rect">
            <a:avLst/>
          </a:prstGeom>
          <a:noFill/>
        </p:spPr>
        <p:txBody>
          <a:bodyPr wrap="square" rtlCol="0">
            <a:spAutoFit/>
          </a:bodyPr>
          <a:lstStyle/>
          <a:p>
            <a:pPr algn="l"/>
            <a:r>
              <a:rPr lang="en-US" altLang="zh-CN" sz="3600" b="1" dirty="0">
                <a:solidFill>
                  <a:srgbClr val="FF0000"/>
                </a:solidFill>
              </a:rPr>
              <a:t>1. </a:t>
            </a:r>
            <a:r>
              <a:rPr lang="en-US" altLang="zh-CN" sz="3600" b="1" dirty="0" err="1">
                <a:solidFill>
                  <a:srgbClr val="FF0000"/>
                </a:solidFill>
              </a:rPr>
              <a:t>conda</a:t>
            </a:r>
            <a:r>
              <a:rPr lang="en-US" altLang="zh-CN" sz="3600" b="1" dirty="0">
                <a:solidFill>
                  <a:srgbClr val="FF0000"/>
                </a:solidFill>
              </a:rPr>
              <a:t> –V</a:t>
            </a:r>
          </a:p>
          <a:p>
            <a:pPr algn="l"/>
            <a:r>
              <a:rPr lang="en-US" altLang="zh-CN" sz="3600" b="1" dirty="0">
                <a:solidFill>
                  <a:srgbClr val="FF0000"/>
                </a:solidFill>
              </a:rPr>
              <a:t>2. python –V </a:t>
            </a:r>
          </a:p>
          <a:p>
            <a:pPr algn="l"/>
            <a:r>
              <a:rPr lang="en-US" altLang="zh-CN" sz="3600" b="1" dirty="0">
                <a:solidFill>
                  <a:srgbClr val="FF0000"/>
                </a:solidFill>
              </a:rPr>
              <a:t>3. pip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4. </a:t>
            </a:r>
            <a:r>
              <a:rPr lang="en-US" altLang="zh-CN" sz="3600" b="1" dirty="0" err="1">
                <a:solidFill>
                  <a:srgbClr val="FF0000"/>
                </a:solidFill>
              </a:rPr>
              <a:t>conda</a:t>
            </a:r>
            <a:r>
              <a:rPr lang="en-US" altLang="zh-CN" sz="3600" b="1" dirty="0">
                <a:solidFill>
                  <a:srgbClr val="FF0000"/>
                </a:solidFill>
              </a:rPr>
              <a:t>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5. </a:t>
            </a:r>
            <a:r>
              <a:rPr lang="en-US" altLang="zh-CN" sz="3600" b="1" dirty="0" err="1">
                <a:solidFill>
                  <a:srgbClr val="FF0000"/>
                </a:solidFill>
              </a:rPr>
              <a:t>conda</a:t>
            </a:r>
            <a:r>
              <a:rPr lang="en-US" altLang="zh-CN" sz="3600" b="1" dirty="0">
                <a:solidFill>
                  <a:srgbClr val="FF0000"/>
                </a:solidFill>
              </a:rPr>
              <a:t> uninstall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6. </a:t>
            </a:r>
            <a:r>
              <a:rPr lang="en-US" altLang="zh-CN" sz="3600" b="1" dirty="0" err="1">
                <a:solidFill>
                  <a:srgbClr val="FF0000"/>
                </a:solidFill>
              </a:rPr>
              <a:t>conda</a:t>
            </a:r>
            <a:r>
              <a:rPr lang="en-US" altLang="zh-CN" sz="3600" b="1" dirty="0">
                <a:solidFill>
                  <a:srgbClr val="FF0000"/>
                </a:solidFill>
              </a:rPr>
              <a:t> env list</a:t>
            </a:r>
          </a:p>
        </p:txBody>
      </p:sp>
      <p:sp>
        <p:nvSpPr>
          <p:cNvPr id="6" name="文本框 5">
            <a:extLst>
              <a:ext uri="{FF2B5EF4-FFF2-40B4-BE49-F238E27FC236}">
                <a16:creationId xmlns:a16="http://schemas.microsoft.com/office/drawing/2014/main" id="{51240F33-0A84-B9B4-D697-BC5F49681EEB}"/>
              </a:ext>
            </a:extLst>
          </p:cNvPr>
          <p:cNvSpPr txBox="1"/>
          <p:nvPr/>
        </p:nvSpPr>
        <p:spPr>
          <a:xfrm>
            <a:off x="5349877" y="2233664"/>
            <a:ext cx="6658551" cy="2800767"/>
          </a:xfrm>
          <a:prstGeom prst="rect">
            <a:avLst/>
          </a:prstGeom>
          <a:noFill/>
        </p:spPr>
        <p:txBody>
          <a:bodyPr wrap="square">
            <a:spAutoFit/>
          </a:bodyPr>
          <a:lstStyle/>
          <a:p>
            <a:pPr algn="l"/>
            <a:r>
              <a:rPr lang="en-US" altLang="zh-CN" sz="3200" b="1" dirty="0">
                <a:solidFill>
                  <a:srgbClr val="FF0000"/>
                </a:solidFill>
              </a:rPr>
              <a:t>7. </a:t>
            </a:r>
            <a:r>
              <a:rPr lang="en-US" altLang="zh-CN" sz="3200" b="1" dirty="0" err="1">
                <a:solidFill>
                  <a:srgbClr val="FF0000"/>
                </a:solidFill>
              </a:rPr>
              <a:t>conda</a:t>
            </a:r>
            <a:r>
              <a:rPr lang="en-US" altLang="zh-CN" sz="3200" b="1" dirty="0">
                <a:solidFill>
                  <a:srgbClr val="FF0000"/>
                </a:solidFill>
              </a:rPr>
              <a:t> create –n </a:t>
            </a:r>
            <a:r>
              <a:rPr lang="en-US" altLang="zh-CN" sz="3200" b="1" dirty="0" err="1">
                <a:solidFill>
                  <a:srgbClr val="FF0000"/>
                </a:solidFill>
              </a:rPr>
              <a:t>xxxx</a:t>
            </a:r>
            <a:r>
              <a:rPr lang="en-US" altLang="zh-CN" sz="3200" b="1" dirty="0">
                <a:solidFill>
                  <a:srgbClr val="FF0000"/>
                </a:solidFill>
              </a:rPr>
              <a:t> python=</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8. </a:t>
            </a:r>
            <a:r>
              <a:rPr lang="en-US" altLang="zh-CN" sz="3200" b="1" dirty="0" err="1">
                <a:solidFill>
                  <a:srgbClr val="FF0000"/>
                </a:solidFill>
              </a:rPr>
              <a:t>conda</a:t>
            </a:r>
            <a:r>
              <a:rPr lang="en-US" altLang="zh-CN" sz="3200" b="1" dirty="0">
                <a:solidFill>
                  <a:srgbClr val="FF0000"/>
                </a:solidFill>
              </a:rPr>
              <a:t> 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9. </a:t>
            </a:r>
            <a:r>
              <a:rPr lang="en-US" altLang="zh-CN" sz="3200" b="1" dirty="0" err="1">
                <a:solidFill>
                  <a:srgbClr val="FF0000"/>
                </a:solidFill>
              </a:rPr>
              <a:t>conda</a:t>
            </a:r>
            <a:r>
              <a:rPr lang="en-US" altLang="zh-CN" sz="3200" b="1" dirty="0">
                <a:solidFill>
                  <a:srgbClr val="FF0000"/>
                </a:solidFill>
              </a:rPr>
              <a:t> deactivate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10.conda remove –n </a:t>
            </a:r>
            <a:r>
              <a:rPr lang="en-US" altLang="zh-CN" sz="3200" b="1" dirty="0" err="1">
                <a:solidFill>
                  <a:srgbClr val="FF0000"/>
                </a:solidFill>
              </a:rPr>
              <a:t>xxxx</a:t>
            </a:r>
            <a:r>
              <a:rPr lang="en-US" altLang="zh-CN" sz="3200" b="1" dirty="0">
                <a:solidFill>
                  <a:srgbClr val="FF0000"/>
                </a:solidFill>
              </a:rPr>
              <a:t> -all</a:t>
            </a:r>
            <a:endParaRPr lang="zh-CN" altLang="en-US" sz="3200" b="1" dirty="0">
              <a:solidFill>
                <a:srgbClr val="FF0000"/>
              </a:solidFill>
            </a:endParaRPr>
          </a:p>
        </p:txBody>
      </p:sp>
    </p:spTree>
    <p:extLst>
      <p:ext uri="{BB962C8B-B14F-4D97-AF65-F5344CB8AC3E}">
        <p14:creationId xmlns:p14="http://schemas.microsoft.com/office/powerpoint/2010/main" val="3562266339"/>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三、</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开发环境配置</a:t>
            </a:r>
            <a:endParaRPr lang="zh-CN" altLang="en-US" dirty="0"/>
          </a:p>
        </p:txBody>
      </p:sp>
      <p:sp>
        <p:nvSpPr>
          <p:cNvPr id="11" name="TextBox 10">
            <a:extLst>
              <a:ext uri="{FF2B5EF4-FFF2-40B4-BE49-F238E27FC236}">
                <a16:creationId xmlns:a16="http://schemas.microsoft.com/office/drawing/2014/main" id="{53A7E693-8098-76C4-CD5D-47166ABEB164}"/>
              </a:ext>
            </a:extLst>
          </p:cNvPr>
          <p:cNvSpPr txBox="1"/>
          <p:nvPr/>
        </p:nvSpPr>
        <p:spPr>
          <a:xfrm>
            <a:off x="510073" y="797358"/>
            <a:ext cx="9743375"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实验一</a:t>
            </a:r>
            <a:endParaRPr lang="en-US" altLang="zh-CN" sz="3200" b="1" dirty="0">
              <a:solidFill>
                <a:srgbClr val="333333"/>
              </a:solidFill>
              <a:latin typeface="+mn-ea"/>
              <a:ea typeface="+mn-ea"/>
            </a:endParaRPr>
          </a:p>
        </p:txBody>
      </p:sp>
      <p:sp>
        <p:nvSpPr>
          <p:cNvPr id="13" name="TextBox 12">
            <a:extLst>
              <a:ext uri="{FF2B5EF4-FFF2-40B4-BE49-F238E27FC236}">
                <a16:creationId xmlns:a16="http://schemas.microsoft.com/office/drawing/2014/main" id="{303BC878-BC57-D350-27A3-F03AE48213AC}"/>
              </a:ext>
            </a:extLst>
          </p:cNvPr>
          <p:cNvSpPr txBox="1"/>
          <p:nvPr/>
        </p:nvSpPr>
        <p:spPr>
          <a:xfrm>
            <a:off x="398899" y="2178835"/>
            <a:ext cx="11457616" cy="4351319"/>
          </a:xfrm>
          <a:prstGeom prst="rect">
            <a:avLst/>
          </a:prstGeom>
          <a:noFill/>
        </p:spPr>
        <p:txBody>
          <a:bodyPr wrap="square">
            <a:spAutoFit/>
          </a:bodyPr>
          <a:lstStyle/>
          <a:p>
            <a:pPr algn="just">
              <a:lnSpc>
                <a:spcPct val="200000"/>
              </a:lnSpc>
            </a:pPr>
            <a:r>
              <a:rPr lang="zh-CN" altLang="en-US" sz="2800" b="1" dirty="0">
                <a:solidFill>
                  <a:srgbClr val="333333"/>
                </a:solidFill>
                <a:latin typeface="+mn-ea"/>
                <a:ea typeface="+mn-ea"/>
              </a:rPr>
              <a:t>作业内容及要求：</a:t>
            </a:r>
            <a:endParaRPr lang="en-US" altLang="zh-CN" sz="2800" b="1"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1</a:t>
            </a:r>
            <a:r>
              <a:rPr lang="zh-CN" altLang="en-US" dirty="0">
                <a:solidFill>
                  <a:srgbClr val="333333"/>
                </a:solidFill>
                <a:latin typeface="+mn-ea"/>
                <a:ea typeface="+mn-ea"/>
              </a:rPr>
              <a:t>）安装</a:t>
            </a:r>
            <a:r>
              <a:rPr lang="en-US" altLang="zh-CN" dirty="0" err="1">
                <a:solidFill>
                  <a:srgbClr val="333333"/>
                </a:solidFill>
                <a:latin typeface="+mn-ea"/>
                <a:ea typeface="+mn-ea"/>
              </a:rPr>
              <a:t>miniconda</a:t>
            </a:r>
            <a:r>
              <a:rPr lang="zh-CN" altLang="en-US" dirty="0">
                <a:solidFill>
                  <a:srgbClr val="333333"/>
                </a:solidFill>
                <a:latin typeface="+mn-ea"/>
                <a:ea typeface="+mn-ea"/>
              </a:rPr>
              <a:t>软件。</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2</a:t>
            </a:r>
            <a:r>
              <a:rPr lang="zh-CN" altLang="en-US" dirty="0">
                <a:solidFill>
                  <a:srgbClr val="333333"/>
                </a:solidFill>
                <a:latin typeface="+mn-ea"/>
                <a:ea typeface="+mn-ea"/>
              </a:rPr>
              <a:t>）利用</a:t>
            </a:r>
            <a:r>
              <a:rPr lang="en-US" altLang="zh-CN" dirty="0" err="1">
                <a:solidFill>
                  <a:srgbClr val="333333"/>
                </a:solidFill>
                <a:latin typeface="+mn-ea"/>
                <a:ea typeface="+mn-ea"/>
              </a:rPr>
              <a:t>miniconda</a:t>
            </a:r>
            <a:r>
              <a:rPr lang="zh-CN" altLang="en-US" dirty="0">
                <a:solidFill>
                  <a:srgbClr val="333333"/>
                </a:solidFill>
                <a:latin typeface="+mn-ea"/>
                <a:ea typeface="+mn-ea"/>
              </a:rPr>
              <a:t>创建名为“</a:t>
            </a:r>
            <a:r>
              <a:rPr lang="en-US" altLang="zh-CN" dirty="0">
                <a:solidFill>
                  <a:srgbClr val="333333"/>
                </a:solidFill>
                <a:latin typeface="+mn-ea"/>
                <a:ea typeface="+mn-ea"/>
              </a:rPr>
              <a:t>my-env</a:t>
            </a:r>
            <a:r>
              <a:rPr lang="zh-CN" altLang="en-US" dirty="0">
                <a:solidFill>
                  <a:srgbClr val="333333"/>
                </a:solidFill>
                <a:latin typeface="+mn-ea"/>
                <a:ea typeface="+mn-ea"/>
              </a:rPr>
              <a:t>”的</a:t>
            </a:r>
            <a:r>
              <a:rPr lang="en-US" altLang="zh-CN" dirty="0">
                <a:solidFill>
                  <a:srgbClr val="333333"/>
                </a:solidFill>
                <a:latin typeface="+mn-ea"/>
                <a:ea typeface="+mn-ea"/>
              </a:rPr>
              <a:t>Python</a:t>
            </a:r>
            <a:r>
              <a:rPr lang="zh-CN" altLang="en-US" dirty="0">
                <a:solidFill>
                  <a:srgbClr val="333333"/>
                </a:solidFill>
                <a:latin typeface="+mn-ea"/>
                <a:ea typeface="+mn-ea"/>
              </a:rPr>
              <a:t>开发环境。</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3</a:t>
            </a:r>
            <a:r>
              <a:rPr lang="zh-CN" altLang="en-US" dirty="0">
                <a:solidFill>
                  <a:srgbClr val="333333"/>
                </a:solidFill>
                <a:latin typeface="+mn-ea"/>
                <a:ea typeface="+mn-ea"/>
              </a:rPr>
              <a:t>）在开发环境中安装</a:t>
            </a:r>
            <a:r>
              <a:rPr lang="en-US" altLang="zh-CN" dirty="0" err="1">
                <a:solidFill>
                  <a:srgbClr val="333333"/>
                </a:solidFill>
                <a:highlight>
                  <a:srgbClr val="FFFF00"/>
                </a:highlight>
                <a:latin typeface="+mn-ea"/>
                <a:ea typeface="+mn-ea"/>
              </a:rPr>
              <a:t>numpy</a:t>
            </a:r>
            <a:r>
              <a:rPr lang="en-US" altLang="zh-CN" dirty="0">
                <a:solidFill>
                  <a:srgbClr val="333333"/>
                </a:solidFill>
                <a:highlight>
                  <a:srgbClr val="FFFF00"/>
                </a:highlight>
                <a:latin typeface="+mn-ea"/>
                <a:ea typeface="+mn-ea"/>
              </a:rPr>
              <a:t>, pandas,</a:t>
            </a:r>
            <a:r>
              <a:rPr lang="zh-CN" altLang="en-US" dirty="0">
                <a:solidFill>
                  <a:srgbClr val="333333"/>
                </a:solidFill>
                <a:highlight>
                  <a:srgbClr val="FFFF00"/>
                </a:highlight>
                <a:latin typeface="+mn-ea"/>
                <a:ea typeface="+mn-ea"/>
              </a:rPr>
              <a:t> </a:t>
            </a:r>
            <a:r>
              <a:rPr lang="en-US" altLang="zh-CN" dirty="0" err="1">
                <a:solidFill>
                  <a:srgbClr val="333333"/>
                </a:solidFill>
                <a:highlight>
                  <a:srgbClr val="FFFF00"/>
                </a:highlight>
                <a:latin typeface="+mn-ea"/>
                <a:ea typeface="+mn-ea"/>
              </a:rPr>
              <a:t>geopandas</a:t>
            </a:r>
            <a:r>
              <a:rPr lang="en-US" altLang="zh-CN" dirty="0">
                <a:solidFill>
                  <a:srgbClr val="333333"/>
                </a:solidFill>
                <a:highlight>
                  <a:srgbClr val="FFFF00"/>
                </a:highlight>
                <a:latin typeface="+mn-ea"/>
                <a:ea typeface="+mn-ea"/>
              </a:rPr>
              <a:t>, matplotlib, </a:t>
            </a:r>
            <a:r>
              <a:rPr lang="en-US" altLang="zh-CN" dirty="0" err="1">
                <a:solidFill>
                  <a:srgbClr val="333333"/>
                </a:solidFill>
                <a:highlight>
                  <a:srgbClr val="FFFF00"/>
                </a:highlight>
                <a:latin typeface="+mn-ea"/>
                <a:ea typeface="+mn-ea"/>
              </a:rPr>
              <a:t>rasterio</a:t>
            </a:r>
            <a:r>
              <a:rPr lang="en-US" altLang="zh-CN" dirty="0">
                <a:solidFill>
                  <a:srgbClr val="333333"/>
                </a:solidFill>
                <a:highlight>
                  <a:srgbClr val="FFFF00"/>
                </a:highlight>
                <a:latin typeface="+mn-ea"/>
                <a:ea typeface="+mn-ea"/>
              </a:rPr>
              <a:t>, </a:t>
            </a:r>
            <a:r>
              <a:rPr lang="en-US" altLang="zh-CN" dirty="0" err="1">
                <a:solidFill>
                  <a:srgbClr val="333333"/>
                </a:solidFill>
                <a:highlight>
                  <a:srgbClr val="FFFF00"/>
                </a:highlight>
                <a:latin typeface="+mn-ea"/>
                <a:ea typeface="+mn-ea"/>
              </a:rPr>
              <a:t>cartopy</a:t>
            </a:r>
            <a:r>
              <a:rPr lang="zh-CN" altLang="en-US" dirty="0">
                <a:solidFill>
                  <a:srgbClr val="333333"/>
                </a:solidFill>
                <a:latin typeface="+mn-ea"/>
                <a:ea typeface="+mn-ea"/>
              </a:rPr>
              <a:t>第三方库。</a:t>
            </a:r>
            <a:endParaRPr lang="en-US" altLang="zh-CN" dirty="0">
              <a:solidFill>
                <a:srgbClr val="333333"/>
              </a:solidFill>
              <a:latin typeface="+mn-ea"/>
              <a:ea typeface="+mn-ea"/>
            </a:endParaRPr>
          </a:p>
        </p:txBody>
      </p:sp>
      <p:sp>
        <p:nvSpPr>
          <p:cNvPr id="4" name="文本框 3">
            <a:extLst>
              <a:ext uri="{FF2B5EF4-FFF2-40B4-BE49-F238E27FC236}">
                <a16:creationId xmlns:a16="http://schemas.microsoft.com/office/drawing/2014/main" id="{F17BA0C2-A265-EE38-7F87-B0E3E08CDBEB}"/>
              </a:ext>
            </a:extLst>
          </p:cNvPr>
          <p:cNvSpPr txBox="1"/>
          <p:nvPr/>
        </p:nvSpPr>
        <p:spPr>
          <a:xfrm>
            <a:off x="939282" y="1502333"/>
            <a:ext cx="9444700" cy="646331"/>
          </a:xfrm>
          <a:prstGeom prst="rect">
            <a:avLst/>
          </a:prstGeom>
          <a:noFill/>
        </p:spPr>
        <p:txBody>
          <a:bodyPr wrap="square">
            <a:spAutoFit/>
          </a:bodyPr>
          <a:lstStyle/>
          <a:p>
            <a:r>
              <a:rPr lang="zh-CN" altLang="en-US" sz="3600" b="1" u="sng" dirty="0">
                <a:solidFill>
                  <a:srgbClr val="FF0000"/>
                </a:solidFill>
                <a:latin typeface="+mn-ea"/>
                <a:ea typeface="+mn-ea"/>
              </a:rPr>
              <a:t>题目：</a:t>
            </a:r>
            <a:r>
              <a:rPr lang="zh-CN" altLang="en-CN" sz="3600" b="1" u="sng" dirty="0">
                <a:solidFill>
                  <a:srgbClr val="FF0000"/>
                </a:solidFill>
                <a:latin typeface="+mn-ea"/>
                <a:ea typeface="+mn-ea"/>
              </a:rPr>
              <a:t>遥感</a:t>
            </a:r>
            <a:r>
              <a:rPr lang="zh-CN" altLang="en-US" sz="3600" b="1" u="sng" dirty="0">
                <a:solidFill>
                  <a:srgbClr val="FF0000"/>
                </a:solidFill>
                <a:latin typeface="+mn-ea"/>
                <a:ea typeface="+mn-ea"/>
              </a:rPr>
              <a:t>数据处理编程环境配置</a:t>
            </a:r>
            <a:endParaRPr lang="en-US" altLang="zh-CN" sz="3600" b="1" u="sng" dirty="0">
              <a:solidFill>
                <a:srgbClr val="FF0000"/>
              </a:solidFill>
              <a:latin typeface="+mn-ea"/>
              <a:ea typeface="+mn-ea"/>
            </a:endParaRPr>
          </a:p>
        </p:txBody>
      </p:sp>
    </p:spTree>
    <p:extLst>
      <p:ext uri="{BB962C8B-B14F-4D97-AF65-F5344CB8AC3E}">
        <p14:creationId xmlns:p14="http://schemas.microsoft.com/office/powerpoint/2010/main" val="94088012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5379</TotalTime>
  <Words>3361</Words>
  <Application>Microsoft Office PowerPoint</Application>
  <PresentationFormat>宽屏</PresentationFormat>
  <Paragraphs>277</Paragraphs>
  <Slides>36</Slides>
  <Notes>35</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36</vt:i4>
      </vt:variant>
    </vt:vector>
  </HeadingPairs>
  <TitlesOfParts>
    <vt:vector size="46" baseType="lpstr">
      <vt:lpstr>PingFang SC</vt:lpstr>
      <vt:lpstr>黑体</vt:lpstr>
      <vt:lpstr>微软雅黑</vt:lpstr>
      <vt:lpstr>微软雅黑</vt:lpstr>
      <vt:lpstr>Arial</vt:lpstr>
      <vt:lpstr>Calibri</vt:lpstr>
      <vt:lpstr>Times New Roman</vt:lpstr>
      <vt:lpstr>Wingdings</vt:lpstr>
      <vt:lpstr>2_Global</vt:lpstr>
      <vt:lpstr>1_Copyright (c) 2007-2010 NordriDesign™ _light</vt:lpstr>
      <vt:lpstr>PowerPoint 演示文稿</vt:lpstr>
      <vt:lpstr>PowerPoint 演示文稿</vt:lpstr>
      <vt:lpstr>课程简介及考核</vt:lpstr>
      <vt:lpstr>课程简介及考核</vt:lpstr>
      <vt:lpstr>课程简介及考核</vt:lpstr>
      <vt:lpstr>课程简介及考核</vt:lpstr>
      <vt:lpstr>PowerPoint 演示文稿</vt:lpstr>
      <vt:lpstr>PowerPoint 演示文稿</vt:lpstr>
      <vt:lpstr>PowerPoint 演示文稿</vt:lpstr>
      <vt:lpstr>一、计算机原理与程序设计概述</vt:lpstr>
      <vt:lpstr>一、计算机原理与程序设计概述</vt:lpstr>
      <vt:lpstr>一、计算机原理与程序设计概述</vt:lpstr>
      <vt:lpstr>一、计算机原理与程序设计概述</vt:lpstr>
      <vt:lpstr>一、计算机原理与程序设计概述</vt:lpstr>
      <vt:lpstr>PowerPoint 演示文稿</vt:lpstr>
      <vt:lpstr>一、Python编程基础</vt:lpstr>
      <vt:lpstr>一、Python编程基础</vt:lpstr>
      <vt:lpstr>一、Python编程基础</vt:lpstr>
      <vt:lpstr>一、Python简介</vt:lpstr>
      <vt:lpstr>PowerPoint 演示文稿</vt:lpstr>
      <vt:lpstr>三、基于Python的开源软件开发环境配置</vt:lpstr>
      <vt:lpstr>二、开源软件开发工具</vt:lpstr>
      <vt:lpstr>二、开源软件开发工具</vt:lpstr>
      <vt:lpstr>二、开源软件开发工具</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二. 开源GIS软件发展史及现状</vt:lpstr>
      <vt:lpstr>PowerPoint 演示文稿</vt:lpstr>
      <vt:lpstr>三、Python开发环境配置</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47</cp:revision>
  <dcterms:created xsi:type="dcterms:W3CDTF">2004-07-09T11:40:27Z</dcterms:created>
  <dcterms:modified xsi:type="dcterms:W3CDTF">2026-09-09T08:35:13Z</dcterms:modified>
</cp:coreProperties>
</file>